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rels" ContentType="application/vnd.openxmlformats-package.relationships+xml"/>
  <Default Extension="wdp" ContentType="image/vnd.ms-photo"/>
  <Default Extension="gif" ContentType="image/gif"/>
  <Default Extension="bin" ContentType="application/vnd.openxmlformats-officedocument.presentationml.printerSettings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4.xml" ContentType="application/vnd.openxmlformats-officedocument.presentationml.notesSlide+xml"/>
  <Override PartName="/ppt/theme/themeOverride2.xml" ContentType="application/vnd.openxmlformats-officedocument.themeOverr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theme/themeOverride3.xml" ContentType="application/vnd.openxmlformats-officedocument.themeOverr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theme/themeOverride4.xml" ContentType="application/vnd.openxmlformats-officedocument.themeOverride+xml"/>
  <Override PartName="/ppt/notesSlides/notesSlide34.xml" ContentType="application/vnd.openxmlformats-officedocument.presentationml.notesSlide+xml"/>
  <Override PartName="/ppt/theme/themeOverride5.xml" ContentType="application/vnd.openxmlformats-officedocument.themeOverride+xml"/>
  <Override PartName="/ppt/notesSlides/notesSlide35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36.xml" ContentType="application/vnd.openxmlformats-officedocument.presentationml.notesSlide+xml"/>
  <Override PartName="/ppt/theme/themeOverride6.xml" ContentType="application/vnd.openxmlformats-officedocument.themeOverr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48" r:id="rId1"/>
  </p:sldMasterIdLst>
  <p:notesMasterIdLst>
    <p:notesMasterId r:id="rId60"/>
  </p:notesMasterIdLst>
  <p:handoutMasterIdLst>
    <p:handoutMasterId r:id="rId61"/>
  </p:handoutMasterIdLst>
  <p:sldIdLst>
    <p:sldId id="256" r:id="rId2"/>
    <p:sldId id="350" r:id="rId3"/>
    <p:sldId id="396" r:id="rId4"/>
    <p:sldId id="397" r:id="rId5"/>
    <p:sldId id="398" r:id="rId6"/>
    <p:sldId id="426" r:id="rId7"/>
    <p:sldId id="399" r:id="rId8"/>
    <p:sldId id="400" r:id="rId9"/>
    <p:sldId id="401" r:id="rId10"/>
    <p:sldId id="402" r:id="rId11"/>
    <p:sldId id="408" r:id="rId12"/>
    <p:sldId id="409" r:id="rId13"/>
    <p:sldId id="410" r:id="rId14"/>
    <p:sldId id="413" r:id="rId15"/>
    <p:sldId id="414" r:id="rId16"/>
    <p:sldId id="415" r:id="rId17"/>
    <p:sldId id="416" r:id="rId18"/>
    <p:sldId id="417" r:id="rId19"/>
    <p:sldId id="418" r:id="rId20"/>
    <p:sldId id="419" r:id="rId21"/>
    <p:sldId id="420" r:id="rId22"/>
    <p:sldId id="421" r:id="rId23"/>
    <p:sldId id="422" r:id="rId24"/>
    <p:sldId id="423" r:id="rId25"/>
    <p:sldId id="424" r:id="rId26"/>
    <p:sldId id="425" r:id="rId27"/>
    <p:sldId id="427" r:id="rId28"/>
    <p:sldId id="348" r:id="rId29"/>
    <p:sldId id="351" r:id="rId30"/>
    <p:sldId id="336" r:id="rId31"/>
    <p:sldId id="428" r:id="rId32"/>
    <p:sldId id="429" r:id="rId33"/>
    <p:sldId id="430" r:id="rId34"/>
    <p:sldId id="431" r:id="rId35"/>
    <p:sldId id="432" r:id="rId36"/>
    <p:sldId id="434" r:id="rId37"/>
    <p:sldId id="435" r:id="rId38"/>
    <p:sldId id="436" r:id="rId39"/>
    <p:sldId id="437" r:id="rId40"/>
    <p:sldId id="445" r:id="rId41"/>
    <p:sldId id="446" r:id="rId42"/>
    <p:sldId id="447" r:id="rId43"/>
    <p:sldId id="448" r:id="rId44"/>
    <p:sldId id="449" r:id="rId45"/>
    <p:sldId id="450" r:id="rId46"/>
    <p:sldId id="438" r:id="rId47"/>
    <p:sldId id="439" r:id="rId48"/>
    <p:sldId id="440" r:id="rId49"/>
    <p:sldId id="442" r:id="rId50"/>
    <p:sldId id="443" r:id="rId51"/>
    <p:sldId id="444" r:id="rId52"/>
    <p:sldId id="376" r:id="rId53"/>
    <p:sldId id="371" r:id="rId54"/>
    <p:sldId id="294" r:id="rId55"/>
    <p:sldId id="293" r:id="rId56"/>
    <p:sldId id="295" r:id="rId57"/>
    <p:sldId id="296" r:id="rId58"/>
    <p:sldId id="297" r:id="rId59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6575B"/>
    <a:srgbClr val="009EFF"/>
    <a:srgbClr val="FFCC03"/>
    <a:srgbClr val="00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浅色样式 1 - 强调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浅色样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176" autoAdjust="0"/>
    <p:restoredTop sz="81637" autoAdjust="0"/>
  </p:normalViewPr>
  <p:slideViewPr>
    <p:cSldViewPr>
      <p:cViewPr varScale="1">
        <p:scale>
          <a:sx n="75" d="100"/>
          <a:sy n="75" d="100"/>
        </p:scale>
        <p:origin x="-1776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12816"/>
    </p:cViewPr>
  </p:outlineViewPr>
  <p:notesTextViewPr>
    <p:cViewPr>
      <p:scale>
        <a:sx n="75" d="100"/>
        <a:sy n="7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63" Type="http://schemas.openxmlformats.org/officeDocument/2006/relationships/presProps" Target="presProps.xml"/><Relationship Id="rId64" Type="http://schemas.openxmlformats.org/officeDocument/2006/relationships/viewProps" Target="viewProps.xml"/><Relationship Id="rId65" Type="http://schemas.openxmlformats.org/officeDocument/2006/relationships/theme" Target="theme/theme1.xml"/><Relationship Id="rId66" Type="http://schemas.openxmlformats.org/officeDocument/2006/relationships/tableStyles" Target="tableStyles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60" Type="http://schemas.openxmlformats.org/officeDocument/2006/relationships/notesMaster" Target="notesMasters/notesMaster1.xml"/><Relationship Id="rId61" Type="http://schemas.openxmlformats.org/officeDocument/2006/relationships/handoutMaster" Target="handoutMasters/handoutMaster1.xml"/><Relationship Id="rId62" Type="http://schemas.openxmlformats.org/officeDocument/2006/relationships/printerSettings" Target="printerSettings/printerSettings1.bin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466ED07-DE3E-4D54-8842-C2007D844AE7}" type="doc">
      <dgm:prSet loTypeId="urn:microsoft.com/office/officeart/2005/8/layout/process1" loCatId="process" qsTypeId="urn:microsoft.com/office/officeart/2005/8/quickstyle/simple1" qsCatId="simple" csTypeId="urn:microsoft.com/office/officeart/2005/8/colors/colorful5" csCatId="colorful" phldr="1"/>
      <dgm:spPr/>
    </dgm:pt>
    <dgm:pt modelId="{E51E6A00-39BF-4D87-9025-493B8EF172B0}">
      <dgm:prSet phldrT="[文本]"/>
      <dgm:spPr/>
      <dgm:t>
        <a:bodyPr/>
        <a:lstStyle/>
        <a:p>
          <a:r>
            <a:rPr lang="en-US" altLang="zh-CN" dirty="0" err="1" smtClean="0"/>
            <a:t>FileReader</a:t>
          </a:r>
          <a:r>
            <a:rPr lang="en-US" altLang="zh-CN" dirty="0" smtClean="0"/>
            <a:t> </a:t>
          </a:r>
          <a:r>
            <a:rPr lang="en-US" altLang="zh-CN" dirty="0" err="1" smtClean="0"/>
            <a:t>Api</a:t>
          </a:r>
          <a:endParaRPr lang="zh-CN" altLang="en-US" dirty="0"/>
        </a:p>
      </dgm:t>
    </dgm:pt>
    <dgm:pt modelId="{5B25B0A5-A06A-42D1-BBAC-48ABEAA15F74}" type="parTrans" cxnId="{7A5A206D-45BA-4358-8E3B-7884BFE53C5E}">
      <dgm:prSet/>
      <dgm:spPr/>
      <dgm:t>
        <a:bodyPr/>
        <a:lstStyle/>
        <a:p>
          <a:endParaRPr lang="zh-CN" altLang="en-US"/>
        </a:p>
      </dgm:t>
    </dgm:pt>
    <dgm:pt modelId="{DDAD99A8-DF08-415C-B360-0B262837DB9B}" type="sibTrans" cxnId="{7A5A206D-45BA-4358-8E3B-7884BFE53C5E}">
      <dgm:prSet/>
      <dgm:spPr/>
      <dgm:t>
        <a:bodyPr/>
        <a:lstStyle/>
        <a:p>
          <a:endParaRPr lang="zh-CN" altLang="en-US"/>
        </a:p>
      </dgm:t>
    </dgm:pt>
    <dgm:pt modelId="{45CBC5D9-D73F-413E-9DE4-8233F2A0235E}">
      <dgm:prSet phldrT="[文本]"/>
      <dgm:spPr/>
      <dgm:t>
        <a:bodyPr/>
        <a:lstStyle/>
        <a:p>
          <a:r>
            <a:rPr lang="en-US" altLang="zh-CN" dirty="0" smtClean="0"/>
            <a:t>Canvas</a:t>
          </a:r>
          <a:endParaRPr lang="zh-CN" altLang="en-US" dirty="0"/>
        </a:p>
      </dgm:t>
    </dgm:pt>
    <dgm:pt modelId="{538D461F-F3B3-48EB-9F3A-48C7FB3503AE}" type="parTrans" cxnId="{C44C6FFF-0967-4156-A22D-35CDC9BA2007}">
      <dgm:prSet/>
      <dgm:spPr/>
      <dgm:t>
        <a:bodyPr/>
        <a:lstStyle/>
        <a:p>
          <a:endParaRPr lang="zh-CN" altLang="en-US"/>
        </a:p>
      </dgm:t>
    </dgm:pt>
    <dgm:pt modelId="{EA217E84-4EA4-4B32-8589-9F4D9181A321}" type="sibTrans" cxnId="{C44C6FFF-0967-4156-A22D-35CDC9BA2007}">
      <dgm:prSet/>
      <dgm:spPr/>
      <dgm:t>
        <a:bodyPr/>
        <a:lstStyle/>
        <a:p>
          <a:endParaRPr lang="zh-CN" altLang="en-US"/>
        </a:p>
      </dgm:t>
    </dgm:pt>
    <dgm:pt modelId="{3E5653E6-6B65-4EE9-84D1-78D4C347D176}">
      <dgm:prSet phldrT="[文本]"/>
      <dgm:spPr/>
      <dgm:t>
        <a:bodyPr/>
        <a:lstStyle/>
        <a:p>
          <a:r>
            <a:rPr lang="en-US" altLang="zh-CN" dirty="0" smtClean="0"/>
            <a:t>Base64</a:t>
          </a:r>
          <a:endParaRPr lang="zh-CN" altLang="en-US" dirty="0"/>
        </a:p>
      </dgm:t>
    </dgm:pt>
    <dgm:pt modelId="{00B8B4FD-E782-425D-A21E-E3351D77C9A6}" type="parTrans" cxnId="{9BC6C2CB-6422-4E99-A300-A88660367B81}">
      <dgm:prSet/>
      <dgm:spPr/>
      <dgm:t>
        <a:bodyPr/>
        <a:lstStyle/>
        <a:p>
          <a:endParaRPr lang="zh-CN" altLang="en-US"/>
        </a:p>
      </dgm:t>
    </dgm:pt>
    <dgm:pt modelId="{E09742EF-587A-43FE-B03A-B1700DD95F8C}" type="sibTrans" cxnId="{9BC6C2CB-6422-4E99-A300-A88660367B81}">
      <dgm:prSet/>
      <dgm:spPr/>
      <dgm:t>
        <a:bodyPr/>
        <a:lstStyle/>
        <a:p>
          <a:endParaRPr lang="zh-CN" altLang="en-US"/>
        </a:p>
      </dgm:t>
    </dgm:pt>
    <dgm:pt modelId="{BCCB7CA6-D79C-4061-B976-6023745DBB99}">
      <dgm:prSet phldrT="[文本]"/>
      <dgm:spPr/>
      <dgm:t>
        <a:bodyPr/>
        <a:lstStyle/>
        <a:p>
          <a:r>
            <a:rPr lang="en-US" altLang="zh-CN" dirty="0" smtClean="0"/>
            <a:t>Input type=file</a:t>
          </a:r>
          <a:endParaRPr lang="zh-CN" altLang="en-US" dirty="0"/>
        </a:p>
      </dgm:t>
    </dgm:pt>
    <dgm:pt modelId="{FDCAD2D3-90B7-4490-8ECC-085DB716AF6A}" type="parTrans" cxnId="{FE9572D9-E082-4D4C-889D-40048C12F0C3}">
      <dgm:prSet/>
      <dgm:spPr/>
      <dgm:t>
        <a:bodyPr/>
        <a:lstStyle/>
        <a:p>
          <a:endParaRPr lang="zh-CN" altLang="en-US"/>
        </a:p>
      </dgm:t>
    </dgm:pt>
    <dgm:pt modelId="{229C36EB-189B-4E24-BDD8-43AD9B4CF6A9}" type="sibTrans" cxnId="{FE9572D9-E082-4D4C-889D-40048C12F0C3}">
      <dgm:prSet/>
      <dgm:spPr/>
      <dgm:t>
        <a:bodyPr/>
        <a:lstStyle/>
        <a:p>
          <a:endParaRPr lang="zh-CN" altLang="en-US" dirty="0"/>
        </a:p>
      </dgm:t>
    </dgm:pt>
    <dgm:pt modelId="{5CF4D984-05F4-4E1A-A7E3-516EF1F71A68}" type="pres">
      <dgm:prSet presAssocID="{7466ED07-DE3E-4D54-8842-C2007D844AE7}" presName="Name0" presStyleCnt="0">
        <dgm:presLayoutVars>
          <dgm:dir/>
          <dgm:resizeHandles val="exact"/>
        </dgm:presLayoutVars>
      </dgm:prSet>
      <dgm:spPr/>
    </dgm:pt>
    <dgm:pt modelId="{3AF01C04-B056-483B-957D-9FF2E327A170}" type="pres">
      <dgm:prSet presAssocID="{BCCB7CA6-D79C-4061-B976-6023745DBB99}" presName="node" presStyleLbl="node1" presStyleIdx="0" presStyleCnt="4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7F3141BA-7FE5-4C8A-A1EE-16D35367AFB0}" type="pres">
      <dgm:prSet presAssocID="{229C36EB-189B-4E24-BDD8-43AD9B4CF6A9}" presName="sibTrans" presStyleLbl="sibTrans2D1" presStyleIdx="0" presStyleCnt="3"/>
      <dgm:spPr/>
      <dgm:t>
        <a:bodyPr/>
        <a:lstStyle/>
        <a:p>
          <a:endParaRPr lang="zh-CN" altLang="en-US"/>
        </a:p>
      </dgm:t>
    </dgm:pt>
    <dgm:pt modelId="{1FAD0C0B-D281-4BAF-9CC1-DFCDE1C135C4}" type="pres">
      <dgm:prSet presAssocID="{229C36EB-189B-4E24-BDD8-43AD9B4CF6A9}" presName="connectorText" presStyleLbl="sibTrans2D1" presStyleIdx="0" presStyleCnt="3"/>
      <dgm:spPr/>
      <dgm:t>
        <a:bodyPr/>
        <a:lstStyle/>
        <a:p>
          <a:endParaRPr lang="zh-CN" altLang="en-US"/>
        </a:p>
      </dgm:t>
    </dgm:pt>
    <dgm:pt modelId="{89C5C9F7-D90E-4726-8FA9-EE0D8F797B33}" type="pres">
      <dgm:prSet presAssocID="{E51E6A00-39BF-4D87-9025-493B8EF172B0}" presName="node" presStyleLbl="node1" presStyleIdx="1" presStyleCnt="4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AB6D7D96-B6AA-44AB-AB18-8594522DD2CC}" type="pres">
      <dgm:prSet presAssocID="{DDAD99A8-DF08-415C-B360-0B262837DB9B}" presName="sibTrans" presStyleLbl="sibTrans2D1" presStyleIdx="1" presStyleCnt="3"/>
      <dgm:spPr/>
      <dgm:t>
        <a:bodyPr/>
        <a:lstStyle/>
        <a:p>
          <a:endParaRPr lang="zh-CN" altLang="en-US"/>
        </a:p>
      </dgm:t>
    </dgm:pt>
    <dgm:pt modelId="{29535086-C5FB-41F5-9616-DB55B105BABE}" type="pres">
      <dgm:prSet presAssocID="{DDAD99A8-DF08-415C-B360-0B262837DB9B}" presName="connectorText" presStyleLbl="sibTrans2D1" presStyleIdx="1" presStyleCnt="3"/>
      <dgm:spPr/>
      <dgm:t>
        <a:bodyPr/>
        <a:lstStyle/>
        <a:p>
          <a:endParaRPr lang="zh-CN" altLang="en-US"/>
        </a:p>
      </dgm:t>
    </dgm:pt>
    <dgm:pt modelId="{F3C5A5A2-0D30-43D7-8132-3D86FDBBD29E}" type="pres">
      <dgm:prSet presAssocID="{45CBC5D9-D73F-413E-9DE4-8233F2A0235E}" presName="node" presStyleLbl="node1" presStyleIdx="2" presStyleCnt="4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2DAFEA98-F93F-4C76-8E74-48501430B5A8}" type="pres">
      <dgm:prSet presAssocID="{EA217E84-4EA4-4B32-8589-9F4D9181A321}" presName="sibTrans" presStyleLbl="sibTrans2D1" presStyleIdx="2" presStyleCnt="3"/>
      <dgm:spPr/>
      <dgm:t>
        <a:bodyPr/>
        <a:lstStyle/>
        <a:p>
          <a:endParaRPr lang="zh-CN" altLang="en-US"/>
        </a:p>
      </dgm:t>
    </dgm:pt>
    <dgm:pt modelId="{91FC90A0-6968-4CC7-B9D3-42723E24E4EA}" type="pres">
      <dgm:prSet presAssocID="{EA217E84-4EA4-4B32-8589-9F4D9181A321}" presName="connectorText" presStyleLbl="sibTrans2D1" presStyleIdx="2" presStyleCnt="3"/>
      <dgm:spPr/>
      <dgm:t>
        <a:bodyPr/>
        <a:lstStyle/>
        <a:p>
          <a:endParaRPr lang="zh-CN" altLang="en-US"/>
        </a:p>
      </dgm:t>
    </dgm:pt>
    <dgm:pt modelId="{9845CD7D-33C3-431D-9723-AC0BD1B73534}" type="pres">
      <dgm:prSet presAssocID="{3E5653E6-6B65-4EE9-84D1-78D4C347D176}" presName="node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35A854B8-3FF2-4A2F-99BF-E2C40B3C43F9}" type="presOf" srcId="{3E5653E6-6B65-4EE9-84D1-78D4C347D176}" destId="{9845CD7D-33C3-431D-9723-AC0BD1B73534}" srcOrd="0" destOrd="0" presId="urn:microsoft.com/office/officeart/2005/8/layout/process1"/>
    <dgm:cxn modelId="{1C910586-8FF0-4CAB-B00B-AF528263EB86}" type="presOf" srcId="{DDAD99A8-DF08-415C-B360-0B262837DB9B}" destId="{29535086-C5FB-41F5-9616-DB55B105BABE}" srcOrd="1" destOrd="0" presId="urn:microsoft.com/office/officeart/2005/8/layout/process1"/>
    <dgm:cxn modelId="{9BC6C2CB-6422-4E99-A300-A88660367B81}" srcId="{7466ED07-DE3E-4D54-8842-C2007D844AE7}" destId="{3E5653E6-6B65-4EE9-84D1-78D4C347D176}" srcOrd="3" destOrd="0" parTransId="{00B8B4FD-E782-425D-A21E-E3351D77C9A6}" sibTransId="{E09742EF-587A-43FE-B03A-B1700DD95F8C}"/>
    <dgm:cxn modelId="{4AF2A5E0-25DE-4AE4-8429-580205EBCEEF}" type="presOf" srcId="{EA217E84-4EA4-4B32-8589-9F4D9181A321}" destId="{91FC90A0-6968-4CC7-B9D3-42723E24E4EA}" srcOrd="1" destOrd="0" presId="urn:microsoft.com/office/officeart/2005/8/layout/process1"/>
    <dgm:cxn modelId="{68DC1281-8B6B-4583-9C24-25B8BABFBCBD}" type="presOf" srcId="{EA217E84-4EA4-4B32-8589-9F4D9181A321}" destId="{2DAFEA98-F93F-4C76-8E74-48501430B5A8}" srcOrd="0" destOrd="0" presId="urn:microsoft.com/office/officeart/2005/8/layout/process1"/>
    <dgm:cxn modelId="{AE1C49EB-875B-49F5-8DFA-BACE1C8B3094}" type="presOf" srcId="{E51E6A00-39BF-4D87-9025-493B8EF172B0}" destId="{89C5C9F7-D90E-4726-8FA9-EE0D8F797B33}" srcOrd="0" destOrd="0" presId="urn:microsoft.com/office/officeart/2005/8/layout/process1"/>
    <dgm:cxn modelId="{FE9572D9-E082-4D4C-889D-40048C12F0C3}" srcId="{7466ED07-DE3E-4D54-8842-C2007D844AE7}" destId="{BCCB7CA6-D79C-4061-B976-6023745DBB99}" srcOrd="0" destOrd="0" parTransId="{FDCAD2D3-90B7-4490-8ECC-085DB716AF6A}" sibTransId="{229C36EB-189B-4E24-BDD8-43AD9B4CF6A9}"/>
    <dgm:cxn modelId="{C44C6FFF-0967-4156-A22D-35CDC9BA2007}" srcId="{7466ED07-DE3E-4D54-8842-C2007D844AE7}" destId="{45CBC5D9-D73F-413E-9DE4-8233F2A0235E}" srcOrd="2" destOrd="0" parTransId="{538D461F-F3B3-48EB-9F3A-48C7FB3503AE}" sibTransId="{EA217E84-4EA4-4B32-8589-9F4D9181A321}"/>
    <dgm:cxn modelId="{E2B7EC69-738D-46CA-9F55-9F10A1F205E9}" type="presOf" srcId="{229C36EB-189B-4E24-BDD8-43AD9B4CF6A9}" destId="{7F3141BA-7FE5-4C8A-A1EE-16D35367AFB0}" srcOrd="0" destOrd="0" presId="urn:microsoft.com/office/officeart/2005/8/layout/process1"/>
    <dgm:cxn modelId="{FF165C8F-E3FD-448A-A924-F391A52FB5A2}" type="presOf" srcId="{45CBC5D9-D73F-413E-9DE4-8233F2A0235E}" destId="{F3C5A5A2-0D30-43D7-8132-3D86FDBBD29E}" srcOrd="0" destOrd="0" presId="urn:microsoft.com/office/officeart/2005/8/layout/process1"/>
    <dgm:cxn modelId="{7A5A206D-45BA-4358-8E3B-7884BFE53C5E}" srcId="{7466ED07-DE3E-4D54-8842-C2007D844AE7}" destId="{E51E6A00-39BF-4D87-9025-493B8EF172B0}" srcOrd="1" destOrd="0" parTransId="{5B25B0A5-A06A-42D1-BBAC-48ABEAA15F74}" sibTransId="{DDAD99A8-DF08-415C-B360-0B262837DB9B}"/>
    <dgm:cxn modelId="{ED17DCD5-7510-4D78-9981-37B5F8773AC2}" type="presOf" srcId="{BCCB7CA6-D79C-4061-B976-6023745DBB99}" destId="{3AF01C04-B056-483B-957D-9FF2E327A170}" srcOrd="0" destOrd="0" presId="urn:microsoft.com/office/officeart/2005/8/layout/process1"/>
    <dgm:cxn modelId="{A2A67A5D-2F4C-468F-A29F-7D88E798A820}" type="presOf" srcId="{DDAD99A8-DF08-415C-B360-0B262837DB9B}" destId="{AB6D7D96-B6AA-44AB-AB18-8594522DD2CC}" srcOrd="0" destOrd="0" presId="urn:microsoft.com/office/officeart/2005/8/layout/process1"/>
    <dgm:cxn modelId="{C086E676-AEC4-4E6D-976E-1AA027C10630}" type="presOf" srcId="{229C36EB-189B-4E24-BDD8-43AD9B4CF6A9}" destId="{1FAD0C0B-D281-4BAF-9CC1-DFCDE1C135C4}" srcOrd="1" destOrd="0" presId="urn:microsoft.com/office/officeart/2005/8/layout/process1"/>
    <dgm:cxn modelId="{9F3D5829-89A7-48B3-BA9A-ADF39E634DD2}" type="presOf" srcId="{7466ED07-DE3E-4D54-8842-C2007D844AE7}" destId="{5CF4D984-05F4-4E1A-A7E3-516EF1F71A68}" srcOrd="0" destOrd="0" presId="urn:microsoft.com/office/officeart/2005/8/layout/process1"/>
    <dgm:cxn modelId="{284BB156-2A17-4421-907C-2AE085C71ADA}" type="presParOf" srcId="{5CF4D984-05F4-4E1A-A7E3-516EF1F71A68}" destId="{3AF01C04-B056-483B-957D-9FF2E327A170}" srcOrd="0" destOrd="0" presId="urn:microsoft.com/office/officeart/2005/8/layout/process1"/>
    <dgm:cxn modelId="{2731A57B-A04D-4734-8846-3441A45CEF7E}" type="presParOf" srcId="{5CF4D984-05F4-4E1A-A7E3-516EF1F71A68}" destId="{7F3141BA-7FE5-4C8A-A1EE-16D35367AFB0}" srcOrd="1" destOrd="0" presId="urn:microsoft.com/office/officeart/2005/8/layout/process1"/>
    <dgm:cxn modelId="{9EE545B7-3917-46D8-97CB-6347B8E430B9}" type="presParOf" srcId="{7F3141BA-7FE5-4C8A-A1EE-16D35367AFB0}" destId="{1FAD0C0B-D281-4BAF-9CC1-DFCDE1C135C4}" srcOrd="0" destOrd="0" presId="urn:microsoft.com/office/officeart/2005/8/layout/process1"/>
    <dgm:cxn modelId="{75D96EA9-079C-4DBA-9EAD-EF1B7039723C}" type="presParOf" srcId="{5CF4D984-05F4-4E1A-A7E3-516EF1F71A68}" destId="{89C5C9F7-D90E-4726-8FA9-EE0D8F797B33}" srcOrd="2" destOrd="0" presId="urn:microsoft.com/office/officeart/2005/8/layout/process1"/>
    <dgm:cxn modelId="{33ABC93C-5A16-48B3-835D-9212742F2194}" type="presParOf" srcId="{5CF4D984-05F4-4E1A-A7E3-516EF1F71A68}" destId="{AB6D7D96-B6AA-44AB-AB18-8594522DD2CC}" srcOrd="3" destOrd="0" presId="urn:microsoft.com/office/officeart/2005/8/layout/process1"/>
    <dgm:cxn modelId="{986BB689-D007-412E-BC06-C5ECDAA2E239}" type="presParOf" srcId="{AB6D7D96-B6AA-44AB-AB18-8594522DD2CC}" destId="{29535086-C5FB-41F5-9616-DB55B105BABE}" srcOrd="0" destOrd="0" presId="urn:microsoft.com/office/officeart/2005/8/layout/process1"/>
    <dgm:cxn modelId="{F62B9BFE-CF91-4045-9DDE-6EE9C1BB89D9}" type="presParOf" srcId="{5CF4D984-05F4-4E1A-A7E3-516EF1F71A68}" destId="{F3C5A5A2-0D30-43D7-8132-3D86FDBBD29E}" srcOrd="4" destOrd="0" presId="urn:microsoft.com/office/officeart/2005/8/layout/process1"/>
    <dgm:cxn modelId="{482D1005-77C5-42E8-9A8E-CCBC635AC948}" type="presParOf" srcId="{5CF4D984-05F4-4E1A-A7E3-516EF1F71A68}" destId="{2DAFEA98-F93F-4C76-8E74-48501430B5A8}" srcOrd="5" destOrd="0" presId="urn:microsoft.com/office/officeart/2005/8/layout/process1"/>
    <dgm:cxn modelId="{76267F5A-2DB6-4095-8165-E98E41FACD68}" type="presParOf" srcId="{2DAFEA98-F93F-4C76-8E74-48501430B5A8}" destId="{91FC90A0-6968-4CC7-B9D3-42723E24E4EA}" srcOrd="0" destOrd="0" presId="urn:microsoft.com/office/officeart/2005/8/layout/process1"/>
    <dgm:cxn modelId="{ECE3A0BC-187D-46A4-921B-0E399962608A}" type="presParOf" srcId="{5CF4D984-05F4-4E1A-A7E3-516EF1F71A68}" destId="{9845CD7D-33C3-431D-9723-AC0BD1B73534}" srcOrd="6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7CA200A-782A-4734-A584-8B3ADBDEC732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E97CF942-AB53-4067-B2E7-4F1D73BE19F8}">
      <dgm:prSet phldrT="[文本]"/>
      <dgm:spPr/>
      <dgm:t>
        <a:bodyPr/>
        <a:lstStyle/>
        <a:p>
          <a:r>
            <a:rPr lang="en-US" altLang="zh-CN" dirty="0" smtClean="0"/>
            <a:t>Native +Web</a:t>
          </a:r>
          <a:endParaRPr lang="zh-CN" altLang="en-US" dirty="0"/>
        </a:p>
      </dgm:t>
    </dgm:pt>
    <dgm:pt modelId="{E06BF214-FDB0-465E-947E-FFB3C90E9897}" type="parTrans" cxnId="{DDF4131F-FB5B-433C-BA86-37129FBD227A}">
      <dgm:prSet/>
      <dgm:spPr/>
      <dgm:t>
        <a:bodyPr/>
        <a:lstStyle/>
        <a:p>
          <a:endParaRPr lang="zh-CN" altLang="en-US"/>
        </a:p>
      </dgm:t>
    </dgm:pt>
    <dgm:pt modelId="{48C756FD-7838-48DA-9CBC-0ABB42C37560}" type="sibTrans" cxnId="{DDF4131F-FB5B-433C-BA86-37129FBD227A}">
      <dgm:prSet/>
      <dgm:spPr/>
      <dgm:t>
        <a:bodyPr/>
        <a:lstStyle/>
        <a:p>
          <a:endParaRPr lang="zh-CN" altLang="en-US"/>
        </a:p>
      </dgm:t>
    </dgm:pt>
    <dgm:pt modelId="{7CB6867D-5CD1-455D-ABBB-64EB61C49730}">
      <dgm:prSet phldrT="[文本]"/>
      <dgm:spPr/>
      <dgm:t>
        <a:bodyPr/>
        <a:lstStyle/>
        <a:p>
          <a:r>
            <a:rPr lang="zh-CN" altLang="en-US" dirty="0" smtClean="0"/>
            <a:t>公司 </a:t>
          </a:r>
          <a:r>
            <a:rPr lang="en-US" altLang="zh-CN" dirty="0" smtClean="0"/>
            <a:t>+ </a:t>
          </a:r>
          <a:r>
            <a:rPr lang="zh-CN" altLang="en-US" dirty="0" smtClean="0"/>
            <a:t>业界</a:t>
          </a:r>
          <a:endParaRPr lang="zh-CN" altLang="en-US" dirty="0"/>
        </a:p>
      </dgm:t>
    </dgm:pt>
    <dgm:pt modelId="{2AAA1666-B3BD-4DAE-93AC-AC8784F1744E}" type="parTrans" cxnId="{0EE79A40-FC58-4D1F-926A-82CB51604176}">
      <dgm:prSet/>
      <dgm:spPr/>
      <dgm:t>
        <a:bodyPr/>
        <a:lstStyle/>
        <a:p>
          <a:endParaRPr lang="zh-CN" altLang="en-US"/>
        </a:p>
      </dgm:t>
    </dgm:pt>
    <dgm:pt modelId="{78AF51CB-4D08-4280-9CCC-A10B8C0C1FE4}" type="sibTrans" cxnId="{0EE79A40-FC58-4D1F-926A-82CB51604176}">
      <dgm:prSet/>
      <dgm:spPr/>
      <dgm:t>
        <a:bodyPr/>
        <a:lstStyle/>
        <a:p>
          <a:endParaRPr lang="zh-CN" altLang="en-US"/>
        </a:p>
      </dgm:t>
    </dgm:pt>
    <dgm:pt modelId="{0BC0A93D-E013-4DE9-B600-F07270B8FAAF}">
      <dgm:prSet phldrT="[文本]"/>
      <dgm:spPr/>
      <dgm:t>
        <a:bodyPr/>
        <a:lstStyle/>
        <a:p>
          <a:r>
            <a:rPr lang="zh-CN" altLang="en-US" dirty="0" smtClean="0"/>
            <a:t>业务 </a:t>
          </a:r>
          <a:r>
            <a:rPr lang="en-US" altLang="zh-CN" dirty="0" smtClean="0"/>
            <a:t>+ </a:t>
          </a:r>
          <a:r>
            <a:rPr lang="zh-CN" altLang="en-US" dirty="0" smtClean="0"/>
            <a:t>开源</a:t>
          </a:r>
          <a:endParaRPr lang="zh-CN" altLang="en-US" dirty="0"/>
        </a:p>
      </dgm:t>
    </dgm:pt>
    <dgm:pt modelId="{25495988-BD8C-4E04-803D-831C23E5A02E}" type="parTrans" cxnId="{9A6FB068-25BF-40D7-AF7D-6B7FD72D2849}">
      <dgm:prSet/>
      <dgm:spPr/>
      <dgm:t>
        <a:bodyPr/>
        <a:lstStyle/>
        <a:p>
          <a:endParaRPr lang="zh-CN" altLang="en-US"/>
        </a:p>
      </dgm:t>
    </dgm:pt>
    <dgm:pt modelId="{D2C1D1ED-5DA3-4F7D-9C93-5A7C4BBADFFE}" type="sibTrans" cxnId="{9A6FB068-25BF-40D7-AF7D-6B7FD72D2849}">
      <dgm:prSet/>
      <dgm:spPr/>
      <dgm:t>
        <a:bodyPr/>
        <a:lstStyle/>
        <a:p>
          <a:endParaRPr lang="zh-CN" altLang="en-US"/>
        </a:p>
      </dgm:t>
    </dgm:pt>
    <dgm:pt modelId="{A300AAC6-9AFA-4ED0-8943-810CDA890B5C}" type="pres">
      <dgm:prSet presAssocID="{F7CA200A-782A-4734-A584-8B3ADBDEC732}" presName="Name0" presStyleCnt="0">
        <dgm:presLayoutVars>
          <dgm:chMax val="7"/>
          <dgm:chPref val="7"/>
          <dgm:dir/>
        </dgm:presLayoutVars>
      </dgm:prSet>
      <dgm:spPr/>
      <dgm:t>
        <a:bodyPr/>
        <a:lstStyle/>
        <a:p>
          <a:endParaRPr lang="zh-CN" altLang="en-US"/>
        </a:p>
      </dgm:t>
    </dgm:pt>
    <dgm:pt modelId="{F48A7657-8274-4E52-9272-3C362B97C0A1}" type="pres">
      <dgm:prSet presAssocID="{F7CA200A-782A-4734-A584-8B3ADBDEC732}" presName="Name1" presStyleCnt="0"/>
      <dgm:spPr/>
    </dgm:pt>
    <dgm:pt modelId="{3FD915FC-5D63-4B2B-9440-4FDB6D915A81}" type="pres">
      <dgm:prSet presAssocID="{F7CA200A-782A-4734-A584-8B3ADBDEC732}" presName="cycle" presStyleCnt="0"/>
      <dgm:spPr/>
    </dgm:pt>
    <dgm:pt modelId="{5ABFC1F7-32F4-4CB2-837F-003E9357EF03}" type="pres">
      <dgm:prSet presAssocID="{F7CA200A-782A-4734-A584-8B3ADBDEC732}" presName="srcNode" presStyleLbl="node1" presStyleIdx="0" presStyleCnt="3"/>
      <dgm:spPr/>
    </dgm:pt>
    <dgm:pt modelId="{F9219A4B-C38B-418C-AF23-E8D34823F2A8}" type="pres">
      <dgm:prSet presAssocID="{F7CA200A-782A-4734-A584-8B3ADBDEC732}" presName="conn" presStyleLbl="parChTrans1D2" presStyleIdx="0" presStyleCnt="1"/>
      <dgm:spPr/>
      <dgm:t>
        <a:bodyPr/>
        <a:lstStyle/>
        <a:p>
          <a:endParaRPr lang="zh-CN" altLang="en-US"/>
        </a:p>
      </dgm:t>
    </dgm:pt>
    <dgm:pt modelId="{D8988D1E-F662-4933-AC35-7C32A8F0B0F5}" type="pres">
      <dgm:prSet presAssocID="{F7CA200A-782A-4734-A584-8B3ADBDEC732}" presName="extraNode" presStyleLbl="node1" presStyleIdx="0" presStyleCnt="3"/>
      <dgm:spPr/>
    </dgm:pt>
    <dgm:pt modelId="{1B37A6EE-6AB3-434E-94E6-9A66FFE4A782}" type="pres">
      <dgm:prSet presAssocID="{F7CA200A-782A-4734-A584-8B3ADBDEC732}" presName="dstNode" presStyleLbl="node1" presStyleIdx="0" presStyleCnt="3"/>
      <dgm:spPr/>
    </dgm:pt>
    <dgm:pt modelId="{78F4171E-00C6-44E0-9077-3C3C643698FE}" type="pres">
      <dgm:prSet presAssocID="{E97CF942-AB53-4067-B2E7-4F1D73BE19F8}" presName="text_1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F9BD7CB7-B0E1-4567-AF1A-7D55D654C7CB}" type="pres">
      <dgm:prSet presAssocID="{E97CF942-AB53-4067-B2E7-4F1D73BE19F8}" presName="accent_1" presStyleCnt="0"/>
      <dgm:spPr/>
    </dgm:pt>
    <dgm:pt modelId="{CBA8A492-0C57-4DA3-8351-E43E178981A9}" type="pres">
      <dgm:prSet presAssocID="{E97CF942-AB53-4067-B2E7-4F1D73BE19F8}" presName="accentRepeatNode" presStyleLbl="solidFgAcc1" presStyleIdx="0" presStyleCnt="3"/>
      <dgm:spPr/>
    </dgm:pt>
    <dgm:pt modelId="{E0383B95-C5B7-42A8-AB4C-0DE786393D62}" type="pres">
      <dgm:prSet presAssocID="{7CB6867D-5CD1-455D-ABBB-64EB61C49730}" presName="text_2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D84F29BB-153A-433E-9FFB-E8D865BF81B6}" type="pres">
      <dgm:prSet presAssocID="{7CB6867D-5CD1-455D-ABBB-64EB61C49730}" presName="accent_2" presStyleCnt="0"/>
      <dgm:spPr/>
    </dgm:pt>
    <dgm:pt modelId="{D98E2E3B-FC00-45FC-95A7-8044B11982DD}" type="pres">
      <dgm:prSet presAssocID="{7CB6867D-5CD1-455D-ABBB-64EB61C49730}" presName="accentRepeatNode" presStyleLbl="solidFgAcc1" presStyleIdx="1" presStyleCnt="3"/>
      <dgm:spPr/>
    </dgm:pt>
    <dgm:pt modelId="{0CEC0797-60DB-4C64-8039-E84A23A56CC2}" type="pres">
      <dgm:prSet presAssocID="{0BC0A93D-E013-4DE9-B600-F07270B8FAAF}" presName="text_3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45B59941-7875-4600-8C97-12C6CF41537E}" type="pres">
      <dgm:prSet presAssocID="{0BC0A93D-E013-4DE9-B600-F07270B8FAAF}" presName="accent_3" presStyleCnt="0"/>
      <dgm:spPr/>
    </dgm:pt>
    <dgm:pt modelId="{CAC99565-CEBC-4F4C-B042-B27366B53B37}" type="pres">
      <dgm:prSet presAssocID="{0BC0A93D-E013-4DE9-B600-F07270B8FAAF}" presName="accentRepeatNode" presStyleLbl="solidFgAcc1" presStyleIdx="2" presStyleCnt="3"/>
      <dgm:spPr/>
    </dgm:pt>
  </dgm:ptLst>
  <dgm:cxnLst>
    <dgm:cxn modelId="{AADB68E9-79E0-4EA5-8ACC-05E06B341560}" type="presOf" srcId="{0BC0A93D-E013-4DE9-B600-F07270B8FAAF}" destId="{0CEC0797-60DB-4C64-8039-E84A23A56CC2}" srcOrd="0" destOrd="0" presId="urn:microsoft.com/office/officeart/2008/layout/VerticalCurvedList"/>
    <dgm:cxn modelId="{320F2470-2481-4294-B329-71386A49C548}" type="presOf" srcId="{E97CF942-AB53-4067-B2E7-4F1D73BE19F8}" destId="{78F4171E-00C6-44E0-9077-3C3C643698FE}" srcOrd="0" destOrd="0" presId="urn:microsoft.com/office/officeart/2008/layout/VerticalCurvedList"/>
    <dgm:cxn modelId="{265060D8-B79C-4813-B6A4-AC926CE96350}" type="presOf" srcId="{48C756FD-7838-48DA-9CBC-0ABB42C37560}" destId="{F9219A4B-C38B-418C-AF23-E8D34823F2A8}" srcOrd="0" destOrd="0" presId="urn:microsoft.com/office/officeart/2008/layout/VerticalCurvedList"/>
    <dgm:cxn modelId="{DDF4131F-FB5B-433C-BA86-37129FBD227A}" srcId="{F7CA200A-782A-4734-A584-8B3ADBDEC732}" destId="{E97CF942-AB53-4067-B2E7-4F1D73BE19F8}" srcOrd="0" destOrd="0" parTransId="{E06BF214-FDB0-465E-947E-FFB3C90E9897}" sibTransId="{48C756FD-7838-48DA-9CBC-0ABB42C37560}"/>
    <dgm:cxn modelId="{9A6FB068-25BF-40D7-AF7D-6B7FD72D2849}" srcId="{F7CA200A-782A-4734-A584-8B3ADBDEC732}" destId="{0BC0A93D-E013-4DE9-B600-F07270B8FAAF}" srcOrd="2" destOrd="0" parTransId="{25495988-BD8C-4E04-803D-831C23E5A02E}" sibTransId="{D2C1D1ED-5DA3-4F7D-9C93-5A7C4BBADFFE}"/>
    <dgm:cxn modelId="{0EE79A40-FC58-4D1F-926A-82CB51604176}" srcId="{F7CA200A-782A-4734-A584-8B3ADBDEC732}" destId="{7CB6867D-5CD1-455D-ABBB-64EB61C49730}" srcOrd="1" destOrd="0" parTransId="{2AAA1666-B3BD-4DAE-93AC-AC8784F1744E}" sibTransId="{78AF51CB-4D08-4280-9CCC-A10B8C0C1FE4}"/>
    <dgm:cxn modelId="{AAFA5A41-FC75-46AA-9133-525C73DCD126}" type="presOf" srcId="{7CB6867D-5CD1-455D-ABBB-64EB61C49730}" destId="{E0383B95-C5B7-42A8-AB4C-0DE786393D62}" srcOrd="0" destOrd="0" presId="urn:microsoft.com/office/officeart/2008/layout/VerticalCurvedList"/>
    <dgm:cxn modelId="{68046081-850D-4821-95D7-A4C3AC07093B}" type="presOf" srcId="{F7CA200A-782A-4734-A584-8B3ADBDEC732}" destId="{A300AAC6-9AFA-4ED0-8943-810CDA890B5C}" srcOrd="0" destOrd="0" presId="urn:microsoft.com/office/officeart/2008/layout/VerticalCurvedList"/>
    <dgm:cxn modelId="{7629153E-72B9-4318-A997-2C65C6890D77}" type="presParOf" srcId="{A300AAC6-9AFA-4ED0-8943-810CDA890B5C}" destId="{F48A7657-8274-4E52-9272-3C362B97C0A1}" srcOrd="0" destOrd="0" presId="urn:microsoft.com/office/officeart/2008/layout/VerticalCurvedList"/>
    <dgm:cxn modelId="{0825D319-073F-429A-84EE-9DDEEC99D5C3}" type="presParOf" srcId="{F48A7657-8274-4E52-9272-3C362B97C0A1}" destId="{3FD915FC-5D63-4B2B-9440-4FDB6D915A81}" srcOrd="0" destOrd="0" presId="urn:microsoft.com/office/officeart/2008/layout/VerticalCurvedList"/>
    <dgm:cxn modelId="{037CF28C-D0D0-4B9A-82DC-72FF3EC0629C}" type="presParOf" srcId="{3FD915FC-5D63-4B2B-9440-4FDB6D915A81}" destId="{5ABFC1F7-32F4-4CB2-837F-003E9357EF03}" srcOrd="0" destOrd="0" presId="urn:microsoft.com/office/officeart/2008/layout/VerticalCurvedList"/>
    <dgm:cxn modelId="{A9FA7835-618E-4C37-8090-CA107F6DD331}" type="presParOf" srcId="{3FD915FC-5D63-4B2B-9440-4FDB6D915A81}" destId="{F9219A4B-C38B-418C-AF23-E8D34823F2A8}" srcOrd="1" destOrd="0" presId="urn:microsoft.com/office/officeart/2008/layout/VerticalCurvedList"/>
    <dgm:cxn modelId="{44D50E4D-122B-4F3C-93CA-06540E2A4E02}" type="presParOf" srcId="{3FD915FC-5D63-4B2B-9440-4FDB6D915A81}" destId="{D8988D1E-F662-4933-AC35-7C32A8F0B0F5}" srcOrd="2" destOrd="0" presId="urn:microsoft.com/office/officeart/2008/layout/VerticalCurvedList"/>
    <dgm:cxn modelId="{3CBE1BFE-50CD-4CE0-8B8C-0D0C59E688AD}" type="presParOf" srcId="{3FD915FC-5D63-4B2B-9440-4FDB6D915A81}" destId="{1B37A6EE-6AB3-434E-94E6-9A66FFE4A782}" srcOrd="3" destOrd="0" presId="urn:microsoft.com/office/officeart/2008/layout/VerticalCurvedList"/>
    <dgm:cxn modelId="{5A35C106-E0C2-408D-8499-C56161C117E8}" type="presParOf" srcId="{F48A7657-8274-4E52-9272-3C362B97C0A1}" destId="{78F4171E-00C6-44E0-9077-3C3C643698FE}" srcOrd="1" destOrd="0" presId="urn:microsoft.com/office/officeart/2008/layout/VerticalCurvedList"/>
    <dgm:cxn modelId="{D58CCD01-90FA-4CFA-8842-6DC3E77CFAD3}" type="presParOf" srcId="{F48A7657-8274-4E52-9272-3C362B97C0A1}" destId="{F9BD7CB7-B0E1-4567-AF1A-7D55D654C7CB}" srcOrd="2" destOrd="0" presId="urn:microsoft.com/office/officeart/2008/layout/VerticalCurvedList"/>
    <dgm:cxn modelId="{F0814DF7-01F1-4451-A840-02E30D0EAF97}" type="presParOf" srcId="{F9BD7CB7-B0E1-4567-AF1A-7D55D654C7CB}" destId="{CBA8A492-0C57-4DA3-8351-E43E178981A9}" srcOrd="0" destOrd="0" presId="urn:microsoft.com/office/officeart/2008/layout/VerticalCurvedList"/>
    <dgm:cxn modelId="{BD2049CC-3ABE-44A2-A73E-E150E6D04758}" type="presParOf" srcId="{F48A7657-8274-4E52-9272-3C362B97C0A1}" destId="{E0383B95-C5B7-42A8-AB4C-0DE786393D62}" srcOrd="3" destOrd="0" presId="urn:microsoft.com/office/officeart/2008/layout/VerticalCurvedList"/>
    <dgm:cxn modelId="{FD1B1B3E-7DA3-4219-A19D-DF028FE5771D}" type="presParOf" srcId="{F48A7657-8274-4E52-9272-3C362B97C0A1}" destId="{D84F29BB-153A-433E-9FFB-E8D865BF81B6}" srcOrd="4" destOrd="0" presId="urn:microsoft.com/office/officeart/2008/layout/VerticalCurvedList"/>
    <dgm:cxn modelId="{668EB88F-4683-4214-821A-12B98DC0DAC5}" type="presParOf" srcId="{D84F29BB-153A-433E-9FFB-E8D865BF81B6}" destId="{D98E2E3B-FC00-45FC-95A7-8044B11982DD}" srcOrd="0" destOrd="0" presId="urn:microsoft.com/office/officeart/2008/layout/VerticalCurvedList"/>
    <dgm:cxn modelId="{B272FAF7-3744-4D98-8B37-87A592C4C6F4}" type="presParOf" srcId="{F48A7657-8274-4E52-9272-3C362B97C0A1}" destId="{0CEC0797-60DB-4C64-8039-E84A23A56CC2}" srcOrd="5" destOrd="0" presId="urn:microsoft.com/office/officeart/2008/layout/VerticalCurvedList"/>
    <dgm:cxn modelId="{42719035-4606-497E-856F-84E3B2F54993}" type="presParOf" srcId="{F48A7657-8274-4E52-9272-3C362B97C0A1}" destId="{45B59941-7875-4600-8C97-12C6CF41537E}" srcOrd="6" destOrd="0" presId="urn:microsoft.com/office/officeart/2008/layout/VerticalCurvedList"/>
    <dgm:cxn modelId="{B7C4302C-997C-4832-9665-545A2A51C2FA}" type="presParOf" srcId="{45B59941-7875-4600-8C97-12C6CF41537E}" destId="{CAC99565-CEBC-4F4C-B042-B27366B53B37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F01C04-B056-483B-957D-9FF2E327A170}">
      <dsp:nvSpPr>
        <dsp:cNvPr id="0" name=""/>
        <dsp:cNvSpPr/>
      </dsp:nvSpPr>
      <dsp:spPr>
        <a:xfrm>
          <a:off x="3290" y="288411"/>
          <a:ext cx="1438894" cy="863336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1900" kern="1200" dirty="0" smtClean="0"/>
            <a:t>Input type=file</a:t>
          </a:r>
          <a:endParaRPr lang="zh-CN" altLang="en-US" sz="1900" kern="1200" dirty="0"/>
        </a:p>
      </dsp:txBody>
      <dsp:txXfrm>
        <a:off x="28576" y="313697"/>
        <a:ext cx="1388322" cy="812764"/>
      </dsp:txXfrm>
    </dsp:sp>
    <dsp:sp modelId="{7F3141BA-7FE5-4C8A-A1EE-16D35367AFB0}">
      <dsp:nvSpPr>
        <dsp:cNvPr id="0" name=""/>
        <dsp:cNvSpPr/>
      </dsp:nvSpPr>
      <dsp:spPr>
        <a:xfrm>
          <a:off x="1586074" y="541657"/>
          <a:ext cx="305045" cy="356845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CN" altLang="en-US" sz="1500" kern="1200" dirty="0"/>
        </a:p>
      </dsp:txBody>
      <dsp:txXfrm>
        <a:off x="1586074" y="613026"/>
        <a:ext cx="213532" cy="214107"/>
      </dsp:txXfrm>
    </dsp:sp>
    <dsp:sp modelId="{89C5C9F7-D90E-4726-8FA9-EE0D8F797B33}">
      <dsp:nvSpPr>
        <dsp:cNvPr id="0" name=""/>
        <dsp:cNvSpPr/>
      </dsp:nvSpPr>
      <dsp:spPr>
        <a:xfrm>
          <a:off x="2017742" y="288411"/>
          <a:ext cx="1438894" cy="863336"/>
        </a:xfrm>
        <a:prstGeom prst="roundRect">
          <a:avLst>
            <a:gd name="adj" fmla="val 10000"/>
          </a:avLst>
        </a:prstGeom>
        <a:solidFill>
          <a:schemeClr val="accent5">
            <a:hueOff val="-3311292"/>
            <a:satOff val="13270"/>
            <a:lumOff val="287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1900" kern="1200" dirty="0" err="1" smtClean="0"/>
            <a:t>FileReader</a:t>
          </a:r>
          <a:r>
            <a:rPr lang="en-US" altLang="zh-CN" sz="1900" kern="1200" dirty="0" smtClean="0"/>
            <a:t> </a:t>
          </a:r>
          <a:r>
            <a:rPr lang="en-US" altLang="zh-CN" sz="1900" kern="1200" dirty="0" err="1" smtClean="0"/>
            <a:t>Api</a:t>
          </a:r>
          <a:endParaRPr lang="zh-CN" altLang="en-US" sz="1900" kern="1200" dirty="0"/>
        </a:p>
      </dsp:txBody>
      <dsp:txXfrm>
        <a:off x="2043028" y="313697"/>
        <a:ext cx="1388322" cy="812764"/>
      </dsp:txXfrm>
    </dsp:sp>
    <dsp:sp modelId="{AB6D7D96-B6AA-44AB-AB18-8594522DD2CC}">
      <dsp:nvSpPr>
        <dsp:cNvPr id="0" name=""/>
        <dsp:cNvSpPr/>
      </dsp:nvSpPr>
      <dsp:spPr>
        <a:xfrm>
          <a:off x="3600526" y="541657"/>
          <a:ext cx="305045" cy="356845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-4966938"/>
            <a:satOff val="19906"/>
            <a:lumOff val="4314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CN" altLang="en-US" sz="1500" kern="1200"/>
        </a:p>
      </dsp:txBody>
      <dsp:txXfrm>
        <a:off x="3600526" y="613026"/>
        <a:ext cx="213532" cy="214107"/>
      </dsp:txXfrm>
    </dsp:sp>
    <dsp:sp modelId="{F3C5A5A2-0D30-43D7-8132-3D86FDBBD29E}">
      <dsp:nvSpPr>
        <dsp:cNvPr id="0" name=""/>
        <dsp:cNvSpPr/>
      </dsp:nvSpPr>
      <dsp:spPr>
        <a:xfrm>
          <a:off x="4032194" y="288411"/>
          <a:ext cx="1438894" cy="863336"/>
        </a:xfrm>
        <a:prstGeom prst="roundRect">
          <a:avLst>
            <a:gd name="adj" fmla="val 10000"/>
          </a:avLst>
        </a:prstGeom>
        <a:solidFill>
          <a:schemeClr val="accent5">
            <a:hueOff val="-6622584"/>
            <a:satOff val="26541"/>
            <a:lumOff val="5752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1900" kern="1200" dirty="0" smtClean="0"/>
            <a:t>Canvas</a:t>
          </a:r>
          <a:endParaRPr lang="zh-CN" altLang="en-US" sz="1900" kern="1200" dirty="0"/>
        </a:p>
      </dsp:txBody>
      <dsp:txXfrm>
        <a:off x="4057480" y="313697"/>
        <a:ext cx="1388322" cy="812764"/>
      </dsp:txXfrm>
    </dsp:sp>
    <dsp:sp modelId="{2DAFEA98-F93F-4C76-8E74-48501430B5A8}">
      <dsp:nvSpPr>
        <dsp:cNvPr id="0" name=""/>
        <dsp:cNvSpPr/>
      </dsp:nvSpPr>
      <dsp:spPr>
        <a:xfrm>
          <a:off x="5614978" y="541657"/>
          <a:ext cx="305045" cy="356845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CN" altLang="en-US" sz="1500" kern="1200"/>
        </a:p>
      </dsp:txBody>
      <dsp:txXfrm>
        <a:off x="5614978" y="613026"/>
        <a:ext cx="213532" cy="214107"/>
      </dsp:txXfrm>
    </dsp:sp>
    <dsp:sp modelId="{9845CD7D-33C3-431D-9723-AC0BD1B73534}">
      <dsp:nvSpPr>
        <dsp:cNvPr id="0" name=""/>
        <dsp:cNvSpPr/>
      </dsp:nvSpPr>
      <dsp:spPr>
        <a:xfrm>
          <a:off x="6046646" y="288411"/>
          <a:ext cx="1438894" cy="863336"/>
        </a:xfrm>
        <a:prstGeom prst="roundRect">
          <a:avLst>
            <a:gd name="adj" fmla="val 10000"/>
          </a:avLst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1900" kern="1200" dirty="0" smtClean="0"/>
            <a:t>Base64</a:t>
          </a:r>
          <a:endParaRPr lang="zh-CN" altLang="en-US" sz="1900" kern="1200" dirty="0"/>
        </a:p>
      </dsp:txBody>
      <dsp:txXfrm>
        <a:off x="6071932" y="313697"/>
        <a:ext cx="1388322" cy="81276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9219A4B-C38B-418C-AF23-E8D34823F2A8}">
      <dsp:nvSpPr>
        <dsp:cNvPr id="0" name=""/>
        <dsp:cNvSpPr/>
      </dsp:nvSpPr>
      <dsp:spPr>
        <a:xfrm>
          <a:off x="-5116967" y="-783865"/>
          <a:ext cx="6093694" cy="6093694"/>
        </a:xfrm>
        <a:prstGeom prst="blockArc">
          <a:avLst>
            <a:gd name="adj1" fmla="val 18900000"/>
            <a:gd name="adj2" fmla="val 2700000"/>
            <a:gd name="adj3" fmla="val 354"/>
          </a:avLst>
        </a:pr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8F4171E-00C6-44E0-9077-3C3C643698FE}">
      <dsp:nvSpPr>
        <dsp:cNvPr id="0" name=""/>
        <dsp:cNvSpPr/>
      </dsp:nvSpPr>
      <dsp:spPr>
        <a:xfrm>
          <a:off x="628203" y="452596"/>
          <a:ext cx="7538938" cy="90519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18497" tIns="119380" rIns="119380" bIns="119380" numCol="1" spcCol="1270" anchor="ctr" anchorCtr="0">
          <a:noAutofit/>
        </a:bodyPr>
        <a:lstStyle/>
        <a:p>
          <a:pPr lvl="0" algn="l" defTabSz="2089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4700" kern="1200" dirty="0" smtClean="0"/>
            <a:t>Native +Web</a:t>
          </a:r>
          <a:endParaRPr lang="zh-CN" altLang="en-US" sz="4700" kern="1200" dirty="0"/>
        </a:p>
      </dsp:txBody>
      <dsp:txXfrm>
        <a:off x="628203" y="452596"/>
        <a:ext cx="7538938" cy="905192"/>
      </dsp:txXfrm>
    </dsp:sp>
    <dsp:sp modelId="{CBA8A492-0C57-4DA3-8351-E43E178981A9}">
      <dsp:nvSpPr>
        <dsp:cNvPr id="0" name=""/>
        <dsp:cNvSpPr/>
      </dsp:nvSpPr>
      <dsp:spPr>
        <a:xfrm>
          <a:off x="62458" y="339447"/>
          <a:ext cx="1131490" cy="113149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0383B95-C5B7-42A8-AB4C-0DE786393D62}">
      <dsp:nvSpPr>
        <dsp:cNvPr id="0" name=""/>
        <dsp:cNvSpPr/>
      </dsp:nvSpPr>
      <dsp:spPr>
        <a:xfrm>
          <a:off x="957241" y="1810385"/>
          <a:ext cx="7209900" cy="90519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18497" tIns="119380" rIns="119380" bIns="119380" numCol="1" spcCol="1270" anchor="ctr" anchorCtr="0">
          <a:noAutofit/>
        </a:bodyPr>
        <a:lstStyle/>
        <a:p>
          <a:pPr lvl="0" algn="l" defTabSz="2089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4700" kern="1200" dirty="0" smtClean="0"/>
            <a:t>公司 </a:t>
          </a:r>
          <a:r>
            <a:rPr lang="en-US" altLang="zh-CN" sz="4700" kern="1200" dirty="0" smtClean="0"/>
            <a:t>+ </a:t>
          </a:r>
          <a:r>
            <a:rPr lang="zh-CN" altLang="en-US" sz="4700" kern="1200" dirty="0" smtClean="0"/>
            <a:t>业界</a:t>
          </a:r>
          <a:endParaRPr lang="zh-CN" altLang="en-US" sz="4700" kern="1200" dirty="0"/>
        </a:p>
      </dsp:txBody>
      <dsp:txXfrm>
        <a:off x="957241" y="1810385"/>
        <a:ext cx="7209900" cy="905192"/>
      </dsp:txXfrm>
    </dsp:sp>
    <dsp:sp modelId="{D98E2E3B-FC00-45FC-95A7-8044B11982DD}">
      <dsp:nvSpPr>
        <dsp:cNvPr id="0" name=""/>
        <dsp:cNvSpPr/>
      </dsp:nvSpPr>
      <dsp:spPr>
        <a:xfrm>
          <a:off x="391495" y="1697236"/>
          <a:ext cx="1131490" cy="113149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CEC0797-60DB-4C64-8039-E84A23A56CC2}">
      <dsp:nvSpPr>
        <dsp:cNvPr id="0" name=""/>
        <dsp:cNvSpPr/>
      </dsp:nvSpPr>
      <dsp:spPr>
        <a:xfrm>
          <a:off x="628203" y="3168174"/>
          <a:ext cx="7538938" cy="90519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18497" tIns="119380" rIns="119380" bIns="119380" numCol="1" spcCol="1270" anchor="ctr" anchorCtr="0">
          <a:noAutofit/>
        </a:bodyPr>
        <a:lstStyle/>
        <a:p>
          <a:pPr lvl="0" algn="l" defTabSz="2089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4700" kern="1200" dirty="0" smtClean="0"/>
            <a:t>业务 </a:t>
          </a:r>
          <a:r>
            <a:rPr lang="en-US" altLang="zh-CN" sz="4700" kern="1200" dirty="0" smtClean="0"/>
            <a:t>+ </a:t>
          </a:r>
          <a:r>
            <a:rPr lang="zh-CN" altLang="en-US" sz="4700" kern="1200" dirty="0" smtClean="0"/>
            <a:t>开源</a:t>
          </a:r>
          <a:endParaRPr lang="zh-CN" altLang="en-US" sz="4700" kern="1200" dirty="0"/>
        </a:p>
      </dsp:txBody>
      <dsp:txXfrm>
        <a:off x="628203" y="3168174"/>
        <a:ext cx="7538938" cy="905192"/>
      </dsp:txXfrm>
    </dsp:sp>
    <dsp:sp modelId="{CAC99565-CEBC-4F4C-B042-B27366B53B37}">
      <dsp:nvSpPr>
        <dsp:cNvPr id="0" name=""/>
        <dsp:cNvSpPr/>
      </dsp:nvSpPr>
      <dsp:spPr>
        <a:xfrm>
          <a:off x="62458" y="3055025"/>
          <a:ext cx="1131490" cy="113149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3D591D-BDD2-49CA-8023-F4965EE13286}" type="datetimeFigureOut">
              <a:rPr lang="zh-CN" altLang="en-US" smtClean="0"/>
              <a:t>15/1/17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BCDAFB9-EA06-49A3-A112-8FE8A7095A3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388216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24A060-2F5E-4E41-BDF5-638AE07ECDF1}" type="datetimeFigureOut">
              <a:rPr lang="zh-CN" altLang="en-US" smtClean="0"/>
              <a:t>15/1/17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9B30B5-4376-40FF-9B87-37EE5AB95E4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40081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themeOverride" Target="../theme/themeOverride1.xml"/><Relationship Id="rId2" Type="http://schemas.openxmlformats.org/officeDocument/2006/relationships/notesMaster" Target="../notesMasters/notesMaster1.xml"/><Relationship Id="rId3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themeOverride" Target="../theme/themeOverride2.xml"/><Relationship Id="rId2" Type="http://schemas.openxmlformats.org/officeDocument/2006/relationships/notesMaster" Target="../notesMasters/notesMaster1.xml"/><Relationship Id="rId3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Relationship Id="rId3" Type="http://schemas.openxmlformats.org/officeDocument/2006/relationships/hyperlink" Target="http://developer.apple.com/library/safari/" TargetMode="External"/></Relationships>
</file>

<file path=ppt/notesSlides/_rels/notesSlide1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Relationship Id="rId3" Type="http://schemas.openxmlformats.org/officeDocument/2006/relationships/hyperlink" Target="http://developer.apple.com/library/safari/" TargetMode="External"/></Relationships>
</file>

<file path=ppt/notesSlides/_rels/notesSlide1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Relationship Id="rId3" Type="http://schemas.openxmlformats.org/officeDocument/2006/relationships/hyperlink" Target="https://github.com/stomita/ios-imagefile-megapixel" TargetMode="External"/></Relationships>
</file>

<file path=ppt/notesSlides/_rels/notesSlide1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Relationship Id="rId3" Type="http://schemas.openxmlformats.org/officeDocument/2006/relationships/hyperlink" Target="http://developer.apple.com/library/safari/" TargetMode="External"/></Relationships>
</file>

<file path=ppt/notesSlides/_rels/notesSlide1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2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29.xml.rels><?xml version="1.0" encoding="UTF-8" standalone="yes"?>
<Relationships xmlns="http://schemas.openxmlformats.org/package/2006/relationships"><Relationship Id="rId1" Type="http://schemas.openxmlformats.org/officeDocument/2006/relationships/themeOverride" Target="../theme/themeOverride3.xml"/><Relationship Id="rId2" Type="http://schemas.openxmlformats.org/officeDocument/2006/relationships/notesMaster" Target="../notesMasters/notesMaster1.xml"/><Relationship Id="rId3" Type="http://schemas.openxmlformats.org/officeDocument/2006/relationships/slide" Target="../slides/slide36.xml"/></Relationships>
</file>

<file path=ppt/notesSlides/_rels/notesSlide3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33.xml.rels><?xml version="1.0" encoding="UTF-8" standalone="yes"?>
<Relationships xmlns="http://schemas.openxmlformats.org/package/2006/relationships"><Relationship Id="rId1" Type="http://schemas.openxmlformats.org/officeDocument/2006/relationships/themeOverride" Target="../theme/themeOverride4.xml"/><Relationship Id="rId2" Type="http://schemas.openxmlformats.org/officeDocument/2006/relationships/notesMaster" Target="../notesMasters/notesMaster1.xml"/><Relationship Id="rId3" Type="http://schemas.openxmlformats.org/officeDocument/2006/relationships/slide" Target="../slides/slide47.xml"/></Relationships>
</file>

<file path=ppt/notesSlides/_rels/notesSlide34.xml.rels><?xml version="1.0" encoding="UTF-8" standalone="yes"?>
<Relationships xmlns="http://schemas.openxmlformats.org/package/2006/relationships"><Relationship Id="rId1" Type="http://schemas.openxmlformats.org/officeDocument/2006/relationships/themeOverride" Target="../theme/themeOverride5.xml"/><Relationship Id="rId2" Type="http://schemas.openxmlformats.org/officeDocument/2006/relationships/notesMaster" Target="../notesMasters/notesMaster1.xml"/><Relationship Id="rId3" Type="http://schemas.openxmlformats.org/officeDocument/2006/relationships/slide" Target="../slides/slide48.xml"/></Relationships>
</file>

<file path=ppt/notesSlides/_rels/notesSlide3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36.xml.rels><?xml version="1.0" encoding="UTF-8" standalone="yes"?>
<Relationships xmlns="http://schemas.openxmlformats.org/package/2006/relationships"><Relationship Id="rId1" Type="http://schemas.openxmlformats.org/officeDocument/2006/relationships/themeOverride" Target="../theme/themeOverride6.xml"/><Relationship Id="rId2" Type="http://schemas.openxmlformats.org/officeDocument/2006/relationships/notesMaster" Target="../notesMasters/notesMaster1.xml"/><Relationship Id="rId3" Type="http://schemas.openxmlformats.org/officeDocument/2006/relationships/slide" Target="../slides/slide50.xml"/></Relationships>
</file>

<file path=ppt/notesSlides/_rels/notesSlide3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3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9B30B5-4376-40FF-9B87-37EE5AB95E46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10517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Willow</a:t>
            </a:r>
            <a:r>
              <a:rPr lang="zh-CN" altLang="en-US" dirty="0" smtClean="0"/>
              <a:t>作者，不少同学在使用，为什么叫</a:t>
            </a:r>
            <a:r>
              <a:rPr lang="en-US" altLang="zh-CN" dirty="0" smtClean="0"/>
              <a:t>willow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r>
              <a:rPr lang="zh-CN" altLang="en-US" dirty="0" smtClean="0"/>
              <a:t>有多少人是单身的，多少人家里的领导支持回家还些代码</a:t>
            </a:r>
            <a:endParaRPr lang="en-US" altLang="zh-CN" dirty="0" smtClean="0"/>
          </a:p>
          <a:p>
            <a:r>
              <a:rPr lang="zh-CN" altLang="en-US" dirty="0" smtClean="0"/>
              <a:t>如果我是个诗人我会以你的名字写首诗，</a:t>
            </a:r>
            <a:endParaRPr lang="en-US" altLang="zh-CN" dirty="0" smtClean="0"/>
          </a:p>
          <a:p>
            <a:r>
              <a:rPr lang="zh-CN" altLang="en-US" dirty="0" smtClean="0"/>
              <a:t>如果我是个歌者，我会以你的名字唱首歌，</a:t>
            </a:r>
            <a:endParaRPr lang="en-US" altLang="zh-CN" dirty="0" smtClean="0"/>
          </a:p>
          <a:p>
            <a:r>
              <a:rPr lang="zh-CN" altLang="en-US" dirty="0" smtClean="0"/>
              <a:t>但我是个码农，我会用你的名字写个工具。</a:t>
            </a:r>
            <a:endParaRPr lang="en-US" altLang="zh-CN" dirty="0" smtClean="0"/>
          </a:p>
          <a:p>
            <a:r>
              <a:rPr lang="en-US" altLang="zh-CN" dirty="0" smtClean="0"/>
              <a:t>So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9B30B5-4376-40FF-9B87-37EE5AB95E46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79734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76803" name="备注占位符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zh-CN" dirty="0" smtClean="0"/>
              <a:t>h5</a:t>
            </a:r>
            <a:r>
              <a:rPr lang="zh-CN" altLang="en-US" dirty="0" smtClean="0"/>
              <a:t>会不会消失。。。</a:t>
            </a:r>
            <a:r>
              <a:rPr lang="en-US" altLang="zh-CN" dirty="0" smtClean="0"/>
              <a:t>web</a:t>
            </a:r>
            <a:r>
              <a:rPr lang="zh-CN" altLang="en-US" dirty="0" smtClean="0"/>
              <a:t>前端工程师做的都是</a:t>
            </a:r>
            <a:r>
              <a:rPr lang="en-US" altLang="zh-CN" dirty="0" smtClean="0"/>
              <a:t>h5.</a:t>
            </a:r>
            <a:endParaRPr lang="zh-CN" altLang="en-US" dirty="0" smtClean="0"/>
          </a:p>
        </p:txBody>
      </p:sp>
      <p:sp>
        <p:nvSpPr>
          <p:cNvPr id="76804" name="灯片编号占位符 3"/>
          <p:cNvSpPr txBox="1">
            <a:spLocks noGrp="1" noChangeArrowheads="1"/>
          </p:cNvSpPr>
          <p:nvPr/>
        </p:nvSpPr>
        <p:spPr bwMode="auto">
          <a:xfrm>
            <a:off x="3883025" y="8685213"/>
            <a:ext cx="29733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9pPr>
          </a:lstStyle>
          <a:p>
            <a:fld id="{93C1DDEE-EEF0-472F-BF51-2C9B410C60AB}" type="slidenum">
              <a:rPr lang="zh-CN" altLang="en-US"/>
              <a:pPr/>
              <a:t>3</a:t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83971" name="备注占位符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zh-CN" smtClean="0"/>
              <a:t>HTML5+CSS3+Javascript</a:t>
            </a:r>
            <a:endParaRPr lang="zh-CN" altLang="en-US" smtClean="0"/>
          </a:p>
          <a:p>
            <a:endParaRPr lang="en-US" altLang="zh-CN" smtClean="0"/>
          </a:p>
          <a:p>
            <a:r>
              <a:rPr lang="en-US" altLang="zh-CN" smtClean="0"/>
              <a:t>CSS3</a:t>
            </a:r>
            <a:r>
              <a:rPr lang="zh-CN" altLang="en-US" smtClean="0"/>
              <a:t>可能偏重构和前端，这里就不分享了，重点讲对前后台有关联的内容。</a:t>
            </a:r>
            <a:endParaRPr lang="en-US" altLang="zh-CN" smtClean="0"/>
          </a:p>
          <a:p>
            <a:endParaRPr lang="en-US" altLang="zh-CN" smtClean="0"/>
          </a:p>
        </p:txBody>
      </p:sp>
      <p:sp>
        <p:nvSpPr>
          <p:cNvPr id="83972" name="灯片编号占位符 3"/>
          <p:cNvSpPr txBox="1">
            <a:spLocks noGrp="1" noChangeArrowheads="1"/>
          </p:cNvSpPr>
          <p:nvPr/>
        </p:nvSpPr>
        <p:spPr bwMode="auto">
          <a:xfrm>
            <a:off x="3883025" y="8685213"/>
            <a:ext cx="29733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9pPr>
          </a:lstStyle>
          <a:p>
            <a:fld id="{67240115-8B9E-4F55-943F-CF1B0782ED29}" type="slidenum">
              <a:rPr lang="zh-CN" altLang="en-US"/>
              <a:pPr/>
              <a:t>4</a:t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移动因为系统更新，运行环境，硬件更新比较快，在</a:t>
            </a:r>
            <a:r>
              <a:rPr lang="en-US" altLang="zh-CN" dirty="0" smtClean="0"/>
              <a:t>14</a:t>
            </a:r>
            <a:r>
              <a:rPr lang="zh-CN" altLang="en-US" dirty="0" smtClean="0"/>
              <a:t>年发展趋势明显加速。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9B30B5-4376-40FF-9B87-37EE5AB95E46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79068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b="0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9B30B5-4376-40FF-9B87-37EE5AB95E46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962785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0" dirty="0" smtClean="0"/>
              <a:t>用户访问时</a:t>
            </a:r>
          </a:p>
          <a:p>
            <a:r>
              <a:rPr lang="zh-CN" altLang="en-US" b="0" dirty="0" smtClean="0"/>
              <a:t>检查该文件是否需要本地存储，本地版本号是否等于外网版本号，本地存储中该文件是否存在三个条件都满足后，读取本地存储，否则从外网访问，同时更新本地存储版本号和本地存储</a:t>
            </a:r>
            <a:endParaRPr lang="en-US" altLang="zh-CN" b="0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9B30B5-4376-40FF-9B87-37EE5AB95E46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962785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0" dirty="0" smtClean="0"/>
              <a:t>我们提供的插件已经成为</a:t>
            </a:r>
            <a:r>
              <a:rPr lang="en-US" altLang="zh-CN" b="0" dirty="0" err="1" smtClean="0"/>
              <a:t>seajs</a:t>
            </a:r>
            <a:r>
              <a:rPr lang="zh-CN" altLang="en-US" b="0" dirty="0" smtClean="0"/>
              <a:t>官方插件。在开发过程中，发现一淘的同学也在进行相关研究，我们结合针对</a:t>
            </a:r>
            <a:r>
              <a:rPr lang="en-US" altLang="zh-CN" b="0" dirty="0" smtClean="0"/>
              <a:t>seajs2.0</a:t>
            </a:r>
            <a:r>
              <a:rPr lang="zh-CN" altLang="en-US" b="0" dirty="0" smtClean="0"/>
              <a:t>做了优化，这里也感谢他们。</a:t>
            </a:r>
            <a:endParaRPr lang="en-US" altLang="zh-CN" b="0" dirty="0" smtClean="0"/>
          </a:p>
          <a:p>
            <a:r>
              <a:rPr lang="en-US" altLang="zh-CN" b="0" dirty="0" err="1" smtClean="0"/>
              <a:t>ppt</a:t>
            </a:r>
            <a:r>
              <a:rPr lang="zh-CN" altLang="en-US" b="0" dirty="0" smtClean="0"/>
              <a:t>最后也会列出了我们的参考资料</a:t>
            </a:r>
            <a:endParaRPr lang="en-US" altLang="zh-CN" b="0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9B30B5-4376-40FF-9B87-37EE5AB95E46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962785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0" dirty="0" smtClean="0"/>
              <a:t>命中率有</a:t>
            </a:r>
            <a:r>
              <a:rPr lang="en-US" altLang="zh-CN" b="0" dirty="0" smtClean="0"/>
              <a:t>70%</a:t>
            </a:r>
            <a:r>
              <a:rPr lang="zh-CN" altLang="en-US" b="0" dirty="0" smtClean="0"/>
              <a:t>左右，发布后测速也有明显下降。</a:t>
            </a:r>
            <a:endParaRPr lang="en-US" altLang="zh-CN" b="0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9B30B5-4376-40FF-9B87-37EE5AB95E46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962785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9B30B5-4376-40FF-9B87-37EE5AB95E46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886249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移动端柔性</a:t>
            </a:r>
            <a:r>
              <a:rPr lang="en-US" altLang="zh-CN" dirty="0" err="1" smtClean="0"/>
              <a:t>etag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支持</a:t>
            </a:r>
            <a:r>
              <a:rPr lang="en-US" altLang="zh-CN" dirty="0" err="1" smtClean="0"/>
              <a:t>etag</a:t>
            </a:r>
            <a:r>
              <a:rPr lang="zh-CN" altLang="en-US" dirty="0" smtClean="0"/>
              <a:t>的浏览器正常使用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不支持的浏览器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自定义</a:t>
            </a:r>
            <a:r>
              <a:rPr lang="en-US" altLang="zh-CN" dirty="0" smtClean="0"/>
              <a:t>http header, </a:t>
            </a:r>
            <a:r>
              <a:rPr lang="zh-CN" altLang="en-US" dirty="0" smtClean="0"/>
              <a:t>修改</a:t>
            </a:r>
            <a:r>
              <a:rPr lang="en-US" altLang="zh-CN" dirty="0" smtClean="0"/>
              <a:t>request header</a:t>
            </a:r>
            <a:r>
              <a:rPr lang="zh-CN" altLang="en-US" dirty="0" smtClean="0"/>
              <a:t>里的</a:t>
            </a:r>
            <a:r>
              <a:rPr lang="en-US" altLang="zh-CN" dirty="0" smtClean="0"/>
              <a:t>If-None-Match</a:t>
            </a:r>
            <a:r>
              <a:rPr lang="zh-CN" altLang="en-US" dirty="0" smtClean="0"/>
              <a:t>为随机数</a:t>
            </a:r>
            <a:endParaRPr lang="en-US" altLang="zh-CN" dirty="0" smtClean="0"/>
          </a:p>
          <a:p>
            <a:pPr lvl="2"/>
            <a:r>
              <a:rPr lang="en-US" altLang="zh-CN" dirty="0" smtClean="0"/>
              <a:t>header</a:t>
            </a:r>
            <a:r>
              <a:rPr lang="zh-CN" altLang="en-US" dirty="0" smtClean="0"/>
              <a:t>修改失败的请求的请求加随机数</a:t>
            </a:r>
            <a:endParaRPr lang="en-US" altLang="zh-CN" dirty="0" smtClean="0"/>
          </a:p>
          <a:p>
            <a:r>
              <a:rPr lang="en-US" altLang="zh-CN" dirty="0" smtClean="0"/>
              <a:t>304</a:t>
            </a:r>
            <a:r>
              <a:rPr lang="zh-CN" altLang="en-US" dirty="0" smtClean="0"/>
              <a:t>命中率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约</a:t>
            </a:r>
            <a:r>
              <a:rPr lang="en-US" altLang="zh-CN" dirty="0" smtClean="0"/>
              <a:t>40%</a:t>
            </a:r>
            <a:endParaRPr lang="zh-CN" altLang="en-US" dirty="0" smtClean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 smtClean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9B30B5-4376-40FF-9B87-37EE5AB95E46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886249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b="1" dirty="0" err="1" smtClean="0"/>
              <a:t>Ios</a:t>
            </a:r>
            <a:r>
              <a:rPr lang="en-US" altLang="zh-CN" b="1" dirty="0" smtClean="0"/>
              <a:t> safari</a:t>
            </a:r>
            <a:r>
              <a:rPr lang="en-US" altLang="zh-CN" b="1" baseline="0" dirty="0" smtClean="0"/>
              <a:t> subsample</a:t>
            </a:r>
            <a:r>
              <a:rPr lang="zh-CN" altLang="en-US" b="1" baseline="0" dirty="0" smtClean="0"/>
              <a:t>官方描述</a:t>
            </a:r>
            <a:endParaRPr lang="en-US" altLang="zh-CN" b="1" dirty="0" smtClean="0"/>
          </a:p>
          <a:p>
            <a:r>
              <a:rPr lang="en-US" altLang="zh-CN" b="1" dirty="0" smtClean="0">
                <a:hlinkClick r:id="rId3"/>
              </a:rPr>
              <a:t>http://developer.apple.com/library/safari/#documentation/AppleApplications/Reference/SafariWebContent/CreatingContentforSafarioniPhone/CreatingContentforSafarioniPhone.html#//apple_ref/doc/uid/TP40006482-SW15</a:t>
            </a:r>
            <a:endParaRPr lang="en-US" altLang="zh-CN" b="1" dirty="0" smtClean="0"/>
          </a:p>
          <a:p>
            <a:endParaRPr lang="en-US" altLang="zh-CN" b="1" dirty="0" smtClean="0"/>
          </a:p>
          <a:p>
            <a:r>
              <a:rPr lang="en-US" altLang="zh-CN" b="0" dirty="0" err="1" smtClean="0"/>
              <a:t>Todo</a:t>
            </a:r>
            <a:r>
              <a:rPr lang="en-US" altLang="zh-CN" b="0" dirty="0" smtClean="0"/>
              <a:t>: </a:t>
            </a:r>
            <a:r>
              <a:rPr lang="zh-CN" altLang="en-US" b="0" dirty="0" smtClean="0"/>
              <a:t>图片高度被压缩例子</a:t>
            </a:r>
            <a:endParaRPr lang="en-US" altLang="zh-CN" b="0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9B30B5-4376-40FF-9B87-37EE5AB95E46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962785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b="1" dirty="0" err="1" smtClean="0"/>
              <a:t>Ios</a:t>
            </a:r>
            <a:r>
              <a:rPr lang="en-US" altLang="zh-CN" b="1" dirty="0" smtClean="0"/>
              <a:t> safari</a:t>
            </a:r>
            <a:r>
              <a:rPr lang="en-US" altLang="zh-CN" b="1" baseline="0" dirty="0" smtClean="0"/>
              <a:t> subsample</a:t>
            </a:r>
            <a:r>
              <a:rPr lang="zh-CN" altLang="en-US" b="1" baseline="0" dirty="0" smtClean="0"/>
              <a:t>官方描述</a:t>
            </a:r>
            <a:endParaRPr lang="en-US" altLang="zh-CN" b="1" dirty="0" smtClean="0"/>
          </a:p>
          <a:p>
            <a:r>
              <a:rPr lang="en-US" altLang="zh-CN" b="1" dirty="0" smtClean="0">
                <a:hlinkClick r:id="rId3"/>
              </a:rPr>
              <a:t>http://developer.apple.com/library/safari/#documentation/AppleApplications/Reference/SafariWebContent/CreatingContentforSafarioniPhone/CreatingContentforSafarioniPhone.html#//apple_ref/doc/uid/TP40006482-SW15</a:t>
            </a:r>
            <a:endParaRPr lang="en-US" altLang="zh-CN" b="1" dirty="0" smtClean="0"/>
          </a:p>
          <a:p>
            <a:endParaRPr lang="en-US" altLang="zh-CN" b="1" dirty="0" smtClean="0"/>
          </a:p>
          <a:p>
            <a:r>
              <a:rPr lang="en-US" altLang="zh-CN" b="0" dirty="0" err="1" smtClean="0"/>
              <a:t>Todo</a:t>
            </a:r>
            <a:r>
              <a:rPr lang="en-US" altLang="zh-CN" b="0" dirty="0" smtClean="0"/>
              <a:t>: </a:t>
            </a:r>
            <a:r>
              <a:rPr lang="zh-CN" altLang="en-US" b="0" dirty="0" smtClean="0"/>
              <a:t>图片高度被压缩例子</a:t>
            </a:r>
            <a:endParaRPr lang="en-US" altLang="zh-CN" b="0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9B30B5-4376-40FF-9B87-37EE5AB95E46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962785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>
                <a:hlinkClick r:id="rId3"/>
              </a:rPr>
              <a:t>https://github.com/stomita/ios-imagefile-megapixel</a:t>
            </a:r>
            <a:endParaRPr lang="en-US" altLang="zh-CN" b="0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9B30B5-4376-40FF-9B87-37EE5AB95E46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962785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b="0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9B30B5-4376-40FF-9B87-37EE5AB95E46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962785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b="1" dirty="0" err="1" smtClean="0"/>
              <a:t>Ios</a:t>
            </a:r>
            <a:r>
              <a:rPr lang="en-US" altLang="zh-CN" b="1" dirty="0" smtClean="0"/>
              <a:t> safari</a:t>
            </a:r>
            <a:r>
              <a:rPr lang="en-US" altLang="zh-CN" b="1" baseline="0" dirty="0" smtClean="0"/>
              <a:t> subsample</a:t>
            </a:r>
            <a:r>
              <a:rPr lang="zh-CN" altLang="en-US" b="1" baseline="0" dirty="0" smtClean="0"/>
              <a:t>官方描述</a:t>
            </a:r>
            <a:endParaRPr lang="en-US" altLang="zh-CN" b="1" dirty="0" smtClean="0"/>
          </a:p>
          <a:p>
            <a:r>
              <a:rPr lang="en-US" altLang="zh-CN" b="1" dirty="0" smtClean="0">
                <a:hlinkClick r:id="rId3"/>
              </a:rPr>
              <a:t>http://developer.apple.com/library/safari/#documentation/AppleApplications/Reference/SafariWebContent/CreatingContentforSafarioniPhone/CreatingContentforSafarioniPhone.html#//apple_ref/doc/uid/TP40006482-SW15</a:t>
            </a:r>
            <a:endParaRPr lang="en-US" altLang="zh-CN" b="1" dirty="0" smtClean="0"/>
          </a:p>
          <a:p>
            <a:endParaRPr lang="en-US" altLang="zh-CN" b="1" dirty="0" smtClean="0"/>
          </a:p>
          <a:p>
            <a:r>
              <a:rPr lang="en-US" altLang="zh-CN" b="0" dirty="0" err="1" smtClean="0"/>
              <a:t>Todo</a:t>
            </a:r>
            <a:r>
              <a:rPr lang="en-US" altLang="zh-CN" b="0" dirty="0" smtClean="0"/>
              <a:t>: </a:t>
            </a:r>
            <a:r>
              <a:rPr lang="zh-CN" altLang="en-US" b="0" dirty="0" smtClean="0"/>
              <a:t>图片高度被压缩例子</a:t>
            </a:r>
            <a:endParaRPr lang="en-US" altLang="zh-CN" b="0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9B30B5-4376-40FF-9B87-37EE5AB95E46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962785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b="0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9B30B5-4376-40FF-9B87-37EE5AB95E46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962785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 eaLnBrk="1" fontAlgn="t" latinLnBrk="0" hangingPunct="1"/>
            <a:r>
              <a:rPr lang="zh-CN" altLang="en-US" sz="1200" b="1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一般是原图的</a:t>
            </a:r>
            <a:r>
              <a:rPr lang="en-US" altLang="zh-CN" sz="1200" b="1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1/15</a:t>
            </a:r>
            <a:endParaRPr lang="zh-CN" altLang="zh-CN" sz="1200" b="0" i="0" u="none" strike="noStrike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eaLnBrk="1" fontAlgn="t" latinLnBrk="0" hangingPunct="1"/>
            <a:endParaRPr lang="en-US" altLang="zh-CN" sz="1200" b="1" i="0" u="none" strike="noStrike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eaLnBrk="1" fontAlgn="t" latinLnBrk="0" hangingPunct="1"/>
            <a:r>
              <a:rPr lang="en-US" altLang="zh-CN" sz="1200" b="1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source</a:t>
            </a:r>
            <a:endParaRPr lang="zh-CN" altLang="zh-CN" sz="1200" b="0" i="0" u="none" strike="noStrike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eaLnBrk="1" fontAlgn="t" latinLnBrk="0" hangingPunct="1"/>
            <a:r>
              <a:rPr lang="en-US" altLang="zh-CN" sz="1200" b="1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compressed</a:t>
            </a:r>
            <a:endParaRPr lang="zh-CN" altLang="zh-CN" sz="1200" b="0" i="0" u="none" strike="noStrike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eaLnBrk="1" fontAlgn="t" latinLnBrk="0" hangingPunct="1"/>
            <a:r>
              <a:rPr lang="en-US" altLang="zh-CN" sz="1200" b="1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Total time(</a:t>
            </a:r>
            <a:r>
              <a:rPr lang="en-US" altLang="zh-CN" sz="1200" b="1" i="0" u="none" strike="noStrike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ms</a:t>
            </a:r>
            <a:r>
              <a:rPr lang="en-US" altLang="zh-CN" sz="1200" b="1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endParaRPr lang="zh-CN" altLang="zh-CN" sz="1200" b="0" i="0" u="none" strike="noStrike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eaLnBrk="1" fontAlgn="t" latinLnBrk="0" hangingPunct="1"/>
            <a:r>
              <a:rPr lang="en-US" altLang="zh-CN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</a:t>
            </a:r>
            <a:endParaRPr lang="zh-CN" altLang="zh-CN" sz="1200" b="0" i="0" u="none" strike="noStrike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eaLnBrk="1" fontAlgn="t" latinLnBrk="0" hangingPunct="1"/>
            <a:r>
              <a:rPr lang="en-US" altLang="zh-CN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850k</a:t>
            </a:r>
            <a:endParaRPr lang="zh-CN" altLang="zh-CN" sz="1200" b="0" i="0" u="none" strike="noStrike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eaLnBrk="1" fontAlgn="t" latinLnBrk="0" hangingPunct="1"/>
            <a:r>
              <a:rPr lang="en-US" altLang="zh-CN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66k</a:t>
            </a:r>
            <a:endParaRPr lang="zh-CN" altLang="zh-CN" sz="1200" b="0" i="0" u="none" strike="noStrike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eaLnBrk="1" fontAlgn="t" latinLnBrk="0" hangingPunct="1"/>
            <a:r>
              <a:rPr lang="en-US" altLang="zh-CN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2656</a:t>
            </a:r>
            <a:endParaRPr lang="zh-CN" altLang="zh-CN" sz="1200" b="0" i="0" u="none" strike="noStrike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eaLnBrk="1" fontAlgn="t" latinLnBrk="0" hangingPunct="1"/>
            <a:r>
              <a:rPr lang="en-US" altLang="zh-CN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</a:t>
            </a:r>
            <a:endParaRPr lang="zh-CN" altLang="zh-CN" sz="1200" b="0" i="0" u="none" strike="noStrike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eaLnBrk="1" fontAlgn="t" latinLnBrk="0" hangingPunct="1"/>
            <a:r>
              <a:rPr lang="en-US" altLang="zh-CN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1.4M</a:t>
            </a:r>
            <a:endParaRPr lang="zh-CN" altLang="zh-CN" sz="1200" b="0" i="0" u="none" strike="noStrike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eaLnBrk="1" fontAlgn="t" latinLnBrk="0" hangingPunct="1"/>
            <a:r>
              <a:rPr lang="en-US" altLang="zh-CN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81k</a:t>
            </a:r>
            <a:endParaRPr lang="zh-CN" altLang="zh-CN" sz="1200" b="0" i="0" u="none" strike="noStrike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eaLnBrk="1" fontAlgn="t" latinLnBrk="0" hangingPunct="1"/>
            <a:r>
              <a:rPr lang="en-US" altLang="zh-CN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2773</a:t>
            </a:r>
            <a:endParaRPr lang="zh-CN" altLang="zh-CN" sz="1200" b="0" i="0" u="none" strike="noStrike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eaLnBrk="1" fontAlgn="t" latinLnBrk="0" hangingPunct="1"/>
            <a:r>
              <a:rPr lang="en-US" altLang="zh-CN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</a:t>
            </a:r>
            <a:endParaRPr lang="zh-CN" altLang="zh-CN" sz="1200" b="0" i="0" u="none" strike="noStrike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eaLnBrk="1" fontAlgn="t" latinLnBrk="0" hangingPunct="1"/>
            <a:r>
              <a:rPr lang="en-US" altLang="zh-CN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1.25M</a:t>
            </a:r>
            <a:endParaRPr lang="zh-CN" altLang="zh-CN" sz="1200" b="0" i="0" u="none" strike="noStrike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eaLnBrk="1" fontAlgn="t" latinLnBrk="0" hangingPunct="1"/>
            <a:r>
              <a:rPr lang="en-US" altLang="zh-CN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68k</a:t>
            </a:r>
            <a:endParaRPr lang="zh-CN" altLang="zh-CN" sz="1200" b="0" i="0" u="none" strike="noStrike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eaLnBrk="1" fontAlgn="t" latinLnBrk="0" hangingPunct="1"/>
            <a:r>
              <a:rPr lang="en-US" altLang="zh-CN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2705</a:t>
            </a:r>
            <a:endParaRPr lang="zh-CN" altLang="zh-CN" sz="1200" b="0" i="0" u="none" strike="noStrike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eaLnBrk="1" fontAlgn="t" latinLnBrk="0" hangingPunct="1"/>
            <a:r>
              <a:rPr lang="en-US" altLang="zh-CN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</a:t>
            </a:r>
            <a:endParaRPr lang="zh-CN" altLang="zh-CN" sz="1200" b="0" i="0" u="none" strike="noStrike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eaLnBrk="1" fontAlgn="t" latinLnBrk="0" hangingPunct="1"/>
            <a:r>
              <a:rPr lang="en-US" altLang="zh-CN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2M</a:t>
            </a:r>
            <a:endParaRPr lang="zh-CN" altLang="zh-CN" sz="1200" b="0" i="0" u="none" strike="noStrike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eaLnBrk="1" fontAlgn="t" latinLnBrk="0" hangingPunct="1"/>
            <a:r>
              <a:rPr lang="en-US" altLang="zh-CN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158k</a:t>
            </a:r>
            <a:endParaRPr lang="zh-CN" altLang="zh-CN" sz="1200" b="0" i="0" u="none" strike="noStrike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eaLnBrk="1" fontAlgn="t" latinLnBrk="0" hangingPunct="1"/>
            <a:r>
              <a:rPr lang="en-US" altLang="zh-CN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2834</a:t>
            </a:r>
            <a:endParaRPr lang="zh-CN" altLang="zh-CN" sz="1200" b="0" i="0" u="none" strike="noStrike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altLang="zh-CN" b="0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9B30B5-4376-40FF-9B87-37EE5AB95E46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962785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0" dirty="0" smtClean="0"/>
              <a:t>高峰期，每天通过</a:t>
            </a:r>
            <a:r>
              <a:rPr lang="en-US" altLang="zh-CN" b="0" dirty="0" smtClean="0"/>
              <a:t>touch</a:t>
            </a:r>
            <a:r>
              <a:rPr lang="zh-CN" altLang="en-US" b="0" dirty="0" smtClean="0"/>
              <a:t>上传的照片达到百万张。</a:t>
            </a:r>
            <a:endParaRPr lang="en-US" altLang="zh-CN" b="0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9B30B5-4376-40FF-9B87-37EE5AB95E46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962785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此类建议直线下降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9B30B5-4376-40FF-9B87-37EE5AB95E46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414895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b="1" dirty="0" smtClean="0"/>
              <a:t>Android </a:t>
            </a:r>
            <a:r>
              <a:rPr lang="en-US" altLang="zh-CN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Activity</a:t>
            </a:r>
            <a:endParaRPr lang="en-US" altLang="zh-CN" b="1" dirty="0" smtClean="0"/>
          </a:p>
          <a:p>
            <a:r>
              <a:rPr lang="en-US" altLang="zh-CN" dirty="0" smtClean="0"/>
              <a:t>http://developer.android.com/reference/android/app/Activity.html</a:t>
            </a:r>
          </a:p>
          <a:p>
            <a:r>
              <a:rPr lang="zh-CN" altLang="en-US" dirty="0" smtClean="0"/>
              <a:t>页面模块生命流程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9B30B5-4376-40FF-9B87-37EE5AB95E46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886249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相对于后台（</a:t>
            </a:r>
            <a:r>
              <a:rPr lang="en-US" altLang="zh-CN" dirty="0" smtClean="0"/>
              <a:t>java</a:t>
            </a:r>
            <a:r>
              <a:rPr lang="zh-CN" altLang="en-US" dirty="0" smtClean="0"/>
              <a:t>、</a:t>
            </a:r>
            <a:r>
              <a:rPr lang="en-US" altLang="zh-CN" dirty="0" err="1" smtClean="0"/>
              <a:t>php</a:t>
            </a:r>
            <a:r>
              <a:rPr lang="zh-CN" altLang="en-US" dirty="0" smtClean="0"/>
              <a:t>、</a:t>
            </a:r>
            <a:r>
              <a:rPr lang="en-US" altLang="zh-CN" dirty="0" err="1" smtClean="0"/>
              <a:t>.net</a:t>
            </a:r>
            <a:r>
              <a:rPr lang="zh-CN" altLang="en-US" dirty="0" smtClean="0"/>
              <a:t>）模板更少的联调成本，也降低了维护成本</a:t>
            </a:r>
            <a:endParaRPr lang="en-US" altLang="zh-CN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9B30B5-4376-40FF-9B87-37EE5AB95E46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327787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err="1" smtClean="0"/>
              <a:t>Wifi</a:t>
            </a:r>
            <a:r>
              <a:rPr lang="zh-CN" altLang="en-US" baseline="0" dirty="0" smtClean="0"/>
              <a:t> </a:t>
            </a:r>
            <a:r>
              <a:rPr lang="en-US" altLang="zh-CN" dirty="0" smtClean="0"/>
              <a:t>36%</a:t>
            </a:r>
          </a:p>
          <a:p>
            <a:r>
              <a:rPr lang="en-US" altLang="zh-CN" dirty="0" smtClean="0"/>
              <a:t>3G</a:t>
            </a:r>
            <a:r>
              <a:rPr lang="en-US" altLang="zh-CN" baseline="0" dirty="0" smtClean="0"/>
              <a:t> 4%</a:t>
            </a:r>
          </a:p>
          <a:p>
            <a:r>
              <a:rPr lang="en-US" altLang="zh-CN" dirty="0" smtClean="0"/>
              <a:t>2G 60%</a:t>
            </a:r>
          </a:p>
          <a:p>
            <a:r>
              <a:rPr lang="zh-CN" altLang="en-US" dirty="0" smtClean="0"/>
              <a:t>补充</a:t>
            </a:r>
            <a:r>
              <a:rPr lang="en-US" altLang="zh-CN" dirty="0" smtClean="0"/>
              <a:t>performance</a:t>
            </a:r>
            <a:r>
              <a:rPr lang="zh-CN" altLang="en-US" dirty="0" smtClean="0"/>
              <a:t>数据。</a:t>
            </a:r>
            <a:endParaRPr lang="en-US" altLang="zh-CN" dirty="0" smtClean="0"/>
          </a:p>
          <a:p>
            <a:r>
              <a:rPr lang="zh-CN" altLang="en-US" dirty="0" smtClean="0"/>
              <a:t>用户网络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android</a:t>
            </a:r>
          </a:p>
          <a:p>
            <a:pPr lvl="2"/>
            <a:r>
              <a:rPr lang="en-US" altLang="zh-CN" dirty="0" err="1" smtClean="0"/>
              <a:t>navigator.connection.type</a:t>
            </a:r>
            <a:endParaRPr lang="en-US" altLang="zh-CN" dirty="0" smtClean="0"/>
          </a:p>
          <a:p>
            <a:pPr lvl="2"/>
            <a:r>
              <a:rPr lang="en-US" altLang="zh-CN" dirty="0" smtClean="0"/>
              <a:t>QQ</a:t>
            </a:r>
            <a:r>
              <a:rPr lang="zh-CN" altLang="en-US" dirty="0" smtClean="0"/>
              <a:t>浏览器</a:t>
            </a:r>
            <a:r>
              <a:rPr lang="en-US" altLang="zh-CN" dirty="0" smtClean="0"/>
              <a:t>4.2+</a:t>
            </a:r>
            <a:r>
              <a:rPr lang="zh-CN" altLang="en-US" dirty="0" smtClean="0"/>
              <a:t>支持</a:t>
            </a:r>
            <a:endParaRPr lang="en-US" altLang="zh-CN" dirty="0" smtClean="0"/>
          </a:p>
          <a:p>
            <a:endParaRPr lang="en-US" altLang="zh-CN" dirty="0" smtClean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9B30B5-4376-40FF-9B87-37EE5AB95E46}" type="slidenum">
              <a:rPr lang="zh-CN" altLang="en-US" smtClean="0"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5429712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b="0" dirty="0" err="1" smtClean="0"/>
              <a:t>php</a:t>
            </a:r>
            <a:r>
              <a:rPr lang="zh-CN" altLang="en-US" b="0" dirty="0" smtClean="0"/>
              <a:t>模板、</a:t>
            </a:r>
            <a:r>
              <a:rPr lang="en-US" altLang="zh-CN" b="0" dirty="0" smtClean="0"/>
              <a:t>java</a:t>
            </a:r>
            <a:r>
              <a:rPr lang="zh-CN" altLang="en-US" b="0" dirty="0" smtClean="0"/>
              <a:t>模板、</a:t>
            </a:r>
            <a:r>
              <a:rPr lang="en-US" altLang="zh-CN" b="0" dirty="0" err="1" smtClean="0"/>
              <a:t>.net</a:t>
            </a:r>
            <a:r>
              <a:rPr lang="zh-CN" altLang="en-US" b="0" dirty="0" smtClean="0"/>
              <a:t>模板</a:t>
            </a:r>
            <a:endParaRPr lang="en-US" altLang="zh-CN" b="0" dirty="0" smtClean="0"/>
          </a:p>
          <a:p>
            <a:endParaRPr lang="en-US" altLang="zh-CN" b="0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9B30B5-4376-40FF-9B87-37EE5AB95E46}" type="slidenum">
              <a:rPr lang="zh-CN" altLang="en-US" smtClean="0"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962785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b="0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9B30B5-4376-40FF-9B87-37EE5AB95E46}" type="slidenum">
              <a:rPr lang="zh-CN" altLang="en-US" smtClean="0"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962785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b="0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9B30B5-4376-40FF-9B87-37EE5AB95E46}" type="slidenum">
              <a:rPr lang="zh-CN" altLang="en-US" smtClean="0"/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962785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b="0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9B30B5-4376-40FF-9B87-37EE5AB95E46}" type="slidenum">
              <a:rPr lang="zh-CN" altLang="en-US" smtClean="0"/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962785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0" dirty="0" smtClean="0"/>
              <a:t>减少请求次数，继续分享减少数据传输量</a:t>
            </a:r>
            <a:endParaRPr lang="en-US" altLang="zh-CN" b="0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9B30B5-4376-40FF-9B87-37EE5AB95E46}" type="slidenum">
              <a:rPr lang="zh-CN" altLang="en-US" smtClean="0"/>
              <a:t>35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962785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12643" name="备注占位符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zh-CN" smtClean="0"/>
              <a:t>HTML5</a:t>
            </a:r>
            <a:r>
              <a:rPr lang="zh-CN" altLang="en-US" smtClean="0"/>
              <a:t>就是复活者联盟！</a:t>
            </a:r>
            <a:endParaRPr lang="en-US" altLang="zh-CN" smtClean="0"/>
          </a:p>
          <a:p>
            <a:r>
              <a:rPr lang="zh-CN" altLang="en-US" smtClean="0"/>
              <a:t>各种</a:t>
            </a:r>
            <a:r>
              <a:rPr lang="en-US" altLang="zh-CN" smtClean="0"/>
              <a:t>NB</a:t>
            </a:r>
            <a:r>
              <a:rPr lang="zh-CN" altLang="en-US" smtClean="0"/>
              <a:t>的技术的合体，</a:t>
            </a:r>
            <a:r>
              <a:rPr lang="en-US" altLang="zh-CN" smtClean="0"/>
              <a:t>html5+CSS3+JavaSctipt new API</a:t>
            </a:r>
            <a:r>
              <a:rPr lang="zh-CN" altLang="en-US" smtClean="0"/>
              <a:t>。</a:t>
            </a:r>
            <a:endParaRPr lang="en-US" altLang="zh-CN" smtClean="0"/>
          </a:p>
          <a:p>
            <a:endParaRPr lang="en-US" altLang="zh-CN" smtClean="0"/>
          </a:p>
          <a:p>
            <a:r>
              <a:rPr lang="zh-CN" altLang="en-US" smtClean="0"/>
              <a:t>所以一天你发现个</a:t>
            </a:r>
            <a:r>
              <a:rPr lang="en-US" altLang="zh-CN" smtClean="0"/>
              <a:t>web</a:t>
            </a:r>
            <a:r>
              <a:rPr lang="zh-CN" altLang="en-US" smtClean="0"/>
              <a:t>端新技术，你可以说：哦，我知道，这是</a:t>
            </a:r>
            <a:r>
              <a:rPr lang="en-US" altLang="zh-CN" smtClean="0"/>
              <a:t>HTML5</a:t>
            </a:r>
            <a:r>
              <a:rPr lang="zh-CN" altLang="en-US" smtClean="0"/>
              <a:t>新技术</a:t>
            </a:r>
            <a:r>
              <a:rPr lang="en-US" altLang="zh-CN" smtClean="0"/>
              <a:t>…</a:t>
            </a:r>
            <a:endParaRPr lang="zh-CN" altLang="en-US" smtClean="0"/>
          </a:p>
        </p:txBody>
      </p:sp>
      <p:sp>
        <p:nvSpPr>
          <p:cNvPr id="112644" name="灯片编号占位符 3"/>
          <p:cNvSpPr txBox="1">
            <a:spLocks noGrp="1" noChangeArrowheads="1"/>
          </p:cNvSpPr>
          <p:nvPr/>
        </p:nvSpPr>
        <p:spPr bwMode="auto">
          <a:xfrm>
            <a:off x="3883025" y="8685213"/>
            <a:ext cx="29733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9pPr>
          </a:lstStyle>
          <a:p>
            <a:fld id="{F708102E-F343-4F6C-9513-E7CC58CFC8CE}" type="slidenum">
              <a:rPr lang="zh-CN" altLang="en-US"/>
              <a:pPr/>
              <a:t>36</a:t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神经猫 白鹭引擎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9B30B5-4376-40FF-9B87-37EE5AB95E46}" type="slidenum">
              <a:rPr lang="zh-CN" altLang="en-US" smtClean="0"/>
              <a:t>38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788834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482AC04-3CC7-482C-8BB8-43855C44FDC2}" type="slidenum">
              <a:rPr lang="zh-CN" altLang="en-US" smtClean="0"/>
              <a:pPr>
                <a:defRPr/>
              </a:pPr>
              <a:t>39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999185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取决于你怎么定义</a:t>
            </a:r>
            <a:r>
              <a:rPr lang="en-US" altLang="zh-CN" dirty="0" smtClean="0"/>
              <a:t>html5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9B30B5-4376-40FF-9B87-37EE5AB95E46}" type="slidenum">
              <a:rPr lang="zh-CN" altLang="en-US" smtClean="0"/>
              <a:t>45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637447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14691" name="备注占位符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 smtClean="0"/>
              <a:t>每年金秋螃蟹肥时，大家都想吃螃蟹，但第一个吃螃蟹的绝对是勇士。</a:t>
            </a:r>
            <a:endParaRPr lang="en-US" altLang="zh-CN" smtClean="0"/>
          </a:p>
          <a:p>
            <a:endParaRPr lang="en-US" altLang="zh-CN" smtClean="0"/>
          </a:p>
          <a:p>
            <a:r>
              <a:rPr lang="zh-CN" altLang="en-US" smtClean="0"/>
              <a:t>看旁边两个小朋友的表情，当我们用</a:t>
            </a:r>
            <a:r>
              <a:rPr lang="en-US" altLang="zh-CN" smtClean="0"/>
              <a:t>html5</a:t>
            </a:r>
            <a:r>
              <a:rPr lang="zh-CN" altLang="en-US" smtClean="0"/>
              <a:t>时，也会有这样的旁观者</a:t>
            </a:r>
            <a:r>
              <a:rPr lang="en-US" altLang="zh-CN" smtClean="0"/>
              <a:t>—</a:t>
            </a:r>
            <a:r>
              <a:rPr lang="zh-CN" altLang="en-US" smtClean="0"/>
              <a:t>支持的浏览器太少了，有种种缺陷，</a:t>
            </a:r>
            <a:r>
              <a:rPr lang="en-US" altLang="zh-CN" smtClean="0"/>
              <a:t>nav+res timing</a:t>
            </a:r>
            <a:r>
              <a:rPr lang="zh-CN" altLang="en-US" smtClean="0"/>
              <a:t>监控</a:t>
            </a:r>
            <a:endParaRPr lang="en-US" altLang="zh-CN" smtClean="0"/>
          </a:p>
          <a:p>
            <a:endParaRPr lang="en-US" altLang="zh-CN" smtClean="0"/>
          </a:p>
          <a:p>
            <a:endParaRPr lang="en-US" altLang="zh-CN" smtClean="0"/>
          </a:p>
        </p:txBody>
      </p:sp>
      <p:sp>
        <p:nvSpPr>
          <p:cNvPr id="114692" name="灯片编号占位符 3"/>
          <p:cNvSpPr txBox="1">
            <a:spLocks noGrp="1" noChangeArrowheads="1"/>
          </p:cNvSpPr>
          <p:nvPr/>
        </p:nvSpPr>
        <p:spPr bwMode="auto">
          <a:xfrm>
            <a:off x="3883025" y="8685213"/>
            <a:ext cx="29733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9pPr>
          </a:lstStyle>
          <a:p>
            <a:fld id="{333A0E38-2356-4BA9-9109-93BCBB5FB05E}" type="slidenum">
              <a:rPr lang="zh-CN" altLang="en-US"/>
              <a:pPr/>
              <a:t>47</a:t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15715" name="备注占位符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 smtClean="0"/>
              <a:t>新技术总是</a:t>
            </a:r>
            <a:r>
              <a:rPr lang="en-US" altLang="zh-CN" smtClean="0"/>
              <a:t>n</a:t>
            </a:r>
            <a:r>
              <a:rPr lang="zh-CN" altLang="en-US" smtClean="0"/>
              <a:t>多坑，需要我们有勇气去尝试，去踏平！（</a:t>
            </a:r>
            <a:r>
              <a:rPr lang="en-US" altLang="zh-CN" smtClean="0"/>
              <a:t>1.</a:t>
            </a:r>
            <a:r>
              <a:rPr lang="zh-CN" altLang="en-US" smtClean="0"/>
              <a:t>找出规避方法，</a:t>
            </a:r>
            <a:r>
              <a:rPr lang="en-US" altLang="zh-CN" smtClean="0"/>
              <a:t>2</a:t>
            </a:r>
            <a:r>
              <a:rPr lang="zh-CN" altLang="en-US" smtClean="0"/>
              <a:t>，推动技术优化）做业界良心！</a:t>
            </a:r>
          </a:p>
          <a:p>
            <a:endParaRPr lang="zh-CN" altLang="en-US" smtClean="0"/>
          </a:p>
        </p:txBody>
      </p:sp>
      <p:sp>
        <p:nvSpPr>
          <p:cNvPr id="115716" name="灯片编号占位符 3"/>
          <p:cNvSpPr txBox="1">
            <a:spLocks noGrp="1" noChangeArrowheads="1"/>
          </p:cNvSpPr>
          <p:nvPr/>
        </p:nvSpPr>
        <p:spPr bwMode="auto">
          <a:xfrm>
            <a:off x="3883025" y="8685213"/>
            <a:ext cx="29733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9pPr>
          </a:lstStyle>
          <a:p>
            <a:fld id="{1CBBF235-B513-480D-A01E-AE765D45DEE0}" type="slidenum">
              <a:rPr lang="zh-CN" altLang="en-US"/>
              <a:pPr/>
              <a:t>48</a:t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9B30B5-4376-40FF-9B87-37EE5AB95E46}" type="slidenum">
              <a:rPr lang="zh-CN" altLang="en-US" smtClean="0"/>
              <a:t>49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734255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20835" name="备注占位符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zh-CN" dirty="0" smtClean="0"/>
              <a:t>2004</a:t>
            </a:r>
            <a:r>
              <a:rPr lang="zh-CN" altLang="en-US" dirty="0" smtClean="0"/>
              <a:t>年</a:t>
            </a:r>
            <a:r>
              <a:rPr lang="en-US" altLang="zh-CN" dirty="0" smtClean="0"/>
              <a:t>WHAT</a:t>
            </a:r>
            <a:r>
              <a:rPr lang="zh-CN" altLang="en-US" dirty="0" smtClean="0"/>
              <a:t>提出，到现在已经有</a:t>
            </a:r>
            <a:r>
              <a:rPr lang="en-US" altLang="zh-CN" dirty="0" smtClean="0"/>
              <a:t>10</a:t>
            </a:r>
            <a:r>
              <a:rPr lang="zh-CN" altLang="en-US" dirty="0" smtClean="0"/>
              <a:t>年了，但现在还处在</a:t>
            </a:r>
            <a:r>
              <a:rPr lang="en-US" altLang="zh-CN" dirty="0" smtClean="0"/>
              <a:t>html5</a:t>
            </a:r>
            <a:r>
              <a:rPr lang="zh-CN" altLang="en-US" dirty="0" smtClean="0"/>
              <a:t>初级阶段。</a:t>
            </a:r>
            <a:endParaRPr lang="en-US" altLang="zh-CN" dirty="0" smtClean="0"/>
          </a:p>
          <a:p>
            <a:r>
              <a:rPr lang="zh-CN" altLang="en-US" dirty="0" smtClean="0"/>
              <a:t>所以我们身体抗不着的话，可能就会错过</a:t>
            </a:r>
            <a:r>
              <a:rPr lang="en-US" altLang="zh-CN" dirty="0" smtClean="0"/>
              <a:t>html5</a:t>
            </a:r>
            <a:r>
              <a:rPr lang="zh-CN" altLang="en-US" dirty="0" smtClean="0"/>
              <a:t>鼎盛时期；这个会是个长期抗战的过程。为了革命，健康生活。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zh-CN" altLang="en-US" dirty="0" smtClean="0"/>
              <a:t>王重阳闭关出来，发现对手基本死光光了，都被一个叫岁月的杀手打败的。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zh-CN" altLang="en-US" dirty="0" smtClean="0"/>
              <a:t>所以不健康生活的同学玩不起</a:t>
            </a:r>
            <a:r>
              <a:rPr lang="en-US" altLang="zh-CN" dirty="0" smtClean="0"/>
              <a:t>html5</a:t>
            </a:r>
            <a:endParaRPr lang="zh-CN" altLang="en-US" dirty="0" smtClean="0"/>
          </a:p>
        </p:txBody>
      </p:sp>
      <p:sp>
        <p:nvSpPr>
          <p:cNvPr id="120836" name="灯片编号占位符 3"/>
          <p:cNvSpPr txBox="1">
            <a:spLocks noGrp="1" noChangeArrowheads="1"/>
          </p:cNvSpPr>
          <p:nvPr/>
        </p:nvSpPr>
        <p:spPr bwMode="auto">
          <a:xfrm>
            <a:off x="3883025" y="8685213"/>
            <a:ext cx="29733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9pPr>
          </a:lstStyle>
          <a:p>
            <a:fld id="{1731D69B-34F9-4372-8AA4-15E8C827AE7D}" type="slidenum">
              <a:rPr lang="zh-CN" altLang="en-US"/>
              <a:pPr/>
              <a:t>50</a:t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mtClean="0"/>
              <a:t>人才永远是稀缺资源。选</a:t>
            </a:r>
            <a:r>
              <a:rPr lang="zh-CN" altLang="en-US" dirty="0" smtClean="0"/>
              <a:t>框架就如招聘，你愿意和谁一起工作？</a:t>
            </a:r>
            <a:endParaRPr lang="en-US" altLang="zh-CN" dirty="0" smtClean="0"/>
          </a:p>
          <a:p>
            <a:r>
              <a:rPr lang="zh-CN" altLang="en-US" dirty="0" smtClean="0"/>
              <a:t>版本升级的持续跟进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zh-CN" altLang="en-US" dirty="0" smtClean="0"/>
              <a:t>内容需要完善的我们就补充，如果已经完善我们就做目录。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9B30B5-4376-40FF-9B87-37EE5AB95E46}" type="slidenum">
              <a:rPr lang="zh-CN" altLang="en-US" smtClean="0"/>
              <a:t>52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5539985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Android 2.2+</a:t>
            </a:r>
            <a:r>
              <a:rPr lang="zh-CN" altLang="en-US" dirty="0" smtClean="0"/>
              <a:t>支持</a:t>
            </a:r>
            <a:r>
              <a:rPr lang="zh-CN" altLang="en-US" baseline="0" dirty="0" smtClean="0"/>
              <a:t> </a:t>
            </a:r>
            <a:r>
              <a:rPr lang="en-US" altLang="zh-CN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navigator.connection.type</a:t>
            </a:r>
            <a:endParaRPr lang="en-US" altLang="zh-CN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altLang="zh-CN" dirty="0" smtClean="0"/>
              <a:t>{  </a:t>
            </a:r>
          </a:p>
          <a:p>
            <a:r>
              <a:rPr lang="en-US" altLang="zh-CN" dirty="0" smtClean="0"/>
              <a:t>  type: 4,  // </a:t>
            </a:r>
            <a:r>
              <a:rPr lang="zh-CN" altLang="en-US" dirty="0" smtClean="0"/>
              <a:t>当前网络状态的值 若如以下参数值相等</a:t>
            </a:r>
            <a:r>
              <a:rPr lang="en-US" altLang="zh-CN" dirty="0" smtClean="0"/>
              <a:t>, </a:t>
            </a:r>
            <a:r>
              <a:rPr lang="zh-CN" altLang="en-US" dirty="0" smtClean="0"/>
              <a:t>则可判断属于哪种网络下</a:t>
            </a:r>
          </a:p>
          <a:p>
            <a:r>
              <a:rPr lang="zh-CN" altLang="en-US" dirty="0" smtClean="0"/>
              <a:t>  </a:t>
            </a:r>
            <a:r>
              <a:rPr lang="en-US" altLang="zh-CN" dirty="0" smtClean="0"/>
              <a:t>UNKNOWN: 0,  // </a:t>
            </a:r>
            <a:r>
              <a:rPr lang="zh-CN" altLang="en-US" dirty="0" smtClean="0"/>
              <a:t>未知网络</a:t>
            </a:r>
          </a:p>
          <a:p>
            <a:r>
              <a:rPr lang="zh-CN" altLang="en-US" dirty="0" smtClean="0"/>
              <a:t>  </a:t>
            </a:r>
            <a:r>
              <a:rPr lang="en-US" altLang="zh-CN" dirty="0" smtClean="0"/>
              <a:t>ETHERNET: 1,  // </a:t>
            </a:r>
            <a:r>
              <a:rPr lang="zh-CN" altLang="en-US" dirty="0" smtClean="0"/>
              <a:t>以太网</a:t>
            </a:r>
            <a:r>
              <a:rPr lang="en-US" altLang="zh-CN" dirty="0" smtClean="0"/>
              <a:t>? </a:t>
            </a:r>
          </a:p>
          <a:p>
            <a:r>
              <a:rPr lang="en-US" altLang="zh-CN" dirty="0" smtClean="0"/>
              <a:t>  WIFI: 2,  // </a:t>
            </a:r>
            <a:r>
              <a:rPr lang="en-US" altLang="zh-CN" dirty="0" err="1" smtClean="0"/>
              <a:t>wifi</a:t>
            </a:r>
            <a:endParaRPr lang="en-US" altLang="zh-CN" dirty="0" smtClean="0"/>
          </a:p>
          <a:p>
            <a:r>
              <a:rPr lang="en-US" altLang="zh-CN" dirty="0" smtClean="0"/>
              <a:t>  CELL_2G: 3,  //  </a:t>
            </a:r>
            <a:r>
              <a:rPr lang="zh-CN" altLang="en-US" dirty="0" smtClean="0"/>
              <a:t>普通</a:t>
            </a:r>
            <a:r>
              <a:rPr lang="en-US" altLang="zh-CN" dirty="0" smtClean="0"/>
              <a:t>2G</a:t>
            </a:r>
            <a:r>
              <a:rPr lang="zh-CN" altLang="en-US" dirty="0" smtClean="0"/>
              <a:t>网络</a:t>
            </a:r>
          </a:p>
          <a:p>
            <a:r>
              <a:rPr lang="zh-CN" altLang="en-US" dirty="0" smtClean="0"/>
              <a:t>  </a:t>
            </a:r>
            <a:r>
              <a:rPr lang="en-US" altLang="zh-CN" dirty="0" smtClean="0"/>
              <a:t>CELL_3G: 4  // </a:t>
            </a:r>
            <a:r>
              <a:rPr lang="zh-CN" altLang="en-US" dirty="0" smtClean="0"/>
              <a:t>高速</a:t>
            </a:r>
            <a:r>
              <a:rPr lang="en-US" altLang="zh-CN" dirty="0" smtClean="0"/>
              <a:t>3G</a:t>
            </a:r>
            <a:r>
              <a:rPr lang="zh-CN" altLang="en-US" dirty="0" smtClean="0"/>
              <a:t>网络</a:t>
            </a:r>
          </a:p>
          <a:p>
            <a:r>
              <a:rPr lang="en-US" altLang="zh-CN" dirty="0" smtClean="0"/>
              <a:t>} </a:t>
            </a:r>
          </a:p>
          <a:p>
            <a:endParaRPr lang="en-US" altLang="zh-CN" dirty="0" smtClean="0"/>
          </a:p>
          <a:p>
            <a:pPr marL="228600" indent="-228600">
              <a:buAutoNum type="arabicPeriod"/>
            </a:pPr>
            <a:r>
              <a:rPr lang="en-US" altLang="zh-CN" dirty="0" smtClean="0"/>
              <a:t>Android </a:t>
            </a:r>
            <a:r>
              <a:rPr lang="en-US" altLang="zh-CN" dirty="0" err="1" smtClean="0"/>
              <a:t>qq</a:t>
            </a:r>
            <a:r>
              <a:rPr lang="en-US" altLang="zh-CN" dirty="0" smtClean="0"/>
              <a:t> browser</a:t>
            </a:r>
            <a:r>
              <a:rPr lang="zh-CN" altLang="en-US" dirty="0" smtClean="0"/>
              <a:t>早期版本不支持该属性</a:t>
            </a:r>
            <a:endParaRPr lang="en-US" altLang="zh-CN" dirty="0" smtClean="0"/>
          </a:p>
          <a:p>
            <a:pPr marL="228600" indent="-228600">
              <a:buAutoNum type="arabicPeriod"/>
            </a:pPr>
            <a:r>
              <a:rPr lang="en-US" altLang="zh-CN" dirty="0" err="1" smtClean="0"/>
              <a:t>Webview</a:t>
            </a:r>
            <a:r>
              <a:rPr lang="zh-CN" altLang="en-US" dirty="0" smtClean="0"/>
              <a:t>里该属性也为</a:t>
            </a:r>
            <a:r>
              <a:rPr lang="en-US" altLang="zh-CN" dirty="0" smtClean="0"/>
              <a:t>0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9B30B5-4376-40FF-9B87-37EE5AB95E46}" type="slidenum">
              <a:rPr lang="zh-CN" altLang="en-US" smtClean="0"/>
              <a:t>57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53529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4" Type="http://schemas.microsoft.com/office/2007/relationships/hdphoto" Target="../media/hdphoto1.wdp"/><Relationship Id="rId5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2" Type="http://schemas.openxmlformats.org/officeDocument/2006/relationships/hyperlink" Target="http://blog.sina.com.cn/9ippt" TargetMode="Externa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6"/>
          <p:cNvSpPr>
            <a:spLocks noChangeArrowheads="1"/>
          </p:cNvSpPr>
          <p:nvPr userDrawn="1"/>
        </p:nvSpPr>
        <p:spPr bwMode="auto">
          <a:xfrm>
            <a:off x="-7938" y="3933825"/>
            <a:ext cx="9151938" cy="2924175"/>
          </a:xfrm>
          <a:prstGeom prst="rect">
            <a:avLst/>
          </a:prstGeom>
          <a:solidFill>
            <a:srgbClr val="56575B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cap="flat" cmpd="sng">
                <a:solidFill>
                  <a:srgbClr val="395E8A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endParaRPr lang="zh-CN" altLang="zh-CN">
              <a:solidFill>
                <a:srgbClr val="FFFFFF"/>
              </a:solidFill>
              <a:latin typeface="宋体" pitchFamily="2" charset="-122"/>
              <a:ea typeface="宋体" pitchFamily="2" charset="-122"/>
              <a:sym typeface="宋体" pitchFamily="2" charset="-122"/>
            </a:endParaRPr>
          </a:p>
        </p:txBody>
      </p:sp>
      <p:sp>
        <p:nvSpPr>
          <p:cNvPr id="6" name="矩形 9"/>
          <p:cNvSpPr>
            <a:spLocks noChangeArrowheads="1"/>
          </p:cNvSpPr>
          <p:nvPr userDrawn="1"/>
        </p:nvSpPr>
        <p:spPr bwMode="auto">
          <a:xfrm>
            <a:off x="0" y="3968750"/>
            <a:ext cx="3240088" cy="252413"/>
          </a:xfrm>
          <a:prstGeom prst="rect">
            <a:avLst/>
          </a:prstGeom>
          <a:solidFill>
            <a:srgbClr val="009EDB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cap="flat" cmpd="sng">
                <a:solidFill>
                  <a:srgbClr val="395E8A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endParaRPr lang="zh-CN" altLang="zh-CN">
              <a:solidFill>
                <a:srgbClr val="FFFFFF"/>
              </a:solidFill>
              <a:latin typeface="宋体" pitchFamily="2" charset="-122"/>
              <a:ea typeface="宋体" pitchFamily="2" charset="-122"/>
              <a:sym typeface="宋体" pitchFamily="2" charset="-122"/>
            </a:endParaRPr>
          </a:p>
        </p:txBody>
      </p:sp>
      <p:sp>
        <p:nvSpPr>
          <p:cNvPr id="7" name="矩形 10"/>
          <p:cNvSpPr>
            <a:spLocks noChangeArrowheads="1"/>
          </p:cNvSpPr>
          <p:nvPr userDrawn="1"/>
        </p:nvSpPr>
        <p:spPr bwMode="auto">
          <a:xfrm>
            <a:off x="2957513" y="3968750"/>
            <a:ext cx="3240087" cy="252413"/>
          </a:xfrm>
          <a:prstGeom prst="rect">
            <a:avLst/>
          </a:prstGeom>
          <a:solidFill>
            <a:srgbClr val="FFCC03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cap="flat" cmpd="sng">
                <a:solidFill>
                  <a:srgbClr val="395E8A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endParaRPr lang="zh-CN" altLang="zh-CN">
              <a:solidFill>
                <a:srgbClr val="FFFFFF"/>
              </a:solidFill>
              <a:latin typeface="宋体" pitchFamily="2" charset="-122"/>
              <a:ea typeface="宋体" pitchFamily="2" charset="-122"/>
              <a:sym typeface="宋体" pitchFamily="2" charset="-122"/>
            </a:endParaRPr>
          </a:p>
        </p:txBody>
      </p:sp>
      <p:sp>
        <p:nvSpPr>
          <p:cNvPr id="8" name="矩形 11"/>
          <p:cNvSpPr>
            <a:spLocks noChangeArrowheads="1"/>
          </p:cNvSpPr>
          <p:nvPr userDrawn="1"/>
        </p:nvSpPr>
        <p:spPr bwMode="auto">
          <a:xfrm>
            <a:off x="5915025" y="3968750"/>
            <a:ext cx="3240088" cy="252413"/>
          </a:xfrm>
          <a:prstGeom prst="rect">
            <a:avLst/>
          </a:prstGeom>
          <a:solidFill>
            <a:srgbClr val="009EDB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cap="flat" cmpd="sng">
                <a:solidFill>
                  <a:srgbClr val="395E8A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endParaRPr lang="zh-CN" altLang="zh-CN">
              <a:solidFill>
                <a:srgbClr val="FFFFFF"/>
              </a:solidFill>
              <a:latin typeface="宋体" pitchFamily="2" charset="-122"/>
              <a:ea typeface="宋体" pitchFamily="2" charset="-122"/>
              <a:sym typeface="宋体" pitchFamily="2" charset="-122"/>
            </a:endParaRPr>
          </a:p>
        </p:txBody>
      </p:sp>
      <p:pic>
        <p:nvPicPr>
          <p:cNvPr id="11" name="10 Imagen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88" y="400050"/>
            <a:ext cx="3986212" cy="3529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图片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2440" y="116632"/>
            <a:ext cx="437778" cy="437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05308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7"/>
          <p:cNvSpPr>
            <a:spLocks noChangeArrowheads="1"/>
          </p:cNvSpPr>
          <p:nvPr userDrawn="1"/>
        </p:nvSpPr>
        <p:spPr bwMode="auto">
          <a:xfrm>
            <a:off x="0" y="6237288"/>
            <a:ext cx="9144000" cy="620712"/>
          </a:xfrm>
          <a:prstGeom prst="rect">
            <a:avLst/>
          </a:prstGeom>
          <a:solidFill>
            <a:srgbClr val="56575B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cap="flat" cmpd="sng">
                <a:solidFill>
                  <a:srgbClr val="395E8A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endParaRPr lang="zh-CN" altLang="zh-CN">
              <a:solidFill>
                <a:srgbClr val="FFFFFF"/>
              </a:solidFill>
              <a:latin typeface="宋体" pitchFamily="2" charset="-122"/>
              <a:ea typeface="宋体" pitchFamily="2" charset="-122"/>
              <a:sym typeface="宋体" pitchFamily="2" charset="-122"/>
            </a:endParaRPr>
          </a:p>
        </p:txBody>
      </p:sp>
      <p:sp>
        <p:nvSpPr>
          <p:cNvPr id="11" name="椭圆 10"/>
          <p:cNvSpPr/>
          <p:nvPr userDrawn="1"/>
        </p:nvSpPr>
        <p:spPr>
          <a:xfrm>
            <a:off x="8388424" y="6428358"/>
            <a:ext cx="288032" cy="288032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 sz="4000" b="1">
                <a:solidFill>
                  <a:srgbClr val="56575B"/>
                </a:solidFill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>
            <a:lvl1pPr marL="342900" indent="-342900">
              <a:lnSpc>
                <a:spcPct val="110000"/>
              </a:lnSpc>
              <a:buFont typeface="Wingdings" pitchFamily="2" charset="2"/>
              <a:buChar char="n"/>
              <a:defRPr>
                <a:solidFill>
                  <a:srgbClr val="56575B"/>
                </a:solidFill>
              </a:defRPr>
            </a:lvl1pPr>
            <a:lvl2pPr marL="742950" indent="-285750">
              <a:lnSpc>
                <a:spcPct val="110000"/>
              </a:lnSpc>
              <a:buFont typeface="Wingdings" pitchFamily="2" charset="2"/>
              <a:buChar char="ü"/>
              <a:defRPr>
                <a:solidFill>
                  <a:srgbClr val="56575B"/>
                </a:solidFill>
              </a:defRPr>
            </a:lvl2pPr>
            <a:lvl3pPr marL="1143000" indent="-228600">
              <a:lnSpc>
                <a:spcPct val="110000"/>
              </a:lnSpc>
              <a:buFont typeface="Arial" pitchFamily="34" charset="0"/>
              <a:buChar char="•"/>
              <a:defRPr>
                <a:solidFill>
                  <a:srgbClr val="56575B"/>
                </a:solidFill>
              </a:defRPr>
            </a:lvl3pPr>
            <a:lvl4pPr marL="1600200" indent="-228600">
              <a:lnSpc>
                <a:spcPct val="110000"/>
              </a:lnSpc>
              <a:buFont typeface="Wingdings" pitchFamily="2" charset="2"/>
              <a:buChar char="Ø"/>
              <a:defRPr>
                <a:solidFill>
                  <a:srgbClr val="56575B"/>
                </a:solidFill>
              </a:defRPr>
            </a:lvl4pPr>
            <a:lvl5pPr marL="2057400" indent="-228600">
              <a:lnSpc>
                <a:spcPct val="110000"/>
              </a:lnSpc>
              <a:buFont typeface="Arial" pitchFamily="34" charset="0"/>
              <a:buChar char="»"/>
              <a:defRPr>
                <a:solidFill>
                  <a:srgbClr val="56575B"/>
                </a:solidFill>
              </a:defRPr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13" name="矩形 8"/>
          <p:cNvSpPr>
            <a:spLocks noChangeArrowheads="1"/>
          </p:cNvSpPr>
          <p:nvPr userDrawn="1"/>
        </p:nvSpPr>
        <p:spPr bwMode="auto">
          <a:xfrm>
            <a:off x="0" y="6122988"/>
            <a:ext cx="3240088" cy="107950"/>
          </a:xfrm>
          <a:prstGeom prst="rect">
            <a:avLst/>
          </a:prstGeom>
          <a:solidFill>
            <a:srgbClr val="009EDB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cap="flat" cmpd="sng">
                <a:solidFill>
                  <a:srgbClr val="395E8A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endParaRPr lang="zh-CN" altLang="zh-CN">
              <a:solidFill>
                <a:srgbClr val="FFFFFF"/>
              </a:solidFill>
              <a:latin typeface="宋体" pitchFamily="2" charset="-122"/>
              <a:ea typeface="宋体" pitchFamily="2" charset="-122"/>
              <a:sym typeface="宋体" pitchFamily="2" charset="-122"/>
            </a:endParaRPr>
          </a:p>
        </p:txBody>
      </p:sp>
      <p:sp>
        <p:nvSpPr>
          <p:cNvPr id="15" name="矩形 9"/>
          <p:cNvSpPr>
            <a:spLocks noChangeArrowheads="1"/>
          </p:cNvSpPr>
          <p:nvPr userDrawn="1"/>
        </p:nvSpPr>
        <p:spPr bwMode="auto">
          <a:xfrm>
            <a:off x="2957513" y="6122988"/>
            <a:ext cx="3240087" cy="107950"/>
          </a:xfrm>
          <a:prstGeom prst="rect">
            <a:avLst/>
          </a:prstGeom>
          <a:solidFill>
            <a:srgbClr val="FFCC03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cap="flat" cmpd="sng">
                <a:solidFill>
                  <a:srgbClr val="395E8A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endParaRPr lang="zh-CN" altLang="zh-CN">
              <a:solidFill>
                <a:srgbClr val="FFFFFF"/>
              </a:solidFill>
              <a:latin typeface="宋体" pitchFamily="2" charset="-122"/>
              <a:ea typeface="宋体" pitchFamily="2" charset="-122"/>
              <a:sym typeface="宋体" pitchFamily="2" charset="-122"/>
            </a:endParaRPr>
          </a:p>
        </p:txBody>
      </p:sp>
      <p:sp>
        <p:nvSpPr>
          <p:cNvPr id="16" name="矩形 10"/>
          <p:cNvSpPr>
            <a:spLocks noChangeArrowheads="1"/>
          </p:cNvSpPr>
          <p:nvPr userDrawn="1"/>
        </p:nvSpPr>
        <p:spPr bwMode="auto">
          <a:xfrm>
            <a:off x="5915025" y="6122988"/>
            <a:ext cx="3240088" cy="107950"/>
          </a:xfrm>
          <a:prstGeom prst="rect">
            <a:avLst/>
          </a:prstGeom>
          <a:solidFill>
            <a:srgbClr val="009EDB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cap="flat" cmpd="sng">
                <a:solidFill>
                  <a:srgbClr val="395E8A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endParaRPr lang="zh-CN" altLang="zh-CN">
              <a:solidFill>
                <a:srgbClr val="FFFFFF"/>
              </a:solidFill>
              <a:latin typeface="宋体" pitchFamily="2" charset="-122"/>
              <a:ea typeface="宋体" pitchFamily="2" charset="-122"/>
              <a:sym typeface="宋体" pitchFamily="2" charset="-122"/>
            </a:endParaRPr>
          </a:p>
        </p:txBody>
      </p:sp>
      <p:sp>
        <p:nvSpPr>
          <p:cNvPr id="19" name="TextBox 18">
            <a:hlinkClick r:id="rId2"/>
          </p:cNvPr>
          <p:cNvSpPr>
            <a:spLocks noChangeArrowheads="1"/>
          </p:cNvSpPr>
          <p:nvPr userDrawn="1"/>
        </p:nvSpPr>
        <p:spPr bwMode="auto">
          <a:xfrm>
            <a:off x="1457502" y="6392361"/>
            <a:ext cx="189036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zh-CN" sz="1200" b="0" i="1" u="none" dirty="0" smtClean="0">
                <a:solidFill>
                  <a:schemeClr val="bg1">
                    <a:lumMod val="95000"/>
                  </a:schemeClr>
                </a:solidFill>
                <a:sym typeface="Arial" pitchFamily="34" charset="0"/>
              </a:rPr>
              <a:t>http://m.qzone</a:t>
            </a:r>
            <a:r>
              <a:rPr lang="zh-CN" altLang="en-US" sz="1200" b="0" i="1" u="none" dirty="0" smtClean="0">
                <a:solidFill>
                  <a:schemeClr val="bg1">
                    <a:lumMod val="95000"/>
                  </a:schemeClr>
                </a:solidFill>
                <a:ea typeface="宋体" pitchFamily="2" charset="-122"/>
                <a:sym typeface="Arial" pitchFamily="34" charset="0"/>
              </a:rPr>
              <a:t>.</a:t>
            </a:r>
            <a:r>
              <a:rPr lang="zh-CN" altLang="en-US" sz="1200" b="0" i="1" u="none" dirty="0">
                <a:solidFill>
                  <a:schemeClr val="bg1">
                    <a:lumMod val="95000"/>
                  </a:schemeClr>
                </a:solidFill>
                <a:ea typeface="宋体" pitchFamily="2" charset="-122"/>
                <a:sym typeface="Arial" pitchFamily="34" charset="0"/>
              </a:rPr>
              <a:t>com</a:t>
            </a:r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 contras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819" y="6383827"/>
            <a:ext cx="947813" cy="329382"/>
          </a:xfrm>
          <a:prstGeom prst="rect">
            <a:avLst/>
          </a:prstGeom>
        </p:spPr>
      </p:pic>
      <p:sp>
        <p:nvSpPr>
          <p:cNvPr id="17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827CAE95-0A4C-4FC1-B81C-A5798E0B0A68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2440" y="116632"/>
            <a:ext cx="437778" cy="437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23510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脚占位符 1"/>
          <p:cNvSpPr>
            <a:spLocks noGrp="1"/>
          </p:cNvSpPr>
          <p:nvPr>
            <p:ph type="ftr" sz="quarter" idx="10"/>
          </p:nvPr>
        </p:nvSpPr>
        <p:spPr>
          <a:xfrm>
            <a:off x="792164" y="6469381"/>
            <a:ext cx="7559675" cy="21717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WWW.PENGYOU.COM</a:t>
            </a:r>
            <a:endParaRPr lang="zh-CN" altLang="en-US" sz="1800">
              <a:solidFill>
                <a:schemeClr val="tx1"/>
              </a:solidFill>
              <a:latin typeface="Arial" pitchFamily="34" charset="0"/>
              <a:sym typeface="Arial" pitchFamily="34" charset="0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C8495B01-8D9E-4E17-86A8-7CCA5333F06C}" type="slidenum">
              <a:rPr lang="zh-CN" altLang="en-US"/>
              <a:pPr/>
              <a:t>‹#›</a:t>
            </a:fld>
            <a:endParaRPr lang="zh-CN" altLang="en-US" sz="1800">
              <a:solidFill>
                <a:schemeClr val="tx1"/>
              </a:solidFill>
              <a:latin typeface="Arial" pitchFamily="34" charset="0"/>
              <a:sym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249350"/>
      </p:ext>
    </p:extLst>
  </p:cSld>
  <p:clrMapOvr>
    <a:masterClrMapping/>
  </p:clrMapOvr>
  <p:transition xmlns:p14="http://schemas.microsoft.com/office/powerpoint/2010/main">
    <p:circle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7CAE95-0A4C-4FC1-B81C-A5798E0B0A68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9" r:id="rId1"/>
    <p:sldLayoutId id="2147483750" r:id="rId2"/>
    <p:sldLayoutId id="2147483751" r:id="rId3"/>
  </p:sldLayoutIdLst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xmlns:p14="http://schemas.microsoft.com/office/powerpoint/2010/main" id="1" dur="indefinite" restart="never" nodeType="tmRoot"/>
      </p:par>
    </p:tnLst>
  </p:timing>
  <p:hf hdr="0" ftr="0" dt="0"/>
  <p:txStyles>
    <p:titleStyle>
      <a:lvl1pPr marL="914400" indent="-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56575B"/>
          </a:solidFill>
          <a:latin typeface="+mj-lt"/>
          <a:ea typeface="+mj-ea"/>
          <a:cs typeface="+mj-cs"/>
          <a:sym typeface="Calibri" pitchFamily="34" charset="0"/>
        </a:defRPr>
      </a:lvl1pPr>
      <a:lvl2pPr marL="914400" indent="-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微软雅黑" pitchFamily="34" charset="-122"/>
          <a:ea typeface="微软雅黑" pitchFamily="34" charset="-122"/>
          <a:sym typeface="Calibri" pitchFamily="34" charset="0"/>
        </a:defRPr>
      </a:lvl2pPr>
      <a:lvl3pPr marL="914400" indent="-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微软雅黑" pitchFamily="34" charset="-122"/>
          <a:ea typeface="微软雅黑" pitchFamily="34" charset="-122"/>
          <a:sym typeface="Calibri" pitchFamily="34" charset="0"/>
        </a:defRPr>
      </a:lvl3pPr>
      <a:lvl4pPr marL="914400" indent="-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微软雅黑" pitchFamily="34" charset="-122"/>
          <a:ea typeface="微软雅黑" pitchFamily="34" charset="-122"/>
          <a:sym typeface="Calibri" pitchFamily="34" charset="0"/>
        </a:defRPr>
      </a:lvl4pPr>
      <a:lvl5pPr marL="914400" indent="-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微软雅黑" pitchFamily="34" charset="-122"/>
          <a:ea typeface="微软雅黑" pitchFamily="34" charset="-122"/>
          <a:sym typeface="Calibri" pitchFamily="34" charset="0"/>
        </a:defRPr>
      </a:lvl5pPr>
      <a:lvl6pPr marL="1371600" indent="-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微软雅黑" pitchFamily="34" charset="-122"/>
          <a:ea typeface="微软雅黑" pitchFamily="34" charset="-122"/>
          <a:sym typeface="Calibri" pitchFamily="34" charset="0"/>
        </a:defRPr>
      </a:lvl6pPr>
      <a:lvl7pPr marL="1828800" indent="-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微软雅黑" pitchFamily="34" charset="-122"/>
          <a:ea typeface="微软雅黑" pitchFamily="34" charset="-122"/>
          <a:sym typeface="Calibri" pitchFamily="34" charset="0"/>
        </a:defRPr>
      </a:lvl7pPr>
      <a:lvl8pPr marL="2286000" indent="-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微软雅黑" pitchFamily="34" charset="-122"/>
          <a:ea typeface="微软雅黑" pitchFamily="34" charset="-122"/>
          <a:sym typeface="Calibri" pitchFamily="34" charset="0"/>
        </a:defRPr>
      </a:lvl8pPr>
      <a:lvl9pPr marL="2743200" indent="-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微软雅黑" pitchFamily="34" charset="-122"/>
          <a:ea typeface="微软雅黑" pitchFamily="34" charset="-122"/>
          <a:sym typeface="Calibri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•"/>
        <a:defRPr sz="3200">
          <a:solidFill>
            <a:srgbClr val="56575B"/>
          </a:solidFill>
          <a:latin typeface="+mn-lt"/>
          <a:ea typeface="+mn-ea"/>
          <a:cs typeface="+mn-cs"/>
          <a:sym typeface="Calibri" pitchFamily="34" charset="0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–"/>
        <a:defRPr sz="2800">
          <a:solidFill>
            <a:srgbClr val="56575B"/>
          </a:solidFill>
          <a:latin typeface="+mn-lt"/>
          <a:ea typeface="+mn-ea"/>
          <a:sym typeface="Calibri" pitchFamily="34" charset="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•"/>
        <a:defRPr sz="2400">
          <a:solidFill>
            <a:srgbClr val="56575B"/>
          </a:solidFill>
          <a:latin typeface="+mn-lt"/>
          <a:ea typeface="+mn-ea"/>
          <a:sym typeface="Calibri" pitchFamily="34" charset="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–"/>
        <a:defRPr sz="2000">
          <a:solidFill>
            <a:srgbClr val="56575B"/>
          </a:solidFill>
          <a:latin typeface="+mn-lt"/>
          <a:ea typeface="+mn-ea"/>
          <a:sym typeface="Calibri" pitchFamily="34" charset="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»"/>
        <a:defRPr sz="2000">
          <a:solidFill>
            <a:srgbClr val="56575B"/>
          </a:solidFill>
          <a:latin typeface="+mn-lt"/>
          <a:ea typeface="+mn-ea"/>
          <a:sym typeface="Calibri" pitchFamily="34" charset="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»"/>
        <a:defRPr sz="2000">
          <a:solidFill>
            <a:schemeClr val="tx1"/>
          </a:solidFill>
          <a:latin typeface="+mn-lt"/>
          <a:ea typeface="+mn-ea"/>
          <a:sym typeface="Calibri" pitchFamily="34" charset="0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»"/>
        <a:defRPr sz="2000">
          <a:solidFill>
            <a:schemeClr val="tx1"/>
          </a:solidFill>
          <a:latin typeface="+mn-lt"/>
          <a:ea typeface="+mn-ea"/>
          <a:sym typeface="Calibri" pitchFamily="34" charset="0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»"/>
        <a:defRPr sz="2000">
          <a:solidFill>
            <a:schemeClr val="tx1"/>
          </a:solidFill>
          <a:latin typeface="+mn-lt"/>
          <a:ea typeface="+mn-ea"/>
          <a:sym typeface="Calibri" pitchFamily="34" charset="0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»"/>
        <a:defRPr sz="2000">
          <a:solidFill>
            <a:schemeClr val="tx1"/>
          </a:solidFill>
          <a:latin typeface="+mn-lt"/>
          <a:ea typeface="+mn-ea"/>
          <a:sym typeface="Calibri" pitchFamily="34" charset="0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4" Type="http://schemas.microsoft.com/office/2007/relationships/hdphoto" Target="../media/hdphoto1.wdp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4" Type="http://schemas.openxmlformats.org/officeDocument/2006/relationships/diagramQuickStyle" Target="../diagrams/quickStyle1.xml"/><Relationship Id="rId5" Type="http://schemas.openxmlformats.org/officeDocument/2006/relationships/diagramColors" Target="../diagrams/colors1.xml"/><Relationship Id="rId6" Type="http://schemas.microsoft.com/office/2007/relationships/diagramDrawing" Target="../diagrams/drawing1.xml"/><Relationship Id="rId1" Type="http://schemas.openxmlformats.org/officeDocument/2006/relationships/slideLayout" Target="../slideLayouts/slideLayout2.xml"/><Relationship Id="rId2" Type="http://schemas.openxmlformats.org/officeDocument/2006/relationships/diagramData" Target="../diagrams/data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gif"/><Relationship Id="rId7" Type="http://schemas.openxmlformats.org/officeDocument/2006/relationships/image" Target="../media/image15.jpeg"/><Relationship Id="rId8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://developer.apple.com/library/safari/" TargetMode="Externa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jpe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8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bytestrom.eu/blog/2009/1120a_jpeg_encoder_for_javascript" TargetMode="External"/><Relationship Id="rId4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://code.google.com/p/jsjpegmeta/" TargetMode="External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2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3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4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5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6.pn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7.jpe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8.jpe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9.png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0.png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1.png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0.png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1.png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2.png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3.jpeg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4.jpe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4" Type="http://schemas.openxmlformats.org/officeDocument/2006/relationships/diagramLayout" Target="../diagrams/layout2.xml"/><Relationship Id="rId5" Type="http://schemas.openxmlformats.org/officeDocument/2006/relationships/diagramQuickStyle" Target="../diagrams/quickStyle2.xml"/><Relationship Id="rId6" Type="http://schemas.openxmlformats.org/officeDocument/2006/relationships/diagramColors" Target="../diagrams/colors2.xml"/><Relationship Id="rId7" Type="http://schemas.microsoft.com/office/2007/relationships/diagramDrawing" Target="../diagrams/drawing2.xml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35.jpeg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6.jpeg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7.jpeg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github.com/QzoneTouch" TargetMode="Externa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hyperlink" Target="http://www.w3schools.com/" TargetMode="External"/><Relationship Id="rId4" Type="http://schemas.openxmlformats.org/officeDocument/2006/relationships/hyperlink" Target="http://developer.apple.com/library/safari/" TargetMode="External"/><Relationship Id="rId5" Type="http://schemas.openxmlformats.org/officeDocument/2006/relationships/hyperlink" Target="http://people.apache.org/~pmuellr/weinre/docs/latest/" TargetMode="External"/><Relationship Id="rId6" Type="http://schemas.openxmlformats.org/officeDocument/2006/relationships/hyperlink" Target="http://www.bytestrom.eu/blog/2009/1120a_jpeg_encoder_for_javascript" TargetMode="External"/><Relationship Id="rId7" Type="http://schemas.openxmlformats.org/officeDocument/2006/relationships/hyperlink" Target="http://code.google.com/p/jsjpegmeta/" TargetMode="External"/><Relationship Id="rId8" Type="http://schemas.openxmlformats.org/officeDocument/2006/relationships/hyperlink" Target="http://ux.etao.com/posts/449" TargetMode="External"/><Relationship Id="rId1" Type="http://schemas.openxmlformats.org/officeDocument/2006/relationships/slideLayout" Target="../slideLayouts/slideLayout2.xml"/><Relationship Id="rId2" Type="http://schemas.openxmlformats.org/officeDocument/2006/relationships/hyperlink" Target="http://www.w3.org/TR/2011/WD-html5-20110525/" TargetMode="Externa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8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4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副标题 4"/>
          <p:cNvSpPr>
            <a:spLocks noGrp="1" noChangeArrowheads="1"/>
          </p:cNvSpPr>
          <p:nvPr>
            <p:ph type="subTitle" idx="4294967295"/>
          </p:nvPr>
        </p:nvSpPr>
        <p:spPr bwMode="auto">
          <a:xfrm>
            <a:off x="4499992" y="4714063"/>
            <a:ext cx="2736304" cy="46316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>
            <a:lvl1pPr>
              <a:defRPr/>
            </a:lvl1pPr>
          </a:lstStyle>
          <a:p>
            <a:pPr marL="0" indent="0" algn="ctr">
              <a:buFont typeface="Arial" pitchFamily="34" charset="0"/>
              <a:buNone/>
            </a:pPr>
            <a:r>
              <a:rPr lang="en-US" altLang="zh-CN" sz="2800" dirty="0" smtClean="0">
                <a:solidFill>
                  <a:schemeClr val="bg1"/>
                </a:solidFill>
              </a:rPr>
              <a:t>Yunishi </a:t>
            </a:r>
            <a:r>
              <a:rPr lang="zh-CN" altLang="en-US" sz="2800" dirty="0" smtClean="0">
                <a:solidFill>
                  <a:schemeClr val="bg1"/>
                </a:solidFill>
              </a:rPr>
              <a:t>石玉磊</a:t>
            </a:r>
            <a:endParaRPr lang="en-US" altLang="zh-CN" sz="2800" dirty="0" smtClean="0">
              <a:solidFill>
                <a:schemeClr val="bg1"/>
              </a:solidFill>
            </a:endParaRPr>
          </a:p>
        </p:txBody>
      </p:sp>
      <p:sp>
        <p:nvSpPr>
          <p:cNvPr id="10" name="标题占位符 1"/>
          <p:cNvSpPr txBox="1">
            <a:spLocks/>
          </p:cNvSpPr>
          <p:nvPr/>
        </p:nvSpPr>
        <p:spPr>
          <a:xfrm>
            <a:off x="1177280" y="5238328"/>
            <a:ext cx="7499176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914400" indent="-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  <a:sym typeface="Calibri" pitchFamily="34" charset="0"/>
              </a:defRPr>
            </a:lvl1pPr>
            <a:lvl2pPr marL="914400" indent="-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2pPr>
            <a:lvl3pPr marL="914400" indent="-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3pPr>
            <a:lvl4pPr marL="914400" indent="-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4pPr>
            <a:lvl5pPr marL="914400" indent="-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5pPr>
            <a:lvl6pPr marL="1371600" indent="-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6pPr>
            <a:lvl7pPr marL="1828800" indent="-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7pPr>
            <a:lvl8pPr marL="2286000" indent="-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8pPr>
            <a:lvl9pPr marL="2743200" indent="-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9pPr>
          </a:lstStyle>
          <a:p>
            <a:r>
              <a:rPr lang="en-US" altLang="zh-CN" b="1" dirty="0" smtClean="0">
                <a:solidFill>
                  <a:srgbClr val="FFCC03"/>
                </a:solidFill>
              </a:rPr>
              <a:t>HTML5</a:t>
            </a:r>
            <a:r>
              <a:rPr lang="zh-CN" altLang="en-US" b="1" dirty="0" smtClean="0">
                <a:solidFill>
                  <a:srgbClr val="FFCC03"/>
                </a:solidFill>
              </a:rPr>
              <a:t>在</a:t>
            </a:r>
            <a:r>
              <a:rPr lang="en-US" altLang="zh-CN" b="1" dirty="0" err="1" smtClean="0">
                <a:solidFill>
                  <a:srgbClr val="FFCC03"/>
                </a:solidFill>
              </a:rPr>
              <a:t>Qzone</a:t>
            </a:r>
            <a:r>
              <a:rPr lang="zh-CN" altLang="en-US" b="1" dirty="0" smtClean="0">
                <a:solidFill>
                  <a:srgbClr val="FFCC03"/>
                </a:solidFill>
              </a:rPr>
              <a:t>的实践</a:t>
            </a:r>
            <a:endParaRPr lang="en-US" altLang="zh-CN" b="1" dirty="0" smtClean="0">
              <a:solidFill>
                <a:srgbClr val="FFCC03"/>
              </a:solidFill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 contras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6927" y="4712283"/>
            <a:ext cx="1343025" cy="466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23027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About </a:t>
            </a:r>
            <a:r>
              <a:rPr lang="en-US" altLang="zh-CN" dirty="0" err="1" smtClean="0"/>
              <a:t>yuni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27CAE95-0A4C-4FC1-B81C-A5798E0B0A68}" type="slidenum">
              <a:rPr lang="zh-CN" altLang="en-US" smtClean="0"/>
              <a:pPr/>
              <a:t>2</a:t>
            </a:fld>
            <a:endParaRPr lang="zh-CN" altLang="en-US" dirty="0"/>
          </a:p>
        </p:txBody>
      </p:sp>
      <p:pic>
        <p:nvPicPr>
          <p:cNvPr id="2050" name="Picture 2" descr="C:\Users\yunishi.TENCENT\Desktop\DPP_0042.jpe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1239984"/>
            <a:ext cx="7571166" cy="48533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393706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17" descr="http://www.w3.org/html/logo/img/html5-display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30438" y="475450"/>
            <a:ext cx="4654550" cy="56178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7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HTML5</a:t>
            </a:r>
            <a:r>
              <a:rPr lang="zh-CN" altLang="en-US" dirty="0" smtClean="0"/>
              <a:t>是什么？</a:t>
            </a:r>
          </a:p>
        </p:txBody>
      </p:sp>
    </p:spTree>
    <p:extLst>
      <p:ext uri="{BB962C8B-B14F-4D97-AF65-F5344CB8AC3E}">
        <p14:creationId xmlns:p14="http://schemas.microsoft.com/office/powerpoint/2010/main" val="2399049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广义上</a:t>
            </a:r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16387" name="Picture 8" descr="http://cdn.devlup.com/wp-content/uploads/2011/08/html5_css_javascript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9713" y="2564131"/>
            <a:ext cx="6096000" cy="29375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063008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/>
              <a:t>JavaScript new API</a:t>
            </a:r>
            <a:endParaRPr lang="zh-CN" altLang="en-US" smtClean="0"/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1741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6376" y="2348866"/>
            <a:ext cx="6246813" cy="31337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287451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本地存储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静态资源</a:t>
            </a:r>
            <a:endParaRPr lang="en-US" altLang="zh-CN" dirty="0" smtClean="0"/>
          </a:p>
          <a:p>
            <a:r>
              <a:rPr lang="zh-CN" altLang="en-US" dirty="0" smtClean="0"/>
              <a:t>动态数据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27CAE95-0A4C-4FC1-B81C-A5798E0B0A68}" type="slidenum">
              <a:rPr lang="zh-CN" altLang="en-US" smtClean="0"/>
              <a:pPr/>
              <a:t>6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89517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资源本地存储</a:t>
            </a:r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457200" y="1484784"/>
            <a:ext cx="8229600" cy="4525963"/>
          </a:xfrm>
        </p:spPr>
        <p:txBody>
          <a:bodyPr/>
          <a:lstStyle/>
          <a:p>
            <a:pPr marL="342900" lvl="1" indent="-342900">
              <a:buFont typeface="Wingdings" pitchFamily="2" charset="2"/>
              <a:buChar char="n"/>
            </a:pPr>
            <a:r>
              <a:rPr lang="zh-CN" altLang="en-US" dirty="0"/>
              <a:t>当用户再次访问页面的</a:t>
            </a:r>
            <a:r>
              <a:rPr lang="zh-CN" altLang="en-US" dirty="0" smtClean="0"/>
              <a:t>时候读取</a:t>
            </a:r>
            <a:r>
              <a:rPr lang="zh-CN" altLang="en-US" dirty="0"/>
              <a:t>本地</a:t>
            </a:r>
            <a:r>
              <a:rPr lang="en-US" altLang="zh-CN" dirty="0"/>
              <a:t>cache </a:t>
            </a:r>
            <a:r>
              <a:rPr lang="en-US" altLang="zh-CN" dirty="0" err="1" smtClean="0"/>
              <a:t>js</a:t>
            </a:r>
            <a:endParaRPr lang="en-US" altLang="zh-CN" dirty="0"/>
          </a:p>
          <a:p>
            <a:pPr marL="342900" lvl="1" indent="-342900">
              <a:buFont typeface="Wingdings" pitchFamily="2" charset="2"/>
              <a:buChar char="n"/>
            </a:pPr>
            <a:r>
              <a:rPr lang="zh-CN" altLang="zh-CN" dirty="0" smtClean="0"/>
              <a:t>相对</a:t>
            </a:r>
            <a:r>
              <a:rPr lang="zh-CN" altLang="zh-CN" dirty="0"/>
              <a:t>于从网络拉取</a:t>
            </a:r>
            <a:r>
              <a:rPr lang="zh-CN" altLang="zh-CN" dirty="0" smtClean="0"/>
              <a:t>，本地读取的</a:t>
            </a:r>
            <a:r>
              <a:rPr lang="zh-CN" altLang="zh-CN" dirty="0"/>
              <a:t>时间可以</a:t>
            </a:r>
            <a:r>
              <a:rPr lang="zh-CN" altLang="zh-CN" dirty="0" smtClean="0"/>
              <a:t>忽略</a:t>
            </a:r>
            <a:endParaRPr lang="en-US" altLang="zh-CN" dirty="0" smtClean="0"/>
          </a:p>
        </p:txBody>
      </p:sp>
      <p:pic>
        <p:nvPicPr>
          <p:cNvPr id="2050" name="图表 1" descr="image00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664" y="2852935"/>
            <a:ext cx="5837068" cy="31994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灯片编号占位符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27CAE95-0A4C-4FC1-B81C-A5798E0B0A68}" type="slidenum">
              <a:rPr lang="zh-CN" altLang="en-US" smtClean="0"/>
              <a:pPr/>
              <a:t>7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89546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资源本地存储</a:t>
            </a: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原理</a:t>
            </a:r>
            <a:endParaRPr lang="en-US" altLang="zh-CN" dirty="0" smtClean="0"/>
          </a:p>
          <a:p>
            <a:endParaRPr lang="en-US" altLang="zh-CN" dirty="0" smtClean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27CAE95-0A4C-4FC1-B81C-A5798E0B0A68}" type="slidenum">
              <a:rPr lang="zh-CN" altLang="en-US" smtClean="0"/>
              <a:pPr/>
              <a:t>8</a:t>
            </a:fld>
            <a:endParaRPr lang="zh-CN" altLang="en-US" dirty="0"/>
          </a:p>
        </p:txBody>
      </p:sp>
      <p:grpSp>
        <p:nvGrpSpPr>
          <p:cNvPr id="59" name="组合 58"/>
          <p:cNvGrpSpPr/>
          <p:nvPr/>
        </p:nvGrpSpPr>
        <p:grpSpPr>
          <a:xfrm>
            <a:off x="2339752" y="2204864"/>
            <a:ext cx="4320480" cy="3672408"/>
            <a:chOff x="2339752" y="2204864"/>
            <a:chExt cx="4320480" cy="3672408"/>
          </a:xfrm>
        </p:grpSpPr>
        <p:sp>
          <p:nvSpPr>
            <p:cNvPr id="4" name="流程图: 可选过程 3"/>
            <p:cNvSpPr/>
            <p:nvPr/>
          </p:nvSpPr>
          <p:spPr>
            <a:xfrm>
              <a:off x="3707903" y="2204864"/>
              <a:ext cx="1395155" cy="288032"/>
            </a:xfrm>
            <a:prstGeom prst="flowChartAlternateProcess">
              <a:avLst/>
            </a:prstGeom>
            <a:ln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900" b="1" dirty="0" smtClean="0"/>
                <a:t>开始</a:t>
              </a:r>
              <a:endParaRPr lang="zh-CN" altLang="en-US" sz="900" b="1" dirty="0"/>
            </a:p>
          </p:txBody>
        </p:sp>
        <p:sp>
          <p:nvSpPr>
            <p:cNvPr id="9" name="矩形 8"/>
            <p:cNvSpPr/>
            <p:nvPr/>
          </p:nvSpPr>
          <p:spPr>
            <a:xfrm>
              <a:off x="3707904" y="2636912"/>
              <a:ext cx="1404156" cy="288032"/>
            </a:xfrm>
            <a:prstGeom prst="rect">
              <a:avLst/>
            </a:prstGeom>
            <a:ln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900" b="1" dirty="0" smtClean="0"/>
                <a:t>用户访问</a:t>
              </a:r>
              <a:endParaRPr lang="zh-CN" altLang="en-US" sz="900" b="1" dirty="0"/>
            </a:p>
          </p:txBody>
        </p:sp>
        <p:sp>
          <p:nvSpPr>
            <p:cNvPr id="10" name="剪去单角的矩形 9"/>
            <p:cNvSpPr/>
            <p:nvPr/>
          </p:nvSpPr>
          <p:spPr>
            <a:xfrm>
              <a:off x="2339752" y="3573016"/>
              <a:ext cx="1656184" cy="288032"/>
            </a:xfrm>
            <a:prstGeom prst="snip1Rect">
              <a:avLst/>
            </a:prstGeom>
            <a:ln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900" b="1" dirty="0" smtClean="0"/>
                <a:t>需要存储</a:t>
              </a:r>
              <a:endParaRPr lang="zh-CN" altLang="en-US" sz="900" b="1" dirty="0"/>
            </a:p>
          </p:txBody>
        </p:sp>
        <p:sp>
          <p:nvSpPr>
            <p:cNvPr id="16" name="流程图: 可选过程 15"/>
            <p:cNvSpPr/>
            <p:nvPr/>
          </p:nvSpPr>
          <p:spPr>
            <a:xfrm>
              <a:off x="3923928" y="5589240"/>
              <a:ext cx="1008112" cy="288032"/>
            </a:xfrm>
            <a:prstGeom prst="flowChartAlternateProcess">
              <a:avLst/>
            </a:prstGeom>
            <a:ln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900" b="1" dirty="0"/>
                <a:t>结束</a:t>
              </a:r>
            </a:p>
          </p:txBody>
        </p:sp>
        <p:sp>
          <p:nvSpPr>
            <p:cNvPr id="17" name="剪去单角的矩形 16"/>
            <p:cNvSpPr/>
            <p:nvPr/>
          </p:nvSpPr>
          <p:spPr>
            <a:xfrm>
              <a:off x="2339752" y="4005064"/>
              <a:ext cx="1656184" cy="288032"/>
            </a:xfrm>
            <a:prstGeom prst="snip1Rect">
              <a:avLst/>
            </a:prstGeom>
            <a:ln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900" b="1" dirty="0"/>
                <a:t>本地</a:t>
              </a:r>
              <a:r>
                <a:rPr lang="zh-CN" altLang="en-US" sz="900" b="1" dirty="0" smtClean="0"/>
                <a:t>版本号</a:t>
              </a:r>
              <a:r>
                <a:rPr lang="zh-CN" altLang="en-US" sz="900" b="1" dirty="0"/>
                <a:t>等于</a:t>
              </a:r>
              <a:r>
                <a:rPr lang="zh-CN" altLang="en-US" sz="900" b="1" dirty="0" smtClean="0"/>
                <a:t>外</a:t>
              </a:r>
              <a:r>
                <a:rPr lang="zh-CN" altLang="en-US" sz="900" b="1" dirty="0"/>
                <a:t>网版本号</a:t>
              </a:r>
            </a:p>
          </p:txBody>
        </p:sp>
        <p:sp>
          <p:nvSpPr>
            <p:cNvPr id="18" name="剪去单角的矩形 17"/>
            <p:cNvSpPr/>
            <p:nvPr/>
          </p:nvSpPr>
          <p:spPr>
            <a:xfrm>
              <a:off x="2339752" y="4437112"/>
              <a:ext cx="1656184" cy="288032"/>
            </a:xfrm>
            <a:prstGeom prst="snip1Rect">
              <a:avLst/>
            </a:prstGeom>
            <a:ln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900" b="1" dirty="0"/>
                <a:t>本地存储中存在该文件</a:t>
              </a:r>
            </a:p>
          </p:txBody>
        </p:sp>
        <p:sp>
          <p:nvSpPr>
            <p:cNvPr id="20" name="流程图: 内部贮存 19"/>
            <p:cNvSpPr/>
            <p:nvPr/>
          </p:nvSpPr>
          <p:spPr>
            <a:xfrm>
              <a:off x="2339752" y="4941168"/>
              <a:ext cx="1656184" cy="288032"/>
            </a:xfrm>
            <a:prstGeom prst="flowChartInternalStorage">
              <a:avLst/>
            </a:prstGeom>
            <a:ln/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900" b="1" dirty="0" smtClean="0"/>
                <a:t>本地存储</a:t>
              </a:r>
              <a:endParaRPr lang="zh-CN" altLang="en-US" sz="900" b="1" dirty="0"/>
            </a:p>
          </p:txBody>
        </p:sp>
        <p:sp>
          <p:nvSpPr>
            <p:cNvPr id="21" name="流程图: 内部贮存 20"/>
            <p:cNvSpPr/>
            <p:nvPr/>
          </p:nvSpPr>
          <p:spPr>
            <a:xfrm>
              <a:off x="4932040" y="4941168"/>
              <a:ext cx="1728192" cy="288032"/>
            </a:xfrm>
            <a:prstGeom prst="flowChartInternalStorage">
              <a:avLst/>
            </a:prstGeom>
            <a:ln/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900" b="1" dirty="0" err="1" smtClean="0"/>
                <a:t>cdn</a:t>
              </a:r>
              <a:endParaRPr lang="zh-CN" altLang="en-US" sz="900" b="1" dirty="0"/>
            </a:p>
          </p:txBody>
        </p:sp>
        <p:sp>
          <p:nvSpPr>
            <p:cNvPr id="22" name="矩形 21"/>
            <p:cNvSpPr/>
            <p:nvPr/>
          </p:nvSpPr>
          <p:spPr>
            <a:xfrm>
              <a:off x="3707904" y="3068960"/>
              <a:ext cx="1404156" cy="288032"/>
            </a:xfrm>
            <a:prstGeom prst="rect">
              <a:avLst/>
            </a:prstGeom>
            <a:ln/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900" b="1" dirty="0" smtClean="0"/>
                <a:t>版本号配置</a:t>
              </a:r>
              <a:endParaRPr lang="zh-CN" altLang="en-US" sz="900" b="1" dirty="0"/>
            </a:p>
          </p:txBody>
        </p:sp>
        <p:cxnSp>
          <p:nvCxnSpPr>
            <p:cNvPr id="24" name="直接箭头连接符 23"/>
            <p:cNvCxnSpPr>
              <a:stCxn id="4" idx="2"/>
              <a:endCxn id="9" idx="0"/>
            </p:cNvCxnSpPr>
            <p:nvPr/>
          </p:nvCxnSpPr>
          <p:spPr>
            <a:xfrm>
              <a:off x="4405481" y="2492896"/>
              <a:ext cx="4501" cy="144016"/>
            </a:xfrm>
            <a:prstGeom prst="straightConnector1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</p:cxnSp>
        <p:cxnSp>
          <p:nvCxnSpPr>
            <p:cNvPr id="26" name="直接箭头连接符 25"/>
            <p:cNvCxnSpPr/>
            <p:nvPr/>
          </p:nvCxnSpPr>
          <p:spPr>
            <a:xfrm>
              <a:off x="4427984" y="2924944"/>
              <a:ext cx="0" cy="144016"/>
            </a:xfrm>
            <a:prstGeom prst="straightConnector1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</p:cxnSp>
        <p:cxnSp>
          <p:nvCxnSpPr>
            <p:cNvPr id="28" name="肘形连接符 27"/>
            <p:cNvCxnSpPr>
              <a:stCxn id="22" idx="2"/>
              <a:endCxn id="10" idx="3"/>
            </p:cNvCxnSpPr>
            <p:nvPr/>
          </p:nvCxnSpPr>
          <p:spPr>
            <a:xfrm rot="5400000">
              <a:off x="3680901" y="2843935"/>
              <a:ext cx="216024" cy="1242138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</p:cxnSp>
        <p:cxnSp>
          <p:nvCxnSpPr>
            <p:cNvPr id="30" name="肘形连接符 29"/>
            <p:cNvCxnSpPr>
              <a:stCxn id="21" idx="2"/>
              <a:endCxn id="16" idx="0"/>
            </p:cNvCxnSpPr>
            <p:nvPr/>
          </p:nvCxnSpPr>
          <p:spPr>
            <a:xfrm rot="5400000">
              <a:off x="4932040" y="4725144"/>
              <a:ext cx="360040" cy="1368152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</p:cxnSp>
        <p:cxnSp>
          <p:nvCxnSpPr>
            <p:cNvPr id="36" name="直接箭头连接符 35"/>
            <p:cNvCxnSpPr>
              <a:stCxn id="10" idx="1"/>
              <a:endCxn id="17" idx="3"/>
            </p:cNvCxnSpPr>
            <p:nvPr/>
          </p:nvCxnSpPr>
          <p:spPr>
            <a:xfrm>
              <a:off x="3167844" y="3861048"/>
              <a:ext cx="0" cy="144016"/>
            </a:xfrm>
            <a:prstGeom prst="straightConnector1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</p:cxnSp>
        <p:cxnSp>
          <p:nvCxnSpPr>
            <p:cNvPr id="38" name="直接箭头连接符 37"/>
            <p:cNvCxnSpPr>
              <a:stCxn id="17" idx="1"/>
              <a:endCxn id="18" idx="3"/>
            </p:cNvCxnSpPr>
            <p:nvPr/>
          </p:nvCxnSpPr>
          <p:spPr>
            <a:xfrm>
              <a:off x="3167844" y="4293096"/>
              <a:ext cx="0" cy="144016"/>
            </a:xfrm>
            <a:prstGeom prst="straightConnector1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</p:cxnSp>
        <p:cxnSp>
          <p:nvCxnSpPr>
            <p:cNvPr id="40" name="直接箭头连接符 39"/>
            <p:cNvCxnSpPr>
              <a:endCxn id="20" idx="0"/>
            </p:cNvCxnSpPr>
            <p:nvPr/>
          </p:nvCxnSpPr>
          <p:spPr>
            <a:xfrm>
              <a:off x="3161780" y="4725144"/>
              <a:ext cx="6064" cy="216024"/>
            </a:xfrm>
            <a:prstGeom prst="straightConnector1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</p:cxnSp>
        <p:cxnSp>
          <p:nvCxnSpPr>
            <p:cNvPr id="52" name="肘形连接符 51"/>
            <p:cNvCxnSpPr>
              <a:stCxn id="20" idx="2"/>
              <a:endCxn id="16" idx="0"/>
            </p:cNvCxnSpPr>
            <p:nvPr/>
          </p:nvCxnSpPr>
          <p:spPr>
            <a:xfrm rot="16200000" flipH="1">
              <a:off x="3617894" y="4779150"/>
              <a:ext cx="360040" cy="1260140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</p:cxnSp>
        <p:cxnSp>
          <p:nvCxnSpPr>
            <p:cNvPr id="61" name="肘形连接符 60"/>
            <p:cNvCxnSpPr>
              <a:stCxn id="22" idx="2"/>
              <a:endCxn id="21" idx="0"/>
            </p:cNvCxnSpPr>
            <p:nvPr/>
          </p:nvCxnSpPr>
          <p:spPr>
            <a:xfrm rot="16200000" flipH="1">
              <a:off x="4310971" y="3456003"/>
              <a:ext cx="1584176" cy="1386154"/>
            </a:xfrm>
            <a:prstGeom prst="bentConnector3">
              <a:avLst>
                <a:gd name="adj1" fmla="val 6835"/>
              </a:avLst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</p:cxnSp>
      </p:grpSp>
    </p:spTree>
    <p:extLst>
      <p:ext uri="{BB962C8B-B14F-4D97-AF65-F5344CB8AC3E}">
        <p14:creationId xmlns:p14="http://schemas.microsoft.com/office/powerpoint/2010/main" val="17856289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资源本地存储</a:t>
            </a: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ts val="800"/>
              </a:spcBef>
            </a:pPr>
            <a:r>
              <a:rPr lang="zh-CN" altLang="en-US" sz="2400" dirty="0" smtClean="0"/>
              <a:t>优点</a:t>
            </a:r>
            <a:endParaRPr lang="en-US" altLang="zh-CN" sz="2400" dirty="0" smtClean="0"/>
          </a:p>
          <a:p>
            <a:pPr lvl="1">
              <a:spcBef>
                <a:spcPts val="800"/>
              </a:spcBef>
            </a:pPr>
            <a:r>
              <a:rPr lang="zh-CN" altLang="zh-CN" sz="1800" dirty="0" smtClean="0"/>
              <a:t>相比于</a:t>
            </a:r>
            <a:r>
              <a:rPr lang="en-US" altLang="zh-CN" sz="1800" dirty="0" smtClean="0"/>
              <a:t>html5</a:t>
            </a:r>
            <a:r>
              <a:rPr lang="zh-CN" altLang="zh-CN" sz="1800" dirty="0" smtClean="0"/>
              <a:t>官方的</a:t>
            </a:r>
            <a:r>
              <a:rPr lang="en-US" altLang="zh-CN" sz="1800" dirty="0" smtClean="0"/>
              <a:t>manifest cache</a:t>
            </a:r>
            <a:r>
              <a:rPr lang="zh-CN" altLang="en-US" sz="1800" dirty="0" smtClean="0"/>
              <a:t>：</a:t>
            </a:r>
            <a:endParaRPr lang="en-US" altLang="zh-CN" sz="1800" dirty="0" smtClean="0"/>
          </a:p>
          <a:p>
            <a:pPr lvl="2">
              <a:spcBef>
                <a:spcPts val="800"/>
              </a:spcBef>
            </a:pPr>
            <a:r>
              <a:rPr lang="zh-CN" altLang="zh-CN" sz="1600" dirty="0" smtClean="0"/>
              <a:t>支持</a:t>
            </a:r>
            <a:r>
              <a:rPr lang="en-US" altLang="zh-CN" sz="1600" dirty="0" err="1" smtClean="0"/>
              <a:t>js</a:t>
            </a:r>
            <a:r>
              <a:rPr lang="zh-CN" altLang="zh-CN" sz="1600" dirty="0" smtClean="0">
                <a:solidFill>
                  <a:srgbClr val="009EFF"/>
                </a:solidFill>
              </a:rPr>
              <a:t>单文件更新</a:t>
            </a:r>
            <a:r>
              <a:rPr lang="zh-CN" altLang="en-US" sz="1600" dirty="0" smtClean="0">
                <a:solidFill>
                  <a:srgbClr val="009EFF"/>
                </a:solidFill>
              </a:rPr>
              <a:t>，更新后本次立即生效</a:t>
            </a:r>
            <a:r>
              <a:rPr lang="zh-CN" altLang="en-US" sz="1600" dirty="0" smtClean="0"/>
              <a:t>；</a:t>
            </a:r>
            <a:endParaRPr lang="en-US" altLang="zh-CN" sz="1600" dirty="0" smtClean="0"/>
          </a:p>
          <a:p>
            <a:pPr lvl="2">
              <a:spcBef>
                <a:spcPts val="800"/>
              </a:spcBef>
            </a:pPr>
            <a:r>
              <a:rPr lang="zh-CN" altLang="zh-CN" sz="1600" dirty="0" smtClean="0"/>
              <a:t>支持动态直出页配置</a:t>
            </a:r>
            <a:r>
              <a:rPr lang="en-US" altLang="zh-CN" sz="1600" dirty="0" smtClean="0"/>
              <a:t>manifest cache</a:t>
            </a:r>
            <a:r>
              <a:rPr lang="zh-CN" altLang="zh-CN" sz="1600" dirty="0" smtClean="0"/>
              <a:t>但是不</a:t>
            </a:r>
            <a:r>
              <a:rPr lang="en-US" altLang="zh-CN" sz="1600" dirty="0" smtClean="0"/>
              <a:t>cache</a:t>
            </a:r>
            <a:r>
              <a:rPr lang="zh-CN" altLang="zh-CN" sz="1600" dirty="0" smtClean="0"/>
              <a:t>动态页本身；</a:t>
            </a:r>
            <a:endParaRPr lang="en-US" altLang="zh-CN" sz="1600" dirty="0" smtClean="0"/>
          </a:p>
          <a:p>
            <a:pPr lvl="2">
              <a:spcBef>
                <a:spcPts val="800"/>
              </a:spcBef>
            </a:pPr>
            <a:r>
              <a:rPr lang="zh-CN" altLang="zh-CN" sz="1600" dirty="0" smtClean="0"/>
              <a:t>支持</a:t>
            </a:r>
            <a:r>
              <a:rPr lang="en-US" altLang="zh-CN" sz="1600" dirty="0" smtClean="0"/>
              <a:t>combo</a:t>
            </a:r>
            <a:r>
              <a:rPr lang="zh-CN" altLang="zh-CN" sz="1600" dirty="0" smtClean="0"/>
              <a:t>文件的</a:t>
            </a:r>
            <a:r>
              <a:rPr lang="en-US" altLang="zh-CN" sz="1600" dirty="0" smtClean="0"/>
              <a:t>cache</a:t>
            </a:r>
            <a:r>
              <a:rPr lang="zh-CN" altLang="zh-CN" sz="1600" dirty="0" smtClean="0"/>
              <a:t>；且下次</a:t>
            </a:r>
            <a:r>
              <a:rPr lang="en-US" altLang="zh-CN" sz="1600" dirty="0" smtClean="0"/>
              <a:t>combo</a:t>
            </a:r>
            <a:r>
              <a:rPr lang="zh-CN" altLang="zh-CN" sz="1600" dirty="0" smtClean="0"/>
              <a:t>请求自动排除本地</a:t>
            </a:r>
            <a:r>
              <a:rPr lang="en-US" altLang="zh-CN" sz="1600" dirty="0" smtClean="0"/>
              <a:t>cache</a:t>
            </a:r>
            <a:r>
              <a:rPr lang="zh-CN" altLang="zh-CN" sz="1600" dirty="0" smtClean="0"/>
              <a:t>已有的文件</a:t>
            </a:r>
          </a:p>
          <a:p>
            <a:pPr lvl="1">
              <a:spcBef>
                <a:spcPts val="800"/>
              </a:spcBef>
            </a:pPr>
            <a:r>
              <a:rPr lang="zh-CN" altLang="en-US" sz="1800" dirty="0"/>
              <a:t>在触屏项目实践中，项目针对对</a:t>
            </a:r>
            <a:r>
              <a:rPr lang="en-US" altLang="zh-CN" sz="1800" dirty="0"/>
              <a:t>plugin storage</a:t>
            </a:r>
            <a:r>
              <a:rPr lang="zh-CN" altLang="en-US" sz="1800" dirty="0"/>
              <a:t>插件做了以下优化： </a:t>
            </a:r>
            <a:endParaRPr lang="en-US" altLang="zh-CN" sz="1800" dirty="0" smtClean="0"/>
          </a:p>
          <a:p>
            <a:pPr lvl="2">
              <a:spcBef>
                <a:spcPts val="800"/>
              </a:spcBef>
            </a:pPr>
            <a:r>
              <a:rPr lang="zh-CN" altLang="en-US" sz="1600" dirty="0" smtClean="0"/>
              <a:t>在</a:t>
            </a:r>
            <a:r>
              <a:rPr lang="zh-CN" altLang="en-US" sz="1600" dirty="0"/>
              <a:t>不支持</a:t>
            </a:r>
            <a:r>
              <a:rPr lang="en-US" altLang="zh-CN" sz="1600" dirty="0" err="1"/>
              <a:t>localstorage</a:t>
            </a:r>
            <a:r>
              <a:rPr lang="zh-CN" altLang="en-US" sz="1600" dirty="0"/>
              <a:t>的平台，</a:t>
            </a:r>
            <a:r>
              <a:rPr lang="en-US" altLang="zh-CN" sz="1600" dirty="0"/>
              <a:t>manifest.js</a:t>
            </a:r>
            <a:r>
              <a:rPr lang="zh-CN" altLang="en-US" sz="1600" dirty="0"/>
              <a:t>配置文件直接应用为</a:t>
            </a:r>
            <a:r>
              <a:rPr lang="en-US" altLang="zh-CN" sz="1600" dirty="0"/>
              <a:t>cache</a:t>
            </a:r>
            <a:r>
              <a:rPr lang="zh-CN" altLang="en-US" sz="1600" dirty="0"/>
              <a:t>文件的版本号</a:t>
            </a:r>
            <a:r>
              <a:rPr lang="zh-CN" altLang="en-US" sz="1600" dirty="0" smtClean="0"/>
              <a:t>控制；</a:t>
            </a:r>
            <a:endParaRPr lang="en-US" altLang="zh-CN" sz="1600" dirty="0" smtClean="0"/>
          </a:p>
          <a:p>
            <a:pPr lvl="2">
              <a:spcBef>
                <a:spcPts val="800"/>
              </a:spcBef>
            </a:pPr>
            <a:r>
              <a:rPr lang="en-US" altLang="zh-CN" sz="1600" dirty="0" err="1" smtClean="0">
                <a:solidFill>
                  <a:srgbClr val="009EFF"/>
                </a:solidFill>
              </a:rPr>
              <a:t>Js</a:t>
            </a:r>
            <a:r>
              <a:rPr lang="zh-CN" altLang="en-US" sz="1600" dirty="0" smtClean="0">
                <a:solidFill>
                  <a:srgbClr val="009EFF"/>
                </a:solidFill>
              </a:rPr>
              <a:t>本地存、取前加合法性验证</a:t>
            </a:r>
            <a:endParaRPr lang="en-US" altLang="zh-CN" sz="1800" dirty="0" smtClean="0">
              <a:solidFill>
                <a:srgbClr val="009EFF"/>
              </a:solidFill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27CAE95-0A4C-4FC1-B81C-A5798E0B0A68}" type="slidenum">
              <a:rPr lang="zh-CN" altLang="en-US" smtClean="0"/>
              <a:pPr/>
              <a:t>9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035749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资源本地存储</a:t>
            </a: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ts val="800"/>
              </a:spcBef>
            </a:pPr>
            <a:r>
              <a:rPr lang="zh-CN" altLang="zh-CN" sz="2400" b="1" dirty="0"/>
              <a:t>自动化版本号管理</a:t>
            </a:r>
            <a:endParaRPr lang="en-US" altLang="zh-CN" sz="2400" dirty="0" smtClean="0"/>
          </a:p>
          <a:p>
            <a:pPr lvl="1">
              <a:spcBef>
                <a:spcPts val="800"/>
              </a:spcBef>
            </a:pPr>
            <a:r>
              <a:rPr lang="zh-CN" altLang="en-US" sz="2000" dirty="0"/>
              <a:t>通过</a:t>
            </a:r>
            <a:r>
              <a:rPr lang="en-US" altLang="zh-CN" sz="2000" dirty="0" err="1"/>
              <a:t>svn</a:t>
            </a:r>
            <a:r>
              <a:rPr lang="zh-CN" altLang="en-US" sz="2000" dirty="0"/>
              <a:t>钩子实现前端</a:t>
            </a:r>
            <a:r>
              <a:rPr lang="en-US" altLang="zh-CN" sz="2000" dirty="0" err="1"/>
              <a:t>js</a:t>
            </a:r>
            <a:r>
              <a:rPr lang="zh-CN" altLang="en-US" sz="2000" dirty="0"/>
              <a:t>文件的版本号管理，配置该</a:t>
            </a:r>
            <a:r>
              <a:rPr lang="en-US" altLang="zh-CN" sz="2000" dirty="0" err="1"/>
              <a:t>svn</a:t>
            </a:r>
            <a:r>
              <a:rPr lang="en-US" altLang="zh-CN" sz="2000" dirty="0"/>
              <a:t> hook</a:t>
            </a:r>
            <a:r>
              <a:rPr lang="zh-CN" altLang="en-US" sz="2000" dirty="0"/>
              <a:t>后，每次提交</a:t>
            </a:r>
            <a:r>
              <a:rPr lang="en-US" altLang="zh-CN" sz="2000" dirty="0" err="1"/>
              <a:t>js</a:t>
            </a:r>
            <a:r>
              <a:rPr lang="zh-CN" altLang="en-US" sz="2000" dirty="0"/>
              <a:t>文件都会自动更新</a:t>
            </a:r>
            <a:r>
              <a:rPr lang="en-US" altLang="zh-CN" sz="2000" dirty="0"/>
              <a:t>manifest.js</a:t>
            </a:r>
            <a:r>
              <a:rPr lang="zh-CN" altLang="en-US" sz="2000" dirty="0"/>
              <a:t>配置文件</a:t>
            </a:r>
            <a:endParaRPr lang="en-US" altLang="zh-CN" sz="1800" dirty="0" smtClean="0">
              <a:solidFill>
                <a:srgbClr val="009EFF"/>
              </a:solidFill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44527" y="2924944"/>
            <a:ext cx="3854946" cy="30262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灯片编号占位符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27CAE95-0A4C-4FC1-B81C-A5798E0B0A68}" type="slidenum">
              <a:rPr lang="zh-CN" altLang="en-US" smtClean="0"/>
              <a:pPr/>
              <a:t>10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634843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http 304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conditional </a:t>
            </a:r>
            <a:r>
              <a:rPr lang="en-US" altLang="zh-CN" dirty="0" smtClean="0"/>
              <a:t>request</a:t>
            </a:r>
          </a:p>
          <a:p>
            <a:pPr lvl="1"/>
            <a:r>
              <a:rPr lang="en-US" altLang="zh-CN" dirty="0" smtClean="0"/>
              <a:t>Cache-control</a:t>
            </a:r>
          </a:p>
          <a:p>
            <a:pPr lvl="2"/>
            <a:r>
              <a:rPr lang="en-US" altLang="zh-CN" dirty="0" smtClean="0"/>
              <a:t>If-Modified-Since</a:t>
            </a:r>
          </a:p>
          <a:p>
            <a:pPr lvl="2"/>
            <a:endParaRPr lang="en-US" altLang="zh-CN" dirty="0" smtClean="0"/>
          </a:p>
          <a:p>
            <a:pPr lvl="1"/>
            <a:r>
              <a:rPr lang="en-US" altLang="zh-CN" dirty="0" err="1" smtClean="0"/>
              <a:t>Etag</a:t>
            </a:r>
            <a:endParaRPr lang="en-US" altLang="zh-CN" dirty="0" smtClean="0"/>
          </a:p>
          <a:p>
            <a:pPr lvl="2"/>
            <a:r>
              <a:rPr lang="en-US" altLang="zh-CN" dirty="0" smtClean="0"/>
              <a:t>If-None-Match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27CAE95-0A4C-4FC1-B81C-A5798E0B0A68}" type="slidenum">
              <a:rPr lang="zh-CN" altLang="en-US" smtClean="0"/>
              <a:pPr/>
              <a:t>11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360318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zh-CN" dirty="0" err="1" smtClean="0"/>
              <a:t>Etag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27CAE95-0A4C-4FC1-B81C-A5798E0B0A68}" type="slidenum">
              <a:rPr lang="zh-CN" altLang="en-US" smtClean="0"/>
              <a:pPr/>
              <a:t>12</a:t>
            </a:fld>
            <a:endParaRPr lang="zh-CN" altLang="en-US" dirty="0"/>
          </a:p>
        </p:txBody>
      </p:sp>
      <p:grpSp>
        <p:nvGrpSpPr>
          <p:cNvPr id="9" name="组合 8"/>
          <p:cNvGrpSpPr/>
          <p:nvPr/>
        </p:nvGrpSpPr>
        <p:grpSpPr>
          <a:xfrm>
            <a:off x="2652390" y="764704"/>
            <a:ext cx="4799930" cy="5184576"/>
            <a:chOff x="4644008" y="692696"/>
            <a:chExt cx="4032448" cy="4752528"/>
          </a:xfrm>
        </p:grpSpPr>
        <p:sp>
          <p:nvSpPr>
            <p:cNvPr id="10" name="圆角矩形 9"/>
            <p:cNvSpPr/>
            <p:nvPr/>
          </p:nvSpPr>
          <p:spPr>
            <a:xfrm>
              <a:off x="5471776" y="692696"/>
              <a:ext cx="1296144" cy="432048"/>
            </a:xfrm>
            <a:prstGeom prst="roundRect">
              <a:avLst>
                <a:gd name="adj" fmla="val 50000"/>
              </a:avLst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dirty="0" smtClean="0"/>
                <a:t>用户请求</a:t>
              </a:r>
              <a:endParaRPr lang="zh-CN" altLang="en-US" sz="1400" dirty="0"/>
            </a:p>
          </p:txBody>
        </p:sp>
        <p:sp>
          <p:nvSpPr>
            <p:cNvPr id="11" name="矩形 10"/>
            <p:cNvSpPr/>
            <p:nvPr/>
          </p:nvSpPr>
          <p:spPr>
            <a:xfrm>
              <a:off x="5579788" y="1412776"/>
              <a:ext cx="1080120" cy="360040"/>
            </a:xfrm>
            <a:prstGeom prst="rect">
              <a:avLst/>
            </a:prstGeom>
            <a:ln>
              <a:noFill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1000" dirty="0" smtClean="0"/>
                <a:t>读取本地</a:t>
              </a:r>
              <a:r>
                <a:rPr lang="en-US" altLang="zh-CN" sz="1000" dirty="0" err="1" smtClean="0"/>
                <a:t>etag</a:t>
              </a:r>
              <a:endParaRPr lang="zh-CN" altLang="en-US" sz="1000" dirty="0"/>
            </a:p>
          </p:txBody>
        </p:sp>
        <p:sp>
          <p:nvSpPr>
            <p:cNvPr id="12" name="矩形 11"/>
            <p:cNvSpPr/>
            <p:nvPr/>
          </p:nvSpPr>
          <p:spPr>
            <a:xfrm>
              <a:off x="5579788" y="2060848"/>
              <a:ext cx="1080120" cy="360040"/>
            </a:xfrm>
            <a:prstGeom prst="rect">
              <a:avLst/>
            </a:prstGeom>
            <a:ln>
              <a:noFill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1000" dirty="0" smtClean="0"/>
                <a:t>构造</a:t>
              </a:r>
              <a:r>
                <a:rPr lang="en-US" altLang="zh-CN" sz="1000" dirty="0" err="1" smtClean="0"/>
                <a:t>etag</a:t>
              </a:r>
              <a:r>
                <a:rPr lang="zh-CN" altLang="en-US" sz="1000" dirty="0" smtClean="0"/>
                <a:t>请求</a:t>
              </a:r>
              <a:endParaRPr lang="zh-CN" altLang="en-US" sz="1000" dirty="0"/>
            </a:p>
          </p:txBody>
        </p:sp>
        <p:sp>
          <p:nvSpPr>
            <p:cNvPr id="13" name="菱形 12"/>
            <p:cNvSpPr/>
            <p:nvPr/>
          </p:nvSpPr>
          <p:spPr>
            <a:xfrm>
              <a:off x="5433399" y="2780928"/>
              <a:ext cx="1372898" cy="576064"/>
            </a:xfrm>
            <a:prstGeom prst="diamond">
              <a:avLst/>
            </a:prstGeom>
            <a:ln>
              <a:noFill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dirty="0" smtClean="0"/>
                <a:t>Server</a:t>
              </a:r>
              <a:r>
                <a:rPr lang="zh-CN" altLang="en-US" sz="1000" dirty="0" smtClean="0"/>
                <a:t>比较</a:t>
              </a:r>
              <a:r>
                <a:rPr lang="en-US" altLang="zh-CN" sz="1000" dirty="0" err="1" smtClean="0"/>
                <a:t>etag</a:t>
              </a:r>
              <a:endParaRPr lang="zh-CN" altLang="en-US" sz="1000" dirty="0"/>
            </a:p>
          </p:txBody>
        </p:sp>
        <p:sp>
          <p:nvSpPr>
            <p:cNvPr id="14" name="矩形 13"/>
            <p:cNvSpPr/>
            <p:nvPr/>
          </p:nvSpPr>
          <p:spPr>
            <a:xfrm>
              <a:off x="4644008" y="3645024"/>
              <a:ext cx="1080120" cy="360040"/>
            </a:xfrm>
            <a:prstGeom prst="rect">
              <a:avLst/>
            </a:prstGeom>
            <a:ln>
              <a:noFill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1000" dirty="0"/>
                <a:t>使用</a:t>
              </a:r>
              <a:r>
                <a:rPr lang="en-US" altLang="zh-CN" sz="1000" dirty="0" smtClean="0"/>
                <a:t>server</a:t>
              </a:r>
              <a:r>
                <a:rPr lang="zh-CN" altLang="en-US" sz="1000" dirty="0" smtClean="0"/>
                <a:t>数据</a:t>
              </a:r>
              <a:endParaRPr lang="zh-CN" altLang="en-US" sz="1000" dirty="0"/>
            </a:p>
          </p:txBody>
        </p:sp>
        <p:sp>
          <p:nvSpPr>
            <p:cNvPr id="15" name="矩形 14"/>
            <p:cNvSpPr/>
            <p:nvPr/>
          </p:nvSpPr>
          <p:spPr>
            <a:xfrm>
              <a:off x="7380312" y="4005064"/>
              <a:ext cx="1080120" cy="360040"/>
            </a:xfrm>
            <a:prstGeom prst="rect">
              <a:avLst/>
            </a:prstGeom>
            <a:ln>
              <a:noFill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1000" dirty="0" smtClean="0"/>
                <a:t>使用</a:t>
              </a:r>
              <a:r>
                <a:rPr lang="en-US" altLang="zh-CN" sz="1000" dirty="0" smtClean="0"/>
                <a:t>local</a:t>
              </a:r>
              <a:r>
                <a:rPr lang="zh-CN" altLang="en-US" sz="1000" dirty="0" smtClean="0"/>
                <a:t>数据</a:t>
              </a:r>
              <a:endParaRPr lang="zh-CN" altLang="en-US" sz="1000" dirty="0"/>
            </a:p>
          </p:txBody>
        </p:sp>
        <p:sp>
          <p:nvSpPr>
            <p:cNvPr id="16" name="圆角矩形 15"/>
            <p:cNvSpPr/>
            <p:nvPr/>
          </p:nvSpPr>
          <p:spPr>
            <a:xfrm>
              <a:off x="5471776" y="5013176"/>
              <a:ext cx="1296144" cy="432048"/>
            </a:xfrm>
            <a:prstGeom prst="roundRect">
              <a:avLst>
                <a:gd name="adj" fmla="val 50000"/>
              </a:avLst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dirty="0" smtClean="0"/>
                <a:t>展示</a:t>
              </a:r>
              <a:endParaRPr lang="zh-CN" altLang="en-US" sz="1400" dirty="0"/>
            </a:p>
          </p:txBody>
        </p:sp>
        <p:sp>
          <p:nvSpPr>
            <p:cNvPr id="17" name="流程图: 内部贮存 16"/>
            <p:cNvSpPr/>
            <p:nvPr/>
          </p:nvSpPr>
          <p:spPr>
            <a:xfrm>
              <a:off x="7164288" y="1412776"/>
              <a:ext cx="1512168" cy="360040"/>
            </a:xfrm>
            <a:prstGeom prst="flowChartInternalStorag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000" dirty="0" smtClean="0"/>
                <a:t>本地存储</a:t>
              </a:r>
              <a:endParaRPr lang="zh-CN" altLang="en-US" sz="1000" dirty="0"/>
            </a:p>
          </p:txBody>
        </p:sp>
        <p:cxnSp>
          <p:nvCxnSpPr>
            <p:cNvPr id="18" name="直接箭头连接符 17"/>
            <p:cNvCxnSpPr>
              <a:stCxn id="10" idx="2"/>
            </p:cNvCxnSpPr>
            <p:nvPr/>
          </p:nvCxnSpPr>
          <p:spPr>
            <a:xfrm>
              <a:off x="6119848" y="1124744"/>
              <a:ext cx="0" cy="288032"/>
            </a:xfrm>
            <a:prstGeom prst="straightConnector1">
              <a:avLst/>
            </a:prstGeom>
            <a:ln w="9525">
              <a:solidFill>
                <a:schemeClr val="tx1">
                  <a:lumMod val="65000"/>
                  <a:lumOff val="35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箭头连接符 18"/>
            <p:cNvCxnSpPr>
              <a:stCxn id="12" idx="2"/>
              <a:endCxn id="13" idx="0"/>
            </p:cNvCxnSpPr>
            <p:nvPr/>
          </p:nvCxnSpPr>
          <p:spPr>
            <a:xfrm>
              <a:off x="6119848" y="2420888"/>
              <a:ext cx="0" cy="360040"/>
            </a:xfrm>
            <a:prstGeom prst="straightConnector1">
              <a:avLst/>
            </a:prstGeom>
            <a:ln w="9525">
              <a:solidFill>
                <a:schemeClr val="tx1">
                  <a:lumMod val="65000"/>
                  <a:lumOff val="35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箭头连接符 19"/>
            <p:cNvCxnSpPr>
              <a:stCxn id="11" idx="2"/>
              <a:endCxn id="12" idx="0"/>
            </p:cNvCxnSpPr>
            <p:nvPr/>
          </p:nvCxnSpPr>
          <p:spPr>
            <a:xfrm>
              <a:off x="6119848" y="1772816"/>
              <a:ext cx="0" cy="288032"/>
            </a:xfrm>
            <a:prstGeom prst="straightConnector1">
              <a:avLst/>
            </a:prstGeom>
            <a:ln w="9525">
              <a:solidFill>
                <a:schemeClr val="tx1">
                  <a:lumMod val="65000"/>
                  <a:lumOff val="35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肘形连接符 20"/>
            <p:cNvCxnSpPr>
              <a:stCxn id="13" idx="1"/>
              <a:endCxn id="14" idx="0"/>
            </p:cNvCxnSpPr>
            <p:nvPr/>
          </p:nvCxnSpPr>
          <p:spPr>
            <a:xfrm rot="10800000" flipV="1">
              <a:off x="5184069" y="3068960"/>
              <a:ext cx="249331" cy="576064"/>
            </a:xfrm>
            <a:prstGeom prst="bentConnector2">
              <a:avLst/>
            </a:prstGeom>
            <a:ln w="9525">
              <a:solidFill>
                <a:schemeClr val="tx1">
                  <a:lumMod val="65000"/>
                  <a:lumOff val="35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肘形连接符 21"/>
            <p:cNvCxnSpPr>
              <a:stCxn id="14" idx="3"/>
            </p:cNvCxnSpPr>
            <p:nvPr/>
          </p:nvCxnSpPr>
          <p:spPr>
            <a:xfrm flipV="1">
              <a:off x="5724128" y="1772816"/>
              <a:ext cx="2016224" cy="2052228"/>
            </a:xfrm>
            <a:prstGeom prst="bentConnector2">
              <a:avLst/>
            </a:prstGeom>
            <a:ln w="9525">
              <a:solidFill>
                <a:schemeClr val="tx1">
                  <a:lumMod val="65000"/>
                  <a:lumOff val="35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肘形连接符 22"/>
            <p:cNvCxnSpPr>
              <a:stCxn id="15" idx="2"/>
              <a:endCxn id="16" idx="0"/>
            </p:cNvCxnSpPr>
            <p:nvPr/>
          </p:nvCxnSpPr>
          <p:spPr>
            <a:xfrm rot="5400000">
              <a:off x="6696074" y="3788878"/>
              <a:ext cx="648072" cy="1800524"/>
            </a:xfrm>
            <a:prstGeom prst="bentConnector3">
              <a:avLst>
                <a:gd name="adj1" fmla="val 51227"/>
              </a:avLst>
            </a:prstGeom>
            <a:ln>
              <a:solidFill>
                <a:schemeClr val="tx1">
                  <a:lumMod val="65000"/>
                  <a:lumOff val="3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箭头连接符 23"/>
            <p:cNvCxnSpPr>
              <a:stCxn id="17" idx="2"/>
              <a:endCxn id="15" idx="0"/>
            </p:cNvCxnSpPr>
            <p:nvPr/>
          </p:nvCxnSpPr>
          <p:spPr>
            <a:xfrm>
              <a:off x="7920372" y="1772816"/>
              <a:ext cx="0" cy="2232248"/>
            </a:xfrm>
            <a:prstGeom prst="straightConnector1">
              <a:avLst/>
            </a:prstGeom>
            <a:ln w="9525">
              <a:solidFill>
                <a:schemeClr val="tx1">
                  <a:lumMod val="65000"/>
                  <a:lumOff val="35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24"/>
            <p:cNvCxnSpPr>
              <a:stCxn id="13" idx="3"/>
            </p:cNvCxnSpPr>
            <p:nvPr/>
          </p:nvCxnSpPr>
          <p:spPr>
            <a:xfrm>
              <a:off x="6806297" y="3068960"/>
              <a:ext cx="1114075" cy="0"/>
            </a:xfrm>
            <a:prstGeom prst="line">
              <a:avLst/>
            </a:prstGeom>
            <a:ln w="9525">
              <a:solidFill>
                <a:schemeClr val="tx1">
                  <a:lumMod val="65000"/>
                  <a:lumOff val="35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箭头连接符 25"/>
            <p:cNvCxnSpPr>
              <a:stCxn id="17" idx="1"/>
            </p:cNvCxnSpPr>
            <p:nvPr/>
          </p:nvCxnSpPr>
          <p:spPr>
            <a:xfrm flipH="1">
              <a:off x="6659908" y="1592796"/>
              <a:ext cx="504380" cy="0"/>
            </a:xfrm>
            <a:prstGeom prst="straightConnector1">
              <a:avLst/>
            </a:prstGeom>
            <a:ln w="9525">
              <a:solidFill>
                <a:schemeClr val="tx1">
                  <a:lumMod val="65000"/>
                  <a:lumOff val="35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肘形连接符 26"/>
            <p:cNvCxnSpPr>
              <a:stCxn id="14" idx="2"/>
              <a:endCxn id="16" idx="0"/>
            </p:cNvCxnSpPr>
            <p:nvPr/>
          </p:nvCxnSpPr>
          <p:spPr>
            <a:xfrm rot="16200000" flipH="1">
              <a:off x="5147902" y="4041230"/>
              <a:ext cx="1008112" cy="935780"/>
            </a:xfrm>
            <a:prstGeom prst="bentConnector3">
              <a:avLst>
                <a:gd name="adj1" fmla="val 68930"/>
              </a:avLst>
            </a:prstGeom>
            <a:ln w="9525">
              <a:solidFill>
                <a:schemeClr val="tx1">
                  <a:lumMod val="65000"/>
                  <a:lumOff val="35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Box 27"/>
            <p:cNvSpPr txBox="1"/>
            <p:nvPr/>
          </p:nvSpPr>
          <p:spPr>
            <a:xfrm>
              <a:off x="4978723" y="3233881"/>
              <a:ext cx="410690" cy="246221"/>
            </a:xfrm>
            <a:prstGeom prst="rect">
              <a:avLst/>
            </a:prstGeom>
            <a:ln w="952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r>
                <a:rPr lang="en-US" altLang="zh-CN" sz="1000" dirty="0" smtClean="0"/>
                <a:t>200</a:t>
              </a:r>
              <a:endParaRPr lang="zh-CN" altLang="en-US" sz="1000" dirty="0"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7020110" y="2945849"/>
              <a:ext cx="410690" cy="246221"/>
            </a:xfrm>
            <a:prstGeom prst="rect">
              <a:avLst/>
            </a:prstGeom>
            <a:ln w="952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r>
                <a:rPr lang="en-US" altLang="zh-CN" sz="1000" dirty="0" smtClean="0"/>
                <a:t>304</a:t>
              </a:r>
              <a:endParaRPr lang="zh-CN" altLang="en-US" sz="1000" dirty="0"/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6435110" y="3701931"/>
              <a:ext cx="441146" cy="246221"/>
            </a:xfrm>
            <a:prstGeom prst="rect">
              <a:avLst/>
            </a:prstGeom>
            <a:ln w="952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r>
                <a:rPr lang="zh-CN" altLang="en-US" sz="1000" dirty="0" smtClean="0"/>
                <a:t>更新</a:t>
              </a:r>
              <a:endParaRPr lang="zh-CN" altLang="en-US" sz="1000" dirty="0"/>
            </a:p>
          </p:txBody>
        </p:sp>
      </p:grpSp>
    </p:spTree>
    <p:extLst>
      <p:ext uri="{BB962C8B-B14F-4D97-AF65-F5344CB8AC3E}">
        <p14:creationId xmlns:p14="http://schemas.microsoft.com/office/powerpoint/2010/main" val="13642188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 smtClean="0"/>
              <a:t>Etag</a:t>
            </a:r>
            <a:endParaRPr lang="zh-CN" altLang="en-US" dirty="0"/>
          </a:p>
        </p:txBody>
      </p:sp>
      <p:sp>
        <p:nvSpPr>
          <p:cNvPr id="57" name="内容占位符 5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err="1" smtClean="0"/>
              <a:t>Etag</a:t>
            </a:r>
            <a:r>
              <a:rPr lang="en-US" altLang="zh-CN" dirty="0" smtClean="0"/>
              <a:t> &amp; </a:t>
            </a:r>
            <a:r>
              <a:rPr lang="zh-CN" altLang="en-US" dirty="0" smtClean="0"/>
              <a:t>本地存储</a:t>
            </a:r>
            <a:endParaRPr lang="en-US" altLang="zh-CN" dirty="0" smtClean="0"/>
          </a:p>
        </p:txBody>
      </p:sp>
      <p:sp>
        <p:nvSpPr>
          <p:cNvPr id="3" name="矩形 2"/>
          <p:cNvSpPr/>
          <p:nvPr/>
        </p:nvSpPr>
        <p:spPr>
          <a:xfrm>
            <a:off x="1793034" y="2636912"/>
            <a:ext cx="5622052" cy="1138773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r>
              <a:rPr lang="zh-CN" altLang="en-US" sz="3200" dirty="0" smtClean="0">
                <a:latin typeface="微软雅黑" pitchFamily="34" charset="-122"/>
                <a:ea typeface="微软雅黑" pitchFamily="34" charset="-122"/>
              </a:rPr>
              <a:t>同比</a:t>
            </a:r>
            <a:r>
              <a:rPr lang="zh-CN" altLang="zh-CN" sz="3200" dirty="0" smtClean="0">
                <a:latin typeface="微软雅黑" pitchFamily="34" charset="-122"/>
                <a:ea typeface="微软雅黑" pitchFamily="34" charset="-122"/>
              </a:rPr>
              <a:t>大概</a:t>
            </a:r>
            <a:r>
              <a:rPr lang="zh-CN" altLang="zh-CN" sz="3200" dirty="0">
                <a:latin typeface="微软雅黑" pitchFamily="34" charset="-122"/>
                <a:ea typeface="微软雅黑" pitchFamily="34" charset="-122"/>
              </a:rPr>
              <a:t>节约了</a:t>
            </a:r>
            <a:r>
              <a:rPr lang="en-US" altLang="zh-CN" sz="4800" b="1" dirty="0">
                <a:solidFill>
                  <a:srgbClr val="009EFF"/>
                </a:solidFill>
                <a:latin typeface="微软雅黑" pitchFamily="34" charset="-122"/>
                <a:ea typeface="微软雅黑" pitchFamily="34" charset="-122"/>
              </a:rPr>
              <a:t>40%</a:t>
            </a:r>
            <a:r>
              <a:rPr lang="zh-CN" altLang="zh-CN" sz="3200" dirty="0">
                <a:latin typeface="微软雅黑" pitchFamily="34" charset="-122"/>
                <a:ea typeface="微软雅黑" pitchFamily="34" charset="-122"/>
              </a:rPr>
              <a:t>的</a:t>
            </a:r>
            <a:r>
              <a:rPr lang="zh-CN" altLang="zh-CN" sz="3200" dirty="0" smtClean="0">
                <a:latin typeface="微软雅黑" pitchFamily="34" charset="-122"/>
                <a:ea typeface="微软雅黑" pitchFamily="34" charset="-122"/>
              </a:rPr>
              <a:t>流量</a:t>
            </a:r>
            <a:endParaRPr lang="en-US" altLang="zh-CN" sz="3200" dirty="0" smtClean="0">
              <a:latin typeface="微软雅黑" pitchFamily="34" charset="-122"/>
              <a:ea typeface="微软雅黑" pitchFamily="34" charset="-122"/>
            </a:endParaRPr>
          </a:p>
          <a:p>
            <a:endParaRPr lang="zh-CN" altLang="en-US" sz="2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27CAE95-0A4C-4FC1-B81C-A5798E0B0A68}" type="slidenum">
              <a:rPr lang="zh-CN" altLang="en-US" smtClean="0"/>
              <a:pPr/>
              <a:t>13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220868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但</a:t>
            </a:r>
            <a:r>
              <a:rPr lang="zh-CN" altLang="en-US" dirty="0"/>
              <a:t>是</a:t>
            </a:r>
            <a:r>
              <a:rPr lang="en-US" altLang="zh-CN" dirty="0" smtClean="0"/>
              <a:t>…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性能的提升不会显著增加</a:t>
            </a:r>
            <a:r>
              <a:rPr lang="zh-CN" altLang="en-US" dirty="0" smtClean="0"/>
              <a:t>用户，要倾听用户的心声，满足他们更多的需求</a:t>
            </a:r>
            <a:endParaRPr lang="en-US" altLang="zh-CN" dirty="0"/>
          </a:p>
          <a:p>
            <a:endParaRPr lang="en-US" altLang="zh-CN" dirty="0" smtClean="0"/>
          </a:p>
          <a:p>
            <a:pPr lvl="1"/>
            <a:r>
              <a:rPr lang="zh-CN" altLang="en-US" dirty="0" smtClean="0"/>
              <a:t>拍照上传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27CAE95-0A4C-4FC1-B81C-A5798E0B0A68}" type="slidenum">
              <a:rPr lang="zh-CN" altLang="en-US" smtClean="0"/>
              <a:pPr/>
              <a:t>14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989294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009EFF"/>
                </a:solidFill>
              </a:rPr>
              <a:t>拍照压缩上</a:t>
            </a:r>
            <a:r>
              <a:rPr lang="zh-CN" altLang="en-US" dirty="0" smtClean="0">
                <a:solidFill>
                  <a:srgbClr val="009EFF"/>
                </a:solidFill>
              </a:rPr>
              <a:t>传</a:t>
            </a:r>
            <a:endParaRPr lang="zh-CN" altLang="en-US" dirty="0">
              <a:solidFill>
                <a:srgbClr val="009EFF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基本原理</a:t>
            </a:r>
            <a:endParaRPr lang="en-US" altLang="zh-CN" dirty="0">
              <a:latin typeface="微软雅黑" pitchFamily="34" charset="-122"/>
              <a:ea typeface="微软雅黑" pitchFamily="34" charset="-122"/>
            </a:endParaRPr>
          </a:p>
          <a:p>
            <a:pPr lvl="1"/>
            <a:r>
              <a:rPr lang="zh-CN" altLang="en-US" sz="1600" dirty="0" smtClean="0">
                <a:latin typeface="微软雅黑" pitchFamily="34" charset="-122"/>
                <a:ea typeface="微软雅黑" pitchFamily="34" charset="-122"/>
              </a:rPr>
              <a:t>通过</a:t>
            </a:r>
            <a:r>
              <a:rPr lang="en-US" altLang="zh-CN" sz="1600" dirty="0">
                <a:latin typeface="微软雅黑" pitchFamily="34" charset="-122"/>
                <a:ea typeface="微软雅黑" pitchFamily="34" charset="-122"/>
              </a:rPr>
              <a:t>input type=file</a:t>
            </a:r>
            <a:r>
              <a:rPr lang="zh-CN" altLang="en-US" sz="1600" dirty="0">
                <a:latin typeface="微软雅黑" pitchFamily="34" charset="-122"/>
                <a:ea typeface="微软雅黑" pitchFamily="34" charset="-122"/>
              </a:rPr>
              <a:t>选择本地图片</a:t>
            </a:r>
          </a:p>
          <a:p>
            <a:pPr lvl="1"/>
            <a:r>
              <a:rPr lang="zh-CN" altLang="en-US" sz="1600" dirty="0" smtClean="0">
                <a:latin typeface="微软雅黑" pitchFamily="34" charset="-122"/>
                <a:ea typeface="微软雅黑" pitchFamily="34" charset="-122"/>
              </a:rPr>
              <a:t>通过</a:t>
            </a:r>
            <a:r>
              <a:rPr lang="en-US" altLang="zh-CN" sz="1600" dirty="0" err="1">
                <a:latin typeface="微软雅黑" pitchFamily="34" charset="-122"/>
                <a:ea typeface="微软雅黑" pitchFamily="34" charset="-122"/>
              </a:rPr>
              <a:t>FileReader</a:t>
            </a:r>
            <a:r>
              <a:rPr lang="en-US" altLang="zh-CN" sz="1600" dirty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1600" dirty="0" err="1">
                <a:latin typeface="微软雅黑" pitchFamily="34" charset="-122"/>
                <a:ea typeface="微软雅黑" pitchFamily="34" charset="-122"/>
              </a:rPr>
              <a:t>Api</a:t>
            </a:r>
            <a:r>
              <a:rPr lang="zh-CN" altLang="en-US" sz="1600" dirty="0">
                <a:latin typeface="微软雅黑" pitchFamily="34" charset="-122"/>
                <a:ea typeface="微软雅黑" pitchFamily="34" charset="-122"/>
              </a:rPr>
              <a:t>获取本地图片数据</a:t>
            </a:r>
          </a:p>
          <a:p>
            <a:pPr lvl="1"/>
            <a:r>
              <a:rPr lang="zh-CN" altLang="en-US" sz="1600" dirty="0" smtClean="0">
                <a:latin typeface="微软雅黑" pitchFamily="34" charset="-122"/>
                <a:ea typeface="微软雅黑" pitchFamily="34" charset="-122"/>
              </a:rPr>
              <a:t>将</a:t>
            </a:r>
            <a:r>
              <a:rPr lang="zh-CN" altLang="en-US" sz="1600" dirty="0">
                <a:latin typeface="微软雅黑" pitchFamily="34" charset="-122"/>
                <a:ea typeface="微软雅黑" pitchFamily="34" charset="-122"/>
              </a:rPr>
              <a:t>本地大尺寸图片渲染到尺寸更小的</a:t>
            </a:r>
            <a:r>
              <a:rPr lang="en-US" altLang="zh-CN" sz="1600" dirty="0">
                <a:latin typeface="微软雅黑" pitchFamily="34" charset="-122"/>
                <a:ea typeface="微软雅黑" pitchFamily="34" charset="-122"/>
              </a:rPr>
              <a:t>canvas</a:t>
            </a:r>
          </a:p>
          <a:p>
            <a:pPr lvl="1"/>
            <a:r>
              <a:rPr lang="zh-CN" altLang="en-US" sz="1600" dirty="0" smtClean="0">
                <a:latin typeface="微软雅黑" pitchFamily="34" charset="-122"/>
                <a:ea typeface="微软雅黑" pitchFamily="34" charset="-122"/>
              </a:rPr>
              <a:t>通过</a:t>
            </a:r>
            <a:r>
              <a:rPr lang="en-US" altLang="zh-CN" sz="1600" dirty="0">
                <a:latin typeface="微软雅黑" pitchFamily="34" charset="-122"/>
                <a:ea typeface="微软雅黑" pitchFamily="34" charset="-122"/>
              </a:rPr>
              <a:t>canvas</a:t>
            </a:r>
            <a:r>
              <a:rPr lang="zh-CN" altLang="en-US" sz="1600" dirty="0">
                <a:latin typeface="微软雅黑" pitchFamily="34" charset="-122"/>
                <a:ea typeface="微软雅黑" pitchFamily="34" charset="-122"/>
              </a:rPr>
              <a:t>生成被缩放后的小图的</a:t>
            </a:r>
            <a:r>
              <a:rPr lang="en-US" altLang="zh-CN" sz="1600" dirty="0">
                <a:latin typeface="微软雅黑" pitchFamily="34" charset="-122"/>
                <a:ea typeface="微软雅黑" pitchFamily="34" charset="-122"/>
              </a:rPr>
              <a:t>base64</a:t>
            </a:r>
            <a:r>
              <a:rPr lang="zh-CN" altLang="en-US" sz="1600" dirty="0">
                <a:latin typeface="微软雅黑" pitchFamily="34" charset="-122"/>
                <a:ea typeface="微软雅黑" pitchFamily="34" charset="-122"/>
              </a:rPr>
              <a:t>字符串</a:t>
            </a:r>
          </a:p>
          <a:p>
            <a:pPr lvl="1"/>
            <a:r>
              <a:rPr lang="en-US" altLang="zh-CN" sz="1600" dirty="0" smtClean="0">
                <a:latin typeface="微软雅黑" pitchFamily="34" charset="-122"/>
                <a:ea typeface="微软雅黑" pitchFamily="34" charset="-122"/>
              </a:rPr>
              <a:t>base64</a:t>
            </a:r>
            <a:r>
              <a:rPr lang="zh-CN" altLang="en-US" sz="1600" dirty="0">
                <a:latin typeface="微软雅黑" pitchFamily="34" charset="-122"/>
                <a:ea typeface="微软雅黑" pitchFamily="34" charset="-122"/>
              </a:rPr>
              <a:t>字符串可以用来本地预览和</a:t>
            </a:r>
            <a:r>
              <a:rPr lang="en-US" altLang="zh-CN" sz="1600" dirty="0" err="1">
                <a:latin typeface="微软雅黑" pitchFamily="34" charset="-122"/>
                <a:ea typeface="微软雅黑" pitchFamily="34" charset="-122"/>
              </a:rPr>
              <a:t>ajax</a:t>
            </a:r>
            <a:r>
              <a:rPr lang="zh-CN" altLang="en-US" sz="1600" dirty="0">
                <a:latin typeface="微软雅黑" pitchFamily="34" charset="-122"/>
                <a:ea typeface="微软雅黑" pitchFamily="34" charset="-122"/>
              </a:rPr>
              <a:t>上传</a:t>
            </a: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899592" y="3933056"/>
            <a:ext cx="7488832" cy="2160240"/>
            <a:chOff x="899592" y="4221088"/>
            <a:chExt cx="7488832" cy="2160240"/>
          </a:xfrm>
        </p:grpSpPr>
        <p:graphicFrame>
          <p:nvGraphicFramePr>
            <p:cNvPr id="4" name="图示 3"/>
            <p:cNvGraphicFramePr/>
            <p:nvPr>
              <p:extLst>
                <p:ext uri="{D42A27DB-BD31-4B8C-83A1-F6EECF244321}">
                  <p14:modId xmlns:p14="http://schemas.microsoft.com/office/powerpoint/2010/main" val="1855725620"/>
                </p:ext>
              </p:extLst>
            </p:nvPr>
          </p:nvGraphicFramePr>
          <p:xfrm>
            <a:off x="899592" y="4941168"/>
            <a:ext cx="7488832" cy="1440160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2" r:lo="rId3" r:qs="rId4" r:cs="rId5"/>
            </a:graphicData>
          </a:graphic>
        </p:graphicFrame>
        <p:cxnSp>
          <p:nvCxnSpPr>
            <p:cNvPr id="6" name="直接箭头连接符 5"/>
            <p:cNvCxnSpPr/>
            <p:nvPr/>
          </p:nvCxnSpPr>
          <p:spPr>
            <a:xfrm flipV="1">
              <a:off x="2627784" y="4653112"/>
              <a:ext cx="0" cy="792088"/>
            </a:xfrm>
            <a:prstGeom prst="straightConnector1">
              <a:avLst/>
            </a:prstGeom>
            <a:ln w="76200">
              <a:solidFill>
                <a:schemeClr val="accent1">
                  <a:lumMod val="60000"/>
                  <a:lumOff val="40000"/>
                </a:schemeClr>
              </a:solidFill>
              <a:prstDash val="sysDot"/>
              <a:headEnd type="none" w="med" len="med"/>
              <a:tailEnd type="triangle" w="med" len="med"/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  <p:sp>
          <p:nvSpPr>
            <p:cNvPr id="10" name="圆角矩形 9"/>
            <p:cNvSpPr/>
            <p:nvPr/>
          </p:nvSpPr>
          <p:spPr>
            <a:xfrm>
              <a:off x="1907704" y="4221088"/>
              <a:ext cx="1512168" cy="432024"/>
            </a:xfrm>
            <a:prstGeom prst="roundRect">
              <a:avLst>
                <a:gd name="adj" fmla="val 50000"/>
              </a:avLst>
            </a:prstGeom>
            <a:ln>
              <a:noFill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dirty="0" smtClean="0">
                  <a:latin typeface="微软雅黑" pitchFamily="34" charset="-122"/>
                  <a:ea typeface="微软雅黑" pitchFamily="34" charset="-122"/>
                </a:rPr>
                <a:t>图片地址</a:t>
              </a:r>
              <a:endParaRPr lang="zh-CN" altLang="en-US" dirty="0">
                <a:latin typeface="微软雅黑" pitchFamily="34" charset="-122"/>
                <a:ea typeface="微软雅黑" pitchFamily="34" charset="-122"/>
              </a:endParaRPr>
            </a:p>
          </p:txBody>
        </p:sp>
        <p:cxnSp>
          <p:nvCxnSpPr>
            <p:cNvPr id="11" name="直接箭头连接符 10"/>
            <p:cNvCxnSpPr/>
            <p:nvPr/>
          </p:nvCxnSpPr>
          <p:spPr>
            <a:xfrm flipV="1">
              <a:off x="4644008" y="4653112"/>
              <a:ext cx="0" cy="792088"/>
            </a:xfrm>
            <a:prstGeom prst="straightConnector1">
              <a:avLst/>
            </a:prstGeom>
            <a:ln w="76200">
              <a:solidFill>
                <a:schemeClr val="accent1">
                  <a:lumMod val="60000"/>
                  <a:lumOff val="40000"/>
                </a:schemeClr>
              </a:solidFill>
              <a:prstDash val="sysDot"/>
              <a:headEnd type="none" w="med" len="med"/>
              <a:tailEnd type="triangle" w="med" len="med"/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12" name="直接箭头连接符 11"/>
            <p:cNvCxnSpPr/>
            <p:nvPr/>
          </p:nvCxnSpPr>
          <p:spPr>
            <a:xfrm flipV="1">
              <a:off x="6660232" y="4653112"/>
              <a:ext cx="0" cy="792088"/>
            </a:xfrm>
            <a:prstGeom prst="straightConnector1">
              <a:avLst/>
            </a:prstGeom>
            <a:ln w="76200">
              <a:solidFill>
                <a:schemeClr val="accent1">
                  <a:lumMod val="60000"/>
                  <a:lumOff val="40000"/>
                </a:schemeClr>
              </a:solidFill>
              <a:prstDash val="sysDot"/>
              <a:headEnd type="none" w="med" len="med"/>
              <a:tailEnd type="triangle" w="med" len="med"/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  <p:sp>
          <p:nvSpPr>
            <p:cNvPr id="13" name="圆角矩形 12"/>
            <p:cNvSpPr/>
            <p:nvPr/>
          </p:nvSpPr>
          <p:spPr>
            <a:xfrm>
              <a:off x="3887924" y="4221088"/>
              <a:ext cx="1512168" cy="432024"/>
            </a:xfrm>
            <a:prstGeom prst="roundRect">
              <a:avLst>
                <a:gd name="adj" fmla="val 50000"/>
              </a:avLst>
            </a:prstGeom>
            <a:ln>
              <a:noFill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dirty="0" smtClean="0">
                  <a:latin typeface="微软雅黑" pitchFamily="34" charset="-122"/>
                  <a:ea typeface="微软雅黑" pitchFamily="34" charset="-122"/>
                </a:rPr>
                <a:t>图片数据</a:t>
              </a:r>
              <a:endParaRPr lang="zh-CN" altLang="en-US" dirty="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4" name="圆角矩形 13"/>
            <p:cNvSpPr/>
            <p:nvPr/>
          </p:nvSpPr>
          <p:spPr>
            <a:xfrm>
              <a:off x="5904148" y="4221088"/>
              <a:ext cx="1512168" cy="432024"/>
            </a:xfrm>
            <a:prstGeom prst="roundRect">
              <a:avLst>
                <a:gd name="adj" fmla="val 50000"/>
              </a:avLst>
            </a:prstGeom>
            <a:ln>
              <a:noFill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dirty="0" smtClean="0">
                  <a:latin typeface="微软雅黑" pitchFamily="34" charset="-122"/>
                  <a:ea typeface="微软雅黑" pitchFamily="34" charset="-122"/>
                </a:rPr>
                <a:t>图片转换</a:t>
              </a:r>
              <a:endParaRPr lang="zh-CN" altLang="en-US" dirty="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5" name="圆角矩形 14"/>
            <p:cNvSpPr/>
            <p:nvPr/>
          </p:nvSpPr>
          <p:spPr>
            <a:xfrm>
              <a:off x="1871700" y="4221088"/>
              <a:ext cx="1512168" cy="432024"/>
            </a:xfrm>
            <a:prstGeom prst="roundRect">
              <a:avLst>
                <a:gd name="adj" fmla="val 50000"/>
              </a:avLst>
            </a:prstGeom>
            <a:ln>
              <a:noFill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dirty="0" smtClean="0">
                  <a:latin typeface="微软雅黑" pitchFamily="34" charset="-122"/>
                  <a:ea typeface="微软雅黑" pitchFamily="34" charset="-122"/>
                </a:rPr>
                <a:t>图片地址</a:t>
              </a:r>
              <a:endParaRPr lang="zh-CN" altLang="en-US" dirty="0"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5" name="灯片编号占位符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27CAE95-0A4C-4FC1-B81C-A5798E0B0A68}" type="slidenum">
              <a:rPr lang="zh-CN" altLang="en-US" smtClean="0"/>
              <a:pPr/>
              <a:t>15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58321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图片本地压缩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err="1" smtClean="0"/>
              <a:t>api</a:t>
            </a:r>
            <a:r>
              <a:rPr lang="zh-CN" altLang="en-US" dirty="0" smtClean="0"/>
              <a:t>支持情况</a:t>
            </a:r>
            <a:endParaRPr lang="en-US" altLang="zh-CN" dirty="0" smtClean="0"/>
          </a:p>
          <a:p>
            <a:pPr lvl="1"/>
            <a:r>
              <a:rPr lang="en-US" altLang="zh-CN" sz="2400" dirty="0" smtClean="0"/>
              <a:t>Input type=file &amp; </a:t>
            </a:r>
            <a:r>
              <a:rPr lang="en-US" altLang="zh-CN" sz="2400" dirty="0" err="1" smtClean="0"/>
              <a:t>FileReader</a:t>
            </a:r>
            <a:endParaRPr lang="en-US" altLang="zh-CN" sz="2400" dirty="0"/>
          </a:p>
          <a:p>
            <a:pPr lvl="1"/>
            <a:r>
              <a:rPr lang="en-US" altLang="zh-CN" sz="2400" dirty="0" smtClean="0"/>
              <a:t>canvas</a:t>
            </a:r>
          </a:p>
        </p:txBody>
      </p:sp>
      <p:graphicFrame>
        <p:nvGraphicFramePr>
          <p:cNvPr id="10" name="表格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0933789"/>
              </p:ext>
            </p:extLst>
          </p:nvPr>
        </p:nvGraphicFramePr>
        <p:xfrm>
          <a:off x="899592" y="3573016"/>
          <a:ext cx="5383459" cy="1786332"/>
        </p:xfrm>
        <a:graphic>
          <a:graphicData uri="http://schemas.openxmlformats.org/drawingml/2006/table">
            <a:tbl>
              <a:tblPr firstRow="1" firstCol="1" bandRow="1">
                <a:tableStyleId>{9D7B26C5-4107-4FEC-AEDC-1716B250A1EF}</a:tableStyleId>
              </a:tblPr>
              <a:tblGrid>
                <a:gridCol w="2359123"/>
                <a:gridCol w="1440160"/>
                <a:gridCol w="1584176"/>
              </a:tblGrid>
              <a:tr h="446583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rgbClr val="009EFF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 </a:t>
                      </a:r>
                      <a:endParaRPr lang="zh-CN" sz="1200" dirty="0">
                        <a:solidFill>
                          <a:srgbClr val="009EFF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altLang="zh-CN" sz="1200" b="1" dirty="0" smtClean="0">
                          <a:solidFill>
                            <a:srgbClr val="009EFF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Input</a:t>
                      </a:r>
                      <a:r>
                        <a:rPr lang="en-US" altLang="zh-CN" sz="1200" b="1" baseline="0" dirty="0" smtClean="0">
                          <a:solidFill>
                            <a:srgbClr val="009EFF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 type=file</a:t>
                      </a:r>
                      <a:endParaRPr lang="zh-CN" sz="1200" b="1" dirty="0">
                        <a:solidFill>
                          <a:srgbClr val="009EFF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b="1" dirty="0" err="1" smtClean="0">
                          <a:solidFill>
                            <a:srgbClr val="009EFF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FileReader</a:t>
                      </a:r>
                      <a:endParaRPr lang="zh-CN" sz="1200" b="1" dirty="0">
                        <a:solidFill>
                          <a:srgbClr val="009EFF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68580" marR="68580" marT="0" marB="0" anchor="ctr"/>
                </a:tc>
              </a:tr>
              <a:tr h="446583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altLang="zh-CN" sz="1200" b="1" dirty="0" smtClean="0">
                          <a:solidFill>
                            <a:srgbClr val="009EFF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       Android </a:t>
                      </a:r>
                      <a:r>
                        <a:rPr lang="en-US" altLang="zh-CN" sz="1200" b="1" dirty="0" err="1" smtClean="0">
                          <a:solidFill>
                            <a:srgbClr val="009EFF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QQBrowser</a:t>
                      </a:r>
                      <a:r>
                        <a:rPr lang="en-US" altLang="zh-CN" sz="1200" b="1" baseline="0" dirty="0" smtClean="0">
                          <a:solidFill>
                            <a:srgbClr val="009EFF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 3.X</a:t>
                      </a:r>
                      <a:endParaRPr lang="zh-CN" sz="1200" b="1" dirty="0">
                        <a:solidFill>
                          <a:srgbClr val="009EFF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altLang="en-US" sz="1200" dirty="0" smtClean="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√</a:t>
                      </a:r>
                      <a:endParaRPr lang="zh-CN" sz="1200" dirty="0"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1200" dirty="0" smtClean="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×</a:t>
                      </a:r>
                      <a:endParaRPr lang="zh-CN" sz="1200" dirty="0"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68580" marR="68580" marT="0" marB="0" anchor="ctr"/>
                </a:tc>
              </a:tr>
              <a:tr h="446583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1" dirty="0" smtClean="0">
                          <a:solidFill>
                            <a:srgbClr val="009EFF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       Android </a:t>
                      </a:r>
                      <a:r>
                        <a:rPr lang="en-US" altLang="zh-CN" sz="1200" b="1" dirty="0" err="1" smtClean="0">
                          <a:solidFill>
                            <a:srgbClr val="009EFF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QQBrowser</a:t>
                      </a:r>
                      <a:r>
                        <a:rPr lang="en-US" altLang="zh-CN" sz="1200" b="1" baseline="0" dirty="0" smtClean="0">
                          <a:solidFill>
                            <a:srgbClr val="009EFF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 4.X</a:t>
                      </a:r>
                      <a:endParaRPr lang="zh-CN" altLang="zh-CN" sz="1200" b="1" dirty="0" smtClean="0">
                        <a:solidFill>
                          <a:srgbClr val="009EFF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altLang="en-US" sz="1200" dirty="0" smtClean="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√</a:t>
                      </a:r>
                      <a:endParaRPr lang="zh-CN" sz="1200" dirty="0"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200" dirty="0" smtClean="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√</a:t>
                      </a:r>
                      <a:endParaRPr lang="zh-CN" altLang="zh-CN" sz="1200" dirty="0" smtClean="0"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68580" marR="68580" marT="0" marB="0" anchor="ctr"/>
                </a:tc>
              </a:tr>
              <a:tr h="446583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altLang="zh-CN" sz="1200" b="1" dirty="0" smtClean="0">
                          <a:solidFill>
                            <a:srgbClr val="009EFF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       Android </a:t>
                      </a:r>
                      <a:r>
                        <a:rPr lang="en-US" altLang="zh-CN" sz="1200" b="1" dirty="0" err="1" smtClean="0">
                          <a:solidFill>
                            <a:srgbClr val="009EFF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UcWeb</a:t>
                      </a:r>
                      <a:endParaRPr lang="zh-CN" sz="1200" b="1" dirty="0">
                        <a:solidFill>
                          <a:srgbClr val="009EFF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altLang="en-US" sz="1200" dirty="0" smtClean="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√</a:t>
                      </a:r>
                      <a:endParaRPr lang="zh-CN" sz="1200" dirty="0"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200" dirty="0" smtClean="0"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√</a:t>
                      </a:r>
                      <a:endParaRPr lang="zh-CN" altLang="zh-CN" sz="1200" dirty="0" smtClean="0"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68580" marR="68580" marT="0" marB="0" anchor="ctr"/>
                </a:tc>
              </a:tr>
            </a:tbl>
          </a:graphicData>
        </a:graphic>
      </p:graphicFrame>
      <p:grpSp>
        <p:nvGrpSpPr>
          <p:cNvPr id="9" name="组合 8"/>
          <p:cNvGrpSpPr/>
          <p:nvPr/>
        </p:nvGrpSpPr>
        <p:grpSpPr>
          <a:xfrm>
            <a:off x="6979882" y="548680"/>
            <a:ext cx="1549896" cy="2508052"/>
            <a:chOff x="6979882" y="1268760"/>
            <a:chExt cx="1549896" cy="2508052"/>
          </a:xfrm>
        </p:grpSpPr>
        <p:grpSp>
          <p:nvGrpSpPr>
            <p:cNvPr id="4" name="组合 3"/>
            <p:cNvGrpSpPr/>
            <p:nvPr/>
          </p:nvGrpSpPr>
          <p:grpSpPr>
            <a:xfrm>
              <a:off x="6979882" y="1268760"/>
              <a:ext cx="1549896" cy="2200275"/>
              <a:chOff x="5796136" y="1556792"/>
              <a:chExt cx="1549896" cy="2200275"/>
            </a:xfrm>
          </p:grpSpPr>
          <p:pic>
            <p:nvPicPr>
              <p:cNvPr id="13314" name="Picture 2"/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796136" y="1556792"/>
                <a:ext cx="857250" cy="220027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pic>
            <p:nvPicPr>
              <p:cNvPr id="13315" name="Picture 3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660232" y="1556792"/>
                <a:ext cx="685800" cy="220027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</p:grpSp>
        <p:sp>
          <p:nvSpPr>
            <p:cNvPr id="6" name="TextBox 5"/>
            <p:cNvSpPr txBox="1"/>
            <p:nvPr/>
          </p:nvSpPr>
          <p:spPr>
            <a:xfrm>
              <a:off x="7111834" y="3469035"/>
              <a:ext cx="128599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 smtClean="0"/>
                <a:t>表</a:t>
              </a:r>
              <a:r>
                <a:rPr lang="en-US" altLang="zh-CN" sz="1400" dirty="0" smtClean="0"/>
                <a:t>1. </a:t>
              </a:r>
              <a:r>
                <a:rPr lang="en-US" altLang="zh-CN" sz="1400" dirty="0" err="1" smtClean="0"/>
                <a:t>fileReader</a:t>
              </a:r>
              <a:endParaRPr lang="zh-CN" altLang="en-US" sz="1400" dirty="0"/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6977220" y="3268968"/>
            <a:ext cx="1555220" cy="2508052"/>
            <a:chOff x="6977220" y="3989048"/>
            <a:chExt cx="1555220" cy="2508052"/>
          </a:xfrm>
        </p:grpSpPr>
        <p:grpSp>
          <p:nvGrpSpPr>
            <p:cNvPr id="5" name="组合 4"/>
            <p:cNvGrpSpPr/>
            <p:nvPr/>
          </p:nvGrpSpPr>
          <p:grpSpPr>
            <a:xfrm>
              <a:off x="6977220" y="3989048"/>
              <a:ext cx="1555220" cy="2200275"/>
              <a:chOff x="1498907" y="3935522"/>
              <a:chExt cx="1555220" cy="2200275"/>
            </a:xfrm>
          </p:grpSpPr>
          <p:pic>
            <p:nvPicPr>
              <p:cNvPr id="13316" name="Picture 4"/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498907" y="3935522"/>
                <a:ext cx="847725" cy="220027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pic>
            <p:nvPicPr>
              <p:cNvPr id="13317" name="Picture 5"/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339752" y="3935522"/>
                <a:ext cx="714375" cy="214312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</p:grpSp>
        <p:sp>
          <p:nvSpPr>
            <p:cNvPr id="12" name="TextBox 11"/>
            <p:cNvSpPr txBox="1"/>
            <p:nvPr/>
          </p:nvSpPr>
          <p:spPr>
            <a:xfrm>
              <a:off x="7240426" y="6189323"/>
              <a:ext cx="102880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 smtClean="0"/>
                <a:t>表</a:t>
              </a:r>
              <a:r>
                <a:rPr lang="en-US" altLang="zh-CN" sz="1400" dirty="0" smtClean="0"/>
                <a:t>2. canvas</a:t>
              </a:r>
              <a:endParaRPr lang="zh-CN" altLang="en-US" sz="1400" dirty="0"/>
            </a:p>
          </p:txBody>
        </p:sp>
      </p:grpSp>
      <p:pic>
        <p:nvPicPr>
          <p:cNvPr id="13319" name="Picture 7" descr="http://browser.qq.com/images-comp/_blank.gif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575" y="-136525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21" name="Picture 9" descr="http://browser.qq.com/images-comp/_blank.gif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975" y="15875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7" name="组合 6"/>
          <p:cNvGrpSpPr/>
          <p:nvPr/>
        </p:nvGrpSpPr>
        <p:grpSpPr>
          <a:xfrm>
            <a:off x="954502" y="4077072"/>
            <a:ext cx="305130" cy="1224136"/>
            <a:chOff x="954502" y="4077072"/>
            <a:chExt cx="305130" cy="1224136"/>
          </a:xfrm>
        </p:grpSpPr>
        <p:pic>
          <p:nvPicPr>
            <p:cNvPr id="13322" name="Picture 10"/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54503" y="4077072"/>
              <a:ext cx="305129" cy="3089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6" name="Picture 10"/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54502" y="4509120"/>
              <a:ext cx="305129" cy="3089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3323" name="Picture 11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78643" y="5001169"/>
              <a:ext cx="280989" cy="30003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sp>
        <p:nvSpPr>
          <p:cNvPr id="11" name="灯片编号占位符 10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27CAE95-0A4C-4FC1-B81C-A5798E0B0A68}" type="slidenum">
              <a:rPr lang="zh-CN" altLang="en-US" smtClean="0"/>
              <a:pPr/>
              <a:t>16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315328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图片本地压缩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 err="1" smtClean="0"/>
              <a:t>iOS</a:t>
            </a:r>
            <a:r>
              <a:rPr lang="zh-CN" altLang="en-US" dirty="0" smtClean="0"/>
              <a:t>平台</a:t>
            </a:r>
            <a:r>
              <a:rPr lang="en-US" altLang="zh-CN" dirty="0" smtClean="0"/>
              <a:t>bug</a:t>
            </a:r>
          </a:p>
          <a:p>
            <a:pPr lvl="1"/>
            <a:r>
              <a:rPr lang="en-US" altLang="zh-CN" dirty="0" smtClean="0"/>
              <a:t>Subsample</a:t>
            </a:r>
          </a:p>
          <a:p>
            <a:pPr lvl="2"/>
            <a:r>
              <a:rPr lang="zh-CN" altLang="zh-CN" dirty="0">
                <a:hlinkClick r:id="rId3"/>
              </a:rPr>
              <a:t>官方</a:t>
            </a:r>
            <a:r>
              <a:rPr lang="zh-CN" altLang="zh-CN" dirty="0" smtClean="0">
                <a:hlinkClick r:id="rId3"/>
              </a:rPr>
              <a:t>文档</a:t>
            </a:r>
            <a:r>
              <a:rPr lang="zh-CN" altLang="zh-CN" dirty="0" smtClean="0"/>
              <a:t>描述</a:t>
            </a:r>
            <a:endParaRPr lang="en-US" altLang="zh-CN" dirty="0" smtClean="0"/>
          </a:p>
          <a:p>
            <a:pPr lvl="3"/>
            <a:r>
              <a:rPr lang="zh-CN" altLang="zh-CN" dirty="0" smtClean="0"/>
              <a:t>大于</a:t>
            </a:r>
            <a:r>
              <a:rPr lang="en-US" altLang="zh-CN" dirty="0">
                <a:solidFill>
                  <a:srgbClr val="009EFF"/>
                </a:solidFill>
              </a:rPr>
              <a:t>2M</a:t>
            </a:r>
            <a:r>
              <a:rPr lang="zh-CN" altLang="zh-CN" dirty="0"/>
              <a:t>的图片读到浏览器里的时候会做</a:t>
            </a:r>
            <a:r>
              <a:rPr lang="en-US" altLang="zh-CN" dirty="0"/>
              <a:t>subsample</a:t>
            </a:r>
            <a:r>
              <a:rPr lang="zh-CN" altLang="zh-CN" dirty="0" smtClean="0"/>
              <a:t>处理</a:t>
            </a:r>
            <a:endParaRPr lang="en-US" altLang="zh-CN" dirty="0" smtClean="0"/>
          </a:p>
          <a:p>
            <a:pPr lvl="3"/>
            <a:r>
              <a:rPr lang="zh-CN" altLang="zh-CN" dirty="0" smtClean="0"/>
              <a:t>最大</a:t>
            </a:r>
            <a:r>
              <a:rPr lang="zh-CN" altLang="zh-CN" dirty="0"/>
              <a:t>可以处理的</a:t>
            </a:r>
            <a:r>
              <a:rPr lang="en-US" altLang="zh-CN" dirty="0"/>
              <a:t>jpg</a:t>
            </a:r>
            <a:r>
              <a:rPr lang="zh-CN" altLang="zh-CN" dirty="0"/>
              <a:t>图片为</a:t>
            </a:r>
            <a:r>
              <a:rPr lang="en-US" altLang="zh-CN" dirty="0" smtClean="0">
                <a:solidFill>
                  <a:srgbClr val="009EFF"/>
                </a:solidFill>
              </a:rPr>
              <a:t>32M</a:t>
            </a:r>
          </a:p>
          <a:p>
            <a:pPr lvl="3"/>
            <a:r>
              <a:rPr lang="zh-CN" altLang="zh-CN" dirty="0" smtClean="0"/>
              <a:t>其他</a:t>
            </a:r>
            <a:r>
              <a:rPr lang="zh-CN" altLang="zh-CN" dirty="0"/>
              <a:t>类型图片</a:t>
            </a:r>
            <a:r>
              <a:rPr lang="en-US" altLang="zh-CN" dirty="0"/>
              <a:t>256M</a:t>
            </a:r>
            <a:r>
              <a:rPr lang="zh-CN" altLang="zh-CN" dirty="0"/>
              <a:t>内存机器最大可以处理</a:t>
            </a:r>
            <a:r>
              <a:rPr lang="en-US" altLang="zh-CN" dirty="0">
                <a:solidFill>
                  <a:srgbClr val="009EFF"/>
                </a:solidFill>
              </a:rPr>
              <a:t>3M</a:t>
            </a:r>
            <a:r>
              <a:rPr lang="zh-CN" altLang="zh-CN" dirty="0" smtClean="0"/>
              <a:t>图片</a:t>
            </a:r>
            <a:r>
              <a:rPr lang="zh-CN" altLang="en-US" dirty="0" smtClean="0"/>
              <a:t>；</a:t>
            </a:r>
            <a:r>
              <a:rPr lang="zh-CN" altLang="zh-CN" dirty="0" smtClean="0"/>
              <a:t>大于</a:t>
            </a:r>
            <a:r>
              <a:rPr lang="en-US" altLang="zh-CN" dirty="0"/>
              <a:t>256M</a:t>
            </a:r>
            <a:r>
              <a:rPr lang="zh-CN" altLang="zh-CN" dirty="0"/>
              <a:t>内存可以处理</a:t>
            </a:r>
            <a:r>
              <a:rPr lang="en-US" altLang="zh-CN" dirty="0"/>
              <a:t>5M</a:t>
            </a:r>
            <a:r>
              <a:rPr lang="zh-CN" altLang="zh-CN" dirty="0"/>
              <a:t>图片</a:t>
            </a:r>
            <a:endParaRPr lang="en-US" altLang="zh-CN" dirty="0" smtClean="0"/>
          </a:p>
          <a:p>
            <a:pPr lvl="1"/>
            <a:r>
              <a:rPr lang="zh-CN" altLang="en-US" dirty="0"/>
              <a:t>大图</a:t>
            </a:r>
            <a:r>
              <a:rPr lang="zh-CN" altLang="en-US" dirty="0" smtClean="0"/>
              <a:t>高度被压缩</a:t>
            </a:r>
            <a:r>
              <a:rPr lang="en-US" altLang="zh-CN" dirty="0" smtClean="0"/>
              <a:t>bug</a:t>
            </a:r>
          </a:p>
          <a:p>
            <a:pPr lvl="2"/>
            <a:r>
              <a:rPr lang="zh-CN" altLang="en-US" dirty="0" smtClean="0"/>
              <a:t>图片高度只有原来的</a:t>
            </a:r>
            <a:r>
              <a:rPr lang="en-US" altLang="zh-CN" dirty="0" smtClean="0">
                <a:solidFill>
                  <a:srgbClr val="009EFF"/>
                </a:solidFill>
              </a:rPr>
              <a:t>1/4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27CAE95-0A4C-4FC1-B81C-A5798E0B0A68}" type="slidenum">
              <a:rPr lang="zh-CN" altLang="en-US" smtClean="0"/>
              <a:pPr/>
              <a:t>17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5157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图片本地压缩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 err="1" smtClean="0"/>
              <a:t>iOS</a:t>
            </a:r>
            <a:r>
              <a:rPr lang="zh-CN" altLang="en-US" dirty="0" smtClean="0"/>
              <a:t>平台实战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Subsample</a:t>
            </a:r>
          </a:p>
          <a:p>
            <a:pPr lvl="2"/>
            <a:r>
              <a:rPr lang="zh-CN" altLang="en-US" sz="1800" dirty="0" smtClean="0"/>
              <a:t>对大于</a:t>
            </a:r>
            <a:r>
              <a:rPr lang="en-US" altLang="zh-CN" sz="1800" dirty="0" smtClean="0">
                <a:solidFill>
                  <a:srgbClr val="009EFF"/>
                </a:solidFill>
              </a:rPr>
              <a:t>1024x1024</a:t>
            </a:r>
            <a:r>
              <a:rPr lang="zh-CN" altLang="en-US" sz="1800" dirty="0" smtClean="0"/>
              <a:t>的图片检测是否有被抽值</a:t>
            </a:r>
            <a:endParaRPr lang="en-US" altLang="zh-CN" sz="1800" dirty="0" smtClean="0"/>
          </a:p>
          <a:p>
            <a:pPr lvl="2"/>
            <a:r>
              <a:rPr lang="zh-CN" altLang="en-US" sz="1800" dirty="0" smtClean="0"/>
              <a:t>检测抽值原理：取图片右下角的</a:t>
            </a:r>
            <a:r>
              <a:rPr lang="en-US" altLang="zh-CN" sz="1800" dirty="0" smtClean="0">
                <a:solidFill>
                  <a:srgbClr val="009EFF"/>
                </a:solidFill>
              </a:rPr>
              <a:t>1x1px</a:t>
            </a:r>
            <a:r>
              <a:rPr lang="zh-CN" altLang="en-US" sz="1800" dirty="0" smtClean="0"/>
              <a:t>像素的</a:t>
            </a:r>
            <a:r>
              <a:rPr lang="en-US" altLang="zh-CN" sz="1800" dirty="0" err="1" smtClean="0"/>
              <a:t>aRGB</a:t>
            </a:r>
            <a:r>
              <a:rPr lang="zh-CN" altLang="en-US" sz="1800" dirty="0" smtClean="0"/>
              <a:t>数组判断</a:t>
            </a:r>
            <a:r>
              <a:rPr lang="en-US" altLang="zh-CN" sz="1800" dirty="0" smtClean="0">
                <a:solidFill>
                  <a:srgbClr val="009EFF"/>
                </a:solidFill>
              </a:rPr>
              <a:t>alpha</a:t>
            </a:r>
            <a:r>
              <a:rPr lang="zh-CN" altLang="en-US" sz="1800" dirty="0" smtClean="0"/>
              <a:t>值</a:t>
            </a:r>
            <a:endParaRPr lang="en-US" altLang="zh-CN" sz="1800" dirty="0" smtClean="0"/>
          </a:p>
          <a:p>
            <a:pPr lvl="2"/>
            <a:r>
              <a:rPr lang="zh-CN" altLang="en-US" sz="1800" dirty="0" smtClean="0"/>
              <a:t>被抽值的</a:t>
            </a:r>
            <a:endParaRPr lang="en-US" altLang="zh-CN" sz="1800" dirty="0" smtClean="0"/>
          </a:p>
          <a:p>
            <a:pPr marL="914400" lvl="2" indent="0">
              <a:buNone/>
            </a:pPr>
            <a:r>
              <a:rPr lang="zh-CN" altLang="en-US" sz="1800" dirty="0" smtClean="0"/>
              <a:t>图片按</a:t>
            </a:r>
            <a:r>
              <a:rPr lang="en-US" altLang="zh-CN" sz="1800" dirty="0" smtClean="0">
                <a:solidFill>
                  <a:srgbClr val="009EFF"/>
                </a:solidFill>
              </a:rPr>
              <a:t>1</a:t>
            </a:r>
            <a:r>
              <a:rPr lang="zh-CN" altLang="en-US" sz="1800" dirty="0" smtClean="0">
                <a:solidFill>
                  <a:srgbClr val="009EFF"/>
                </a:solidFill>
              </a:rPr>
              <a:t>：</a:t>
            </a:r>
            <a:r>
              <a:rPr lang="en-US" altLang="zh-CN" sz="1800" dirty="0" smtClean="0">
                <a:solidFill>
                  <a:srgbClr val="009EFF"/>
                </a:solidFill>
              </a:rPr>
              <a:t>2</a:t>
            </a:r>
          </a:p>
          <a:p>
            <a:pPr marL="914400" lvl="2" indent="0">
              <a:buNone/>
            </a:pPr>
            <a:r>
              <a:rPr lang="en-US" altLang="zh-CN" sz="1800" dirty="0" smtClean="0"/>
              <a:t>(</a:t>
            </a:r>
            <a:r>
              <a:rPr lang="zh-CN" altLang="en-US" sz="1800" dirty="0" smtClean="0"/>
              <a:t>经验值</a:t>
            </a:r>
            <a:r>
              <a:rPr lang="en-US" altLang="zh-CN" sz="1800" dirty="0" smtClean="0"/>
              <a:t>)</a:t>
            </a:r>
          </a:p>
          <a:p>
            <a:pPr marL="914400" lvl="2" indent="0">
              <a:buNone/>
            </a:pPr>
            <a:r>
              <a:rPr lang="zh-CN" altLang="en-US" sz="1800" dirty="0" smtClean="0"/>
              <a:t>还原</a:t>
            </a:r>
            <a:endParaRPr lang="en-US" altLang="zh-CN" sz="2000" dirty="0" smtClean="0"/>
          </a:p>
        </p:txBody>
      </p:sp>
      <p:grpSp>
        <p:nvGrpSpPr>
          <p:cNvPr id="5" name="组合 4"/>
          <p:cNvGrpSpPr/>
          <p:nvPr/>
        </p:nvGrpSpPr>
        <p:grpSpPr>
          <a:xfrm>
            <a:off x="2897354" y="3491716"/>
            <a:ext cx="6139142" cy="2529572"/>
            <a:chOff x="1889242" y="4293096"/>
            <a:chExt cx="6139142" cy="2529572"/>
          </a:xfrm>
        </p:grpSpPr>
        <p:grpSp>
          <p:nvGrpSpPr>
            <p:cNvPr id="57" name="组合 56"/>
            <p:cNvGrpSpPr/>
            <p:nvPr/>
          </p:nvGrpSpPr>
          <p:grpSpPr>
            <a:xfrm>
              <a:off x="1889242" y="4293096"/>
              <a:ext cx="4194926" cy="2529572"/>
              <a:chOff x="1889242" y="4293096"/>
              <a:chExt cx="4194926" cy="2529572"/>
            </a:xfrm>
          </p:grpSpPr>
          <p:sp>
            <p:nvSpPr>
              <p:cNvPr id="4" name="矩形 3"/>
              <p:cNvSpPr/>
              <p:nvPr/>
            </p:nvSpPr>
            <p:spPr>
              <a:xfrm>
                <a:off x="1889242" y="4293096"/>
                <a:ext cx="3888432" cy="2232248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 w="635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zh-CN" dirty="0" smtClean="0">
                  <a:solidFill>
                    <a:schemeClr val="tx1"/>
                  </a:solidFill>
                </a:endParaRPr>
              </a:p>
              <a:p>
                <a:pPr algn="ctr"/>
                <a:endParaRPr lang="en-US" altLang="zh-CN" dirty="0">
                  <a:solidFill>
                    <a:schemeClr val="tx1"/>
                  </a:solidFill>
                </a:endParaRPr>
              </a:p>
              <a:p>
                <a:pPr algn="ctr"/>
                <a:endParaRPr lang="en-US" altLang="zh-CN" dirty="0" smtClean="0">
                  <a:solidFill>
                    <a:schemeClr val="tx1"/>
                  </a:solidFill>
                </a:endParaRPr>
              </a:p>
              <a:p>
                <a:pPr algn="ctr"/>
                <a:endParaRPr lang="en-US" altLang="zh-CN" dirty="0">
                  <a:solidFill>
                    <a:schemeClr val="tx1"/>
                  </a:solidFill>
                </a:endParaRPr>
              </a:p>
              <a:p>
                <a:pPr algn="ctr"/>
                <a:endParaRPr lang="en-US" altLang="zh-CN" dirty="0" smtClean="0">
                  <a:solidFill>
                    <a:schemeClr val="tx1"/>
                  </a:solidFill>
                </a:endParaRPr>
              </a:p>
              <a:p>
                <a:pPr algn="ctr"/>
                <a:r>
                  <a:rPr lang="en-US" altLang="zh-CN" dirty="0">
                    <a:solidFill>
                      <a:schemeClr val="tx1"/>
                    </a:solidFill>
                  </a:rPr>
                  <a:t> </a:t>
                </a:r>
                <a:r>
                  <a:rPr lang="en-US" altLang="zh-CN" dirty="0" smtClean="0">
                    <a:solidFill>
                      <a:schemeClr val="tx1"/>
                    </a:solidFill>
                  </a:rPr>
                  <a:t>                             </a:t>
                </a:r>
                <a:r>
                  <a:rPr lang="zh-CN" altLang="en-US" dirty="0" smtClean="0">
                    <a:solidFill>
                      <a:schemeClr val="tx1"/>
                    </a:solidFill>
                  </a:rPr>
                  <a:t>原始图片大小</a:t>
                </a:r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" name="矩形 6"/>
              <p:cNvSpPr/>
              <p:nvPr/>
            </p:nvSpPr>
            <p:spPr>
              <a:xfrm>
                <a:off x="1889242" y="4293096"/>
                <a:ext cx="1944216" cy="1116124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 w="635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dirty="0" smtClean="0">
                    <a:solidFill>
                      <a:schemeClr val="tx1"/>
                    </a:solidFill>
                  </a:rPr>
                  <a:t>抽值后大小</a:t>
                </a:r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9" name="直接连接符 8"/>
              <p:cNvCxnSpPr/>
              <p:nvPr/>
            </p:nvCxnSpPr>
            <p:spPr>
              <a:xfrm>
                <a:off x="1889242" y="6525344"/>
                <a:ext cx="0" cy="216024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直接连接符 9"/>
              <p:cNvCxnSpPr/>
              <p:nvPr/>
            </p:nvCxnSpPr>
            <p:spPr>
              <a:xfrm>
                <a:off x="5777674" y="6507964"/>
                <a:ext cx="0" cy="216024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直接连接符 14"/>
              <p:cNvCxnSpPr/>
              <p:nvPr/>
            </p:nvCxnSpPr>
            <p:spPr>
              <a:xfrm>
                <a:off x="5777674" y="6525344"/>
                <a:ext cx="279648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直接连接符 16"/>
              <p:cNvCxnSpPr/>
              <p:nvPr/>
            </p:nvCxnSpPr>
            <p:spPr>
              <a:xfrm>
                <a:off x="5777674" y="4293096"/>
                <a:ext cx="279648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直接箭头连接符 18"/>
              <p:cNvCxnSpPr/>
              <p:nvPr/>
            </p:nvCxnSpPr>
            <p:spPr>
              <a:xfrm flipH="1">
                <a:off x="1889242" y="6669360"/>
                <a:ext cx="1872208" cy="0"/>
              </a:xfrm>
              <a:prstGeom prst="straightConnector1">
                <a:avLst/>
              </a:prstGeom>
              <a:ln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直接箭头连接符 19"/>
              <p:cNvCxnSpPr/>
              <p:nvPr/>
            </p:nvCxnSpPr>
            <p:spPr>
              <a:xfrm>
                <a:off x="4193498" y="6669360"/>
                <a:ext cx="1584176" cy="0"/>
              </a:xfrm>
              <a:prstGeom prst="straightConnector1">
                <a:avLst/>
              </a:prstGeom>
              <a:ln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直接箭头连接符 23"/>
              <p:cNvCxnSpPr/>
              <p:nvPr/>
            </p:nvCxnSpPr>
            <p:spPr>
              <a:xfrm flipH="1" flipV="1">
                <a:off x="5941890" y="4293880"/>
                <a:ext cx="1" cy="936104"/>
              </a:xfrm>
              <a:prstGeom prst="straightConnector1">
                <a:avLst/>
              </a:prstGeom>
              <a:ln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直接箭头连接符 24"/>
              <p:cNvCxnSpPr/>
              <p:nvPr/>
            </p:nvCxnSpPr>
            <p:spPr>
              <a:xfrm>
                <a:off x="5934202" y="5589240"/>
                <a:ext cx="0" cy="936104"/>
              </a:xfrm>
              <a:prstGeom prst="straightConnector1">
                <a:avLst/>
              </a:prstGeom>
              <a:ln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8" name="TextBox 27"/>
              <p:cNvSpPr txBox="1"/>
              <p:nvPr/>
            </p:nvSpPr>
            <p:spPr>
              <a:xfrm>
                <a:off x="3833458" y="6453336"/>
                <a:ext cx="34977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 smtClean="0"/>
                  <a:t>w</a:t>
                </a:r>
                <a:endParaRPr lang="zh-CN" altLang="en-US" dirty="0"/>
              </a:p>
            </p:txBody>
          </p:sp>
          <p:sp>
            <p:nvSpPr>
              <p:cNvPr id="29" name="TextBox 28"/>
              <p:cNvSpPr txBox="1"/>
              <p:nvPr/>
            </p:nvSpPr>
            <p:spPr>
              <a:xfrm>
                <a:off x="3761450" y="4643844"/>
                <a:ext cx="5132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 smtClean="0"/>
                  <a:t>h/2</a:t>
                </a:r>
                <a:endParaRPr lang="zh-CN" altLang="en-US" dirty="0"/>
              </a:p>
            </p:txBody>
          </p:sp>
          <p:cxnSp>
            <p:nvCxnSpPr>
              <p:cNvPr id="31" name="直接连接符 30"/>
              <p:cNvCxnSpPr/>
              <p:nvPr/>
            </p:nvCxnSpPr>
            <p:spPr>
              <a:xfrm>
                <a:off x="3833458" y="5427844"/>
                <a:ext cx="0" cy="216024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直接连接符 31"/>
              <p:cNvCxnSpPr/>
              <p:nvPr/>
            </p:nvCxnSpPr>
            <p:spPr>
              <a:xfrm>
                <a:off x="3833458" y="5409220"/>
                <a:ext cx="279648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直接箭头连接符 32"/>
              <p:cNvCxnSpPr/>
              <p:nvPr/>
            </p:nvCxnSpPr>
            <p:spPr>
              <a:xfrm flipH="1">
                <a:off x="1889242" y="5589240"/>
                <a:ext cx="720080" cy="0"/>
              </a:xfrm>
              <a:prstGeom prst="straightConnector1">
                <a:avLst/>
              </a:prstGeom>
              <a:ln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直接箭头连接符 33"/>
              <p:cNvCxnSpPr/>
              <p:nvPr/>
            </p:nvCxnSpPr>
            <p:spPr>
              <a:xfrm>
                <a:off x="3041370" y="5589240"/>
                <a:ext cx="792088" cy="0"/>
              </a:xfrm>
              <a:prstGeom prst="straightConnector1">
                <a:avLst/>
              </a:prstGeom>
              <a:ln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直接箭头连接符 41"/>
              <p:cNvCxnSpPr/>
              <p:nvPr/>
            </p:nvCxnSpPr>
            <p:spPr>
              <a:xfrm flipV="1">
                <a:off x="4008347" y="4293096"/>
                <a:ext cx="0" cy="360040"/>
              </a:xfrm>
              <a:prstGeom prst="straightConnector1">
                <a:avLst/>
              </a:prstGeom>
              <a:ln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直接箭头连接符 42"/>
              <p:cNvCxnSpPr/>
              <p:nvPr/>
            </p:nvCxnSpPr>
            <p:spPr>
              <a:xfrm>
                <a:off x="4008347" y="5013176"/>
                <a:ext cx="0" cy="414668"/>
              </a:xfrm>
              <a:prstGeom prst="straightConnector1">
                <a:avLst/>
              </a:prstGeom>
              <a:ln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5" name="TextBox 54"/>
              <p:cNvSpPr txBox="1"/>
              <p:nvPr/>
            </p:nvSpPr>
            <p:spPr>
              <a:xfrm>
                <a:off x="2537314" y="5373216"/>
                <a:ext cx="55656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 smtClean="0"/>
                  <a:t>w</a:t>
                </a:r>
                <a:r>
                  <a:rPr lang="en-US" altLang="zh-CN" dirty="0"/>
                  <a:t>/</a:t>
                </a:r>
                <a:r>
                  <a:rPr lang="en-US" altLang="zh-CN" dirty="0" smtClean="0"/>
                  <a:t>2</a:t>
                </a:r>
                <a:endParaRPr lang="zh-CN" altLang="en-US" dirty="0"/>
              </a:p>
            </p:txBody>
          </p:sp>
          <p:sp>
            <p:nvSpPr>
              <p:cNvPr id="56" name="TextBox 55"/>
              <p:cNvSpPr txBox="1"/>
              <p:nvPr/>
            </p:nvSpPr>
            <p:spPr>
              <a:xfrm>
                <a:off x="5777674" y="5229200"/>
                <a:ext cx="30649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 smtClean="0"/>
                  <a:t>h</a:t>
                </a:r>
                <a:endParaRPr lang="zh-CN" altLang="en-US" dirty="0"/>
              </a:p>
            </p:txBody>
          </p:sp>
        </p:grpSp>
        <p:grpSp>
          <p:nvGrpSpPr>
            <p:cNvPr id="61" name="组合 60"/>
            <p:cNvGrpSpPr/>
            <p:nvPr/>
          </p:nvGrpSpPr>
          <p:grpSpPr>
            <a:xfrm>
              <a:off x="5777674" y="5373216"/>
              <a:ext cx="2250710" cy="1134748"/>
              <a:chOff x="5777674" y="5373216"/>
              <a:chExt cx="2250710" cy="1134748"/>
            </a:xfrm>
          </p:grpSpPr>
          <p:cxnSp>
            <p:nvCxnSpPr>
              <p:cNvPr id="59" name="直接箭头连接符 58"/>
              <p:cNvCxnSpPr/>
              <p:nvPr/>
            </p:nvCxnSpPr>
            <p:spPr>
              <a:xfrm flipV="1">
                <a:off x="5777674" y="6057292"/>
                <a:ext cx="1026574" cy="450672"/>
              </a:xfrm>
              <a:prstGeom prst="straightConnector1">
                <a:avLst/>
              </a:prstGeom>
              <a:ln>
                <a:headEnd type="none" w="med" len="med"/>
                <a:tailEnd type="triangle" w="med" len="med"/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sp>
            <p:nvSpPr>
              <p:cNvPr id="60" name="圆角矩形 59"/>
              <p:cNvSpPr/>
              <p:nvPr/>
            </p:nvSpPr>
            <p:spPr>
              <a:xfrm>
                <a:off x="6660232" y="5373216"/>
                <a:ext cx="1368152" cy="684076"/>
              </a:xfrm>
              <a:prstGeom prst="roundRect">
                <a:avLst>
                  <a:gd name="adj" fmla="val 50000"/>
                </a:avLst>
              </a:prstGeom>
              <a:ln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400" dirty="0" smtClean="0"/>
                  <a:t>判断该点的</a:t>
                </a:r>
                <a:r>
                  <a:rPr lang="en-US" altLang="zh-CN" sz="1400" dirty="0" smtClean="0"/>
                  <a:t>alpha</a:t>
                </a:r>
                <a:r>
                  <a:rPr lang="zh-CN" altLang="en-US" sz="1400" dirty="0" smtClean="0"/>
                  <a:t>值</a:t>
                </a:r>
                <a:endParaRPr lang="zh-CN" altLang="en-US" sz="1400" dirty="0"/>
              </a:p>
            </p:txBody>
          </p:sp>
        </p:grpSp>
      </p:grp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27CAE95-0A4C-4FC1-B81C-A5798E0B0A68}" type="slidenum">
              <a:rPr lang="zh-CN" altLang="en-US" smtClean="0"/>
              <a:pPr/>
              <a:t>18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727742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图片本地压缩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27CAE95-0A4C-4FC1-B81C-A5798E0B0A68}" type="slidenum">
              <a:rPr lang="zh-CN" altLang="en-US" smtClean="0"/>
              <a:pPr/>
              <a:t>19</a:t>
            </a:fld>
            <a:endParaRPr lang="zh-CN" altLang="en-US" dirty="0"/>
          </a:p>
        </p:txBody>
      </p:sp>
      <p:pic>
        <p:nvPicPr>
          <p:cNvPr id="1026" name="Picture 2" descr="F:\yuni\94058156\yunidoc\ppt\velocity\压缩2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2276872"/>
            <a:ext cx="8457117" cy="31729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64871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图片本地压缩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 err="1" smtClean="0"/>
              <a:t>iOS</a:t>
            </a:r>
            <a:r>
              <a:rPr lang="zh-CN" altLang="en-US" dirty="0" smtClean="0"/>
              <a:t>平台实战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高度被压缩</a:t>
            </a:r>
            <a:r>
              <a:rPr lang="en-US" altLang="zh-CN" dirty="0" smtClean="0"/>
              <a:t>bug</a:t>
            </a:r>
          </a:p>
          <a:p>
            <a:pPr lvl="2"/>
            <a:r>
              <a:rPr lang="zh-CN" altLang="en-US" sz="2000" dirty="0" smtClean="0"/>
              <a:t>计算图片</a:t>
            </a:r>
            <a:r>
              <a:rPr lang="zh-CN" altLang="en-US" sz="2000" dirty="0"/>
              <a:t>高度被压缩</a:t>
            </a:r>
            <a:r>
              <a:rPr lang="zh-CN" altLang="en-US" sz="2000" dirty="0" smtClean="0"/>
              <a:t>比例，</a:t>
            </a:r>
            <a:r>
              <a:rPr lang="zh-CN" altLang="en-US" sz="2000" dirty="0"/>
              <a:t>通过贴瓷砖的方法用固定大小的小</a:t>
            </a:r>
            <a:r>
              <a:rPr lang="en-US" altLang="zh-CN" sz="2000" dirty="0"/>
              <a:t>canvas</a:t>
            </a:r>
            <a:r>
              <a:rPr lang="zh-CN" altLang="en-US" sz="2000" dirty="0"/>
              <a:t>去分片</a:t>
            </a:r>
            <a:r>
              <a:rPr lang="zh-CN" altLang="en-US" sz="2000" dirty="0" smtClean="0"/>
              <a:t>读取</a:t>
            </a:r>
            <a:r>
              <a:rPr lang="zh-CN" altLang="en-US" sz="2000" dirty="0"/>
              <a:t>大</a:t>
            </a:r>
            <a:r>
              <a:rPr lang="zh-CN" altLang="en-US" sz="2000" dirty="0" smtClean="0"/>
              <a:t>图到小</a:t>
            </a:r>
            <a:r>
              <a:rPr lang="en-US" altLang="zh-CN" sz="2000" dirty="0" smtClean="0"/>
              <a:t>canvas</a:t>
            </a:r>
            <a:r>
              <a:rPr lang="zh-CN" altLang="en-US" sz="2000" dirty="0" smtClean="0"/>
              <a:t>，拷贝过程中计算压缩比</a:t>
            </a:r>
            <a:endParaRPr lang="en-US" altLang="zh-CN" dirty="0" smtClean="0"/>
          </a:p>
        </p:txBody>
      </p:sp>
      <p:grpSp>
        <p:nvGrpSpPr>
          <p:cNvPr id="92" name="组合 91"/>
          <p:cNvGrpSpPr/>
          <p:nvPr/>
        </p:nvGrpSpPr>
        <p:grpSpPr>
          <a:xfrm>
            <a:off x="467544" y="3573016"/>
            <a:ext cx="8228000" cy="2538904"/>
            <a:chOff x="467544" y="4077072"/>
            <a:chExt cx="8228000" cy="2538904"/>
          </a:xfrm>
        </p:grpSpPr>
        <p:sp>
          <p:nvSpPr>
            <p:cNvPr id="4" name="矩形 3"/>
            <p:cNvSpPr/>
            <p:nvPr/>
          </p:nvSpPr>
          <p:spPr>
            <a:xfrm>
              <a:off x="467544" y="4077072"/>
              <a:ext cx="3888432" cy="2232248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dirty="0" smtClean="0">
                <a:solidFill>
                  <a:schemeClr val="bg1"/>
                </a:solidFill>
              </a:endParaRPr>
            </a:p>
            <a:p>
              <a:pPr algn="ctr"/>
              <a:endParaRPr lang="en-US" altLang="zh-CN" dirty="0">
                <a:solidFill>
                  <a:schemeClr val="bg1"/>
                </a:solidFill>
              </a:endParaRPr>
            </a:p>
            <a:p>
              <a:pPr algn="ctr"/>
              <a:endParaRPr lang="en-US" altLang="zh-CN" dirty="0" smtClean="0">
                <a:solidFill>
                  <a:schemeClr val="bg1"/>
                </a:solidFill>
              </a:endParaRPr>
            </a:p>
            <a:p>
              <a:pPr algn="ctr"/>
              <a:endParaRPr lang="en-US" altLang="zh-CN" dirty="0">
                <a:solidFill>
                  <a:schemeClr val="bg1"/>
                </a:solidFill>
              </a:endParaRPr>
            </a:p>
            <a:p>
              <a:pPr algn="ctr"/>
              <a:endParaRPr lang="en-US" altLang="zh-CN" dirty="0" smtClean="0">
                <a:solidFill>
                  <a:schemeClr val="bg1"/>
                </a:solidFill>
              </a:endParaRPr>
            </a:p>
            <a:p>
              <a:pPr algn="ctr"/>
              <a:r>
                <a:rPr lang="en-US" altLang="zh-CN" dirty="0">
                  <a:solidFill>
                    <a:schemeClr val="bg1"/>
                  </a:solidFill>
                </a:rPr>
                <a:t> </a:t>
              </a:r>
              <a:r>
                <a:rPr lang="en-US" altLang="zh-CN" dirty="0" smtClean="0">
                  <a:solidFill>
                    <a:schemeClr val="bg1"/>
                  </a:solidFill>
                </a:rPr>
                <a:t>                             </a:t>
              </a:r>
              <a:r>
                <a:rPr lang="zh-CN" altLang="en-US" dirty="0" smtClean="0">
                  <a:solidFill>
                    <a:schemeClr val="bg1"/>
                  </a:solidFill>
                </a:rPr>
                <a:t>原始大图</a:t>
              </a:r>
              <a:endParaRPr lang="zh-CN" altLang="en-US" dirty="0">
                <a:solidFill>
                  <a:schemeClr val="bg1"/>
                </a:solidFill>
              </a:endParaRPr>
            </a:p>
          </p:txBody>
        </p:sp>
        <p:cxnSp>
          <p:nvCxnSpPr>
            <p:cNvPr id="17" name="直接连接符 16"/>
            <p:cNvCxnSpPr/>
            <p:nvPr/>
          </p:nvCxnSpPr>
          <p:spPr>
            <a:xfrm>
              <a:off x="4355976" y="4077072"/>
              <a:ext cx="432048" cy="78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箭头连接符 23"/>
            <p:cNvCxnSpPr/>
            <p:nvPr/>
          </p:nvCxnSpPr>
          <p:spPr>
            <a:xfrm flipH="1" flipV="1">
              <a:off x="4520192" y="4077856"/>
              <a:ext cx="1" cy="936104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矩形 29"/>
            <p:cNvSpPr/>
            <p:nvPr/>
          </p:nvSpPr>
          <p:spPr>
            <a:xfrm>
              <a:off x="467544" y="4077072"/>
              <a:ext cx="3888432" cy="576064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 smtClean="0">
                  <a:solidFill>
                    <a:schemeClr val="tx1"/>
                  </a:solidFill>
                </a:rPr>
                <a:t>                一般大图高度会被压缩到</a:t>
              </a:r>
              <a:r>
                <a:rPr lang="en-US" altLang="zh-CN" dirty="0" smtClean="0">
                  <a:solidFill>
                    <a:schemeClr val="tx1"/>
                  </a:solidFill>
                </a:rPr>
                <a:t>1/4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35" name="直接连接符 34"/>
            <p:cNvCxnSpPr/>
            <p:nvPr/>
          </p:nvCxnSpPr>
          <p:spPr>
            <a:xfrm>
              <a:off x="4355976" y="4653136"/>
              <a:ext cx="432048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TextBox 36"/>
            <p:cNvSpPr txBox="1"/>
            <p:nvPr/>
          </p:nvSpPr>
          <p:spPr>
            <a:xfrm>
              <a:off x="4499992" y="4149080"/>
              <a:ext cx="5132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/>
                <a:t>h/4</a:t>
              </a:r>
              <a:endParaRPr lang="zh-CN" altLang="en-US" dirty="0"/>
            </a:p>
          </p:txBody>
        </p:sp>
        <p:cxnSp>
          <p:nvCxnSpPr>
            <p:cNvPr id="40" name="直接箭头连接符 39"/>
            <p:cNvCxnSpPr/>
            <p:nvPr/>
          </p:nvCxnSpPr>
          <p:spPr>
            <a:xfrm flipH="1">
              <a:off x="4716017" y="4524799"/>
              <a:ext cx="1738" cy="128337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箭头连接符 43"/>
            <p:cNvCxnSpPr/>
            <p:nvPr/>
          </p:nvCxnSpPr>
          <p:spPr>
            <a:xfrm flipH="1" flipV="1">
              <a:off x="4716016" y="4077072"/>
              <a:ext cx="1738" cy="128337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矩形 44"/>
            <p:cNvSpPr/>
            <p:nvPr/>
          </p:nvSpPr>
          <p:spPr>
            <a:xfrm>
              <a:off x="6660232" y="4089662"/>
              <a:ext cx="2035312" cy="1283554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dirty="0" smtClean="0">
                <a:solidFill>
                  <a:schemeClr val="bg1"/>
                </a:solidFill>
              </a:endParaRPr>
            </a:p>
            <a:p>
              <a:pPr algn="ctr"/>
              <a:endParaRPr lang="en-US" altLang="zh-CN" dirty="0">
                <a:solidFill>
                  <a:schemeClr val="bg1"/>
                </a:solidFill>
              </a:endParaRPr>
            </a:p>
            <a:p>
              <a:pPr algn="ctr"/>
              <a:endParaRPr lang="en-US" altLang="zh-CN" dirty="0" smtClean="0">
                <a:solidFill>
                  <a:schemeClr val="bg1"/>
                </a:solidFill>
              </a:endParaRPr>
            </a:p>
            <a:p>
              <a:pPr algn="ctr"/>
              <a:r>
                <a:rPr lang="zh-CN" altLang="en-US" dirty="0" smtClean="0">
                  <a:solidFill>
                    <a:schemeClr val="bg1"/>
                  </a:solidFill>
                </a:rPr>
                <a:t>                 </a:t>
              </a:r>
              <a:r>
                <a:rPr lang="zh-CN" altLang="en-US" dirty="0" smtClean="0">
                  <a:solidFill>
                    <a:schemeClr val="tx1"/>
                  </a:solidFill>
                </a:rPr>
                <a:t>目标大小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47" name="矩形 46"/>
            <p:cNvSpPr/>
            <p:nvPr/>
          </p:nvSpPr>
          <p:spPr>
            <a:xfrm>
              <a:off x="467544" y="4077072"/>
              <a:ext cx="797840" cy="288032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8575">
              <a:solidFill>
                <a:srgbClr val="FF0000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tx1"/>
                  </a:solidFill>
                </a:rPr>
                <a:t>瓷砖</a:t>
              </a:r>
            </a:p>
          </p:txBody>
        </p:sp>
        <p:sp>
          <p:nvSpPr>
            <p:cNvPr id="48" name="矩形 47"/>
            <p:cNvSpPr/>
            <p:nvPr/>
          </p:nvSpPr>
          <p:spPr>
            <a:xfrm>
              <a:off x="6660232" y="4092318"/>
              <a:ext cx="797840" cy="560818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8575">
              <a:solidFill>
                <a:srgbClr val="FF0000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 smtClean="0">
                  <a:solidFill>
                    <a:schemeClr val="tx1"/>
                  </a:solidFill>
                </a:rPr>
                <a:t>瓷砖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82" name="直接连接符 81"/>
            <p:cNvCxnSpPr/>
            <p:nvPr/>
          </p:nvCxnSpPr>
          <p:spPr>
            <a:xfrm>
              <a:off x="467544" y="6318652"/>
              <a:ext cx="0" cy="21602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直接连接符 82"/>
            <p:cNvCxnSpPr/>
            <p:nvPr/>
          </p:nvCxnSpPr>
          <p:spPr>
            <a:xfrm>
              <a:off x="4355976" y="6301272"/>
              <a:ext cx="0" cy="21602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直接连接符 83"/>
            <p:cNvCxnSpPr/>
            <p:nvPr/>
          </p:nvCxnSpPr>
          <p:spPr>
            <a:xfrm>
              <a:off x="4355976" y="6318652"/>
              <a:ext cx="279648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直接箭头连接符 84"/>
            <p:cNvCxnSpPr/>
            <p:nvPr/>
          </p:nvCxnSpPr>
          <p:spPr>
            <a:xfrm flipH="1">
              <a:off x="467544" y="6462668"/>
              <a:ext cx="1872208" cy="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直接箭头连接符 85"/>
            <p:cNvCxnSpPr/>
            <p:nvPr/>
          </p:nvCxnSpPr>
          <p:spPr>
            <a:xfrm>
              <a:off x="2771800" y="6462668"/>
              <a:ext cx="1584176" cy="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直接箭头连接符 86"/>
            <p:cNvCxnSpPr/>
            <p:nvPr/>
          </p:nvCxnSpPr>
          <p:spPr>
            <a:xfrm>
              <a:off x="4512504" y="5382548"/>
              <a:ext cx="0" cy="936104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8" name="TextBox 87"/>
            <p:cNvSpPr txBox="1"/>
            <p:nvPr/>
          </p:nvSpPr>
          <p:spPr>
            <a:xfrm>
              <a:off x="2411760" y="6246644"/>
              <a:ext cx="34977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/>
                <a:t>w</a:t>
              </a:r>
              <a:endParaRPr lang="zh-CN" altLang="en-US" dirty="0"/>
            </a:p>
          </p:txBody>
        </p:sp>
        <p:sp>
          <p:nvSpPr>
            <p:cNvPr id="89" name="TextBox 88"/>
            <p:cNvSpPr txBox="1"/>
            <p:nvPr/>
          </p:nvSpPr>
          <p:spPr>
            <a:xfrm>
              <a:off x="4396293" y="5023034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/>
                <a:t>h</a:t>
              </a:r>
              <a:endParaRPr lang="zh-CN" altLang="en-US" dirty="0"/>
            </a:p>
          </p:txBody>
        </p:sp>
        <p:cxnSp>
          <p:nvCxnSpPr>
            <p:cNvPr id="52" name="直接箭头连接符 51"/>
            <p:cNvCxnSpPr/>
            <p:nvPr/>
          </p:nvCxnSpPr>
          <p:spPr>
            <a:xfrm>
              <a:off x="1265384" y="4205409"/>
              <a:ext cx="5394848" cy="15679"/>
            </a:xfrm>
            <a:prstGeom prst="straightConnector1">
              <a:avLst/>
            </a:prstGeom>
            <a:ln w="38100">
              <a:solidFill>
                <a:srgbClr val="FF0000"/>
              </a:solidFill>
              <a:prstDash val="sysDot"/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1" name="圆角矩形 90"/>
            <p:cNvSpPr/>
            <p:nvPr/>
          </p:nvSpPr>
          <p:spPr>
            <a:xfrm>
              <a:off x="5148064" y="4340771"/>
              <a:ext cx="864096" cy="378406"/>
            </a:xfrm>
            <a:prstGeom prst="roundRect">
              <a:avLst>
                <a:gd name="adj" fmla="val 50000"/>
              </a:avLst>
            </a:prstGeom>
            <a:ln>
              <a:noFill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dirty="0"/>
                <a:t>拷贝</a:t>
              </a:r>
            </a:p>
          </p:txBody>
        </p:sp>
      </p:grpSp>
      <p:sp>
        <p:nvSpPr>
          <p:cNvPr id="5" name="灯片编号占位符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27CAE95-0A4C-4FC1-B81C-A5798E0B0A68}" type="slidenum">
              <a:rPr lang="zh-CN" altLang="en-US" smtClean="0"/>
              <a:pPr/>
              <a:t>20</a:t>
            </a:fld>
            <a:endParaRPr lang="zh-CN" altLang="en-US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5936" y="1572816"/>
            <a:ext cx="4749589" cy="5760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647046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图片本地压缩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 smtClean="0"/>
              <a:t>Android</a:t>
            </a:r>
            <a:r>
              <a:rPr lang="zh-CN" altLang="en-US" dirty="0" smtClean="0"/>
              <a:t>平台</a:t>
            </a:r>
            <a:r>
              <a:rPr lang="en-US" altLang="zh-CN" b="1" dirty="0" err="1" smtClean="0"/>
              <a:t>canvas.toDataURL</a:t>
            </a:r>
            <a:r>
              <a:rPr lang="en-US" altLang="zh-CN" b="1" dirty="0" smtClean="0"/>
              <a:t>()</a:t>
            </a:r>
            <a:r>
              <a:rPr lang="zh-CN" altLang="en-US" dirty="0" smtClean="0"/>
              <a:t>输出图片格式限制</a:t>
            </a:r>
            <a:endParaRPr lang="en-US" altLang="zh-CN" dirty="0" smtClean="0"/>
          </a:p>
          <a:p>
            <a:pPr lvl="1"/>
            <a:r>
              <a:rPr lang="en-US" altLang="zh-CN" sz="2400" dirty="0" smtClean="0"/>
              <a:t>w3c</a:t>
            </a:r>
            <a:r>
              <a:rPr lang="zh-CN" altLang="en-US" sz="2400" dirty="0" smtClean="0"/>
              <a:t>标准：</a:t>
            </a:r>
            <a:r>
              <a:rPr lang="en-US" altLang="zh-CN" sz="2400" dirty="0" smtClean="0"/>
              <a:t>image/</a:t>
            </a:r>
            <a:r>
              <a:rPr lang="en-US" altLang="zh-CN" sz="2400" dirty="0" err="1" smtClean="0"/>
              <a:t>png</a:t>
            </a:r>
            <a:r>
              <a:rPr lang="zh-CN" altLang="en-US" sz="2400" dirty="0" smtClean="0"/>
              <a:t>；浏览器</a:t>
            </a:r>
            <a:r>
              <a:rPr lang="zh-CN" altLang="en-US" sz="2400" dirty="0"/>
              <a:t>可选择实现其他</a:t>
            </a:r>
            <a:r>
              <a:rPr lang="zh-CN" altLang="en-US" sz="2400" dirty="0" smtClean="0"/>
              <a:t>格式</a:t>
            </a:r>
            <a:endParaRPr lang="en-US" altLang="zh-CN" sz="2400" dirty="0" smtClean="0"/>
          </a:p>
          <a:p>
            <a:pPr lvl="1"/>
            <a:r>
              <a:rPr lang="en-US" altLang="zh-CN" sz="2400" dirty="0" err="1" smtClean="0"/>
              <a:t>Ios</a:t>
            </a:r>
            <a:r>
              <a:rPr lang="zh-CN" altLang="en-US" sz="2400" dirty="0" smtClean="0"/>
              <a:t>支持</a:t>
            </a:r>
            <a:r>
              <a:rPr lang="en-US" altLang="zh-CN" sz="2400" dirty="0" smtClean="0"/>
              <a:t>image/jpg</a:t>
            </a:r>
            <a:r>
              <a:rPr lang="zh-CN" altLang="en-US" sz="2400" dirty="0" smtClean="0"/>
              <a:t>格式输出，可调整压缩质量</a:t>
            </a:r>
            <a:endParaRPr lang="en-US" altLang="zh-CN" sz="2400" dirty="0" smtClean="0"/>
          </a:p>
          <a:p>
            <a:pPr lvl="2"/>
            <a:r>
              <a:rPr lang="en-US" altLang="zh-CN" sz="2000" dirty="0" err="1"/>
              <a:t>canvas.toDataURL</a:t>
            </a:r>
            <a:r>
              <a:rPr lang="en-US" altLang="zh-CN" sz="2000" dirty="0" smtClean="0"/>
              <a:t>(‘image/jpeg’, 0.8)</a:t>
            </a:r>
          </a:p>
          <a:p>
            <a:pPr lvl="1"/>
            <a:r>
              <a:rPr lang="en-US" altLang="zh-CN" sz="2400" dirty="0" smtClean="0"/>
              <a:t>android</a:t>
            </a:r>
            <a:r>
              <a:rPr lang="zh-CN" altLang="en-US" sz="2400" dirty="0" smtClean="0"/>
              <a:t>只支持默认格式</a:t>
            </a:r>
            <a:r>
              <a:rPr lang="en-US" altLang="zh-CN" sz="2400" dirty="0" smtClean="0">
                <a:sym typeface="Wingdings" pitchFamily="2" charset="2"/>
              </a:rPr>
              <a:t></a:t>
            </a:r>
            <a:endParaRPr lang="en-US" altLang="zh-CN" sz="2400" dirty="0"/>
          </a:p>
          <a:p>
            <a:pPr lvl="1"/>
            <a:endParaRPr lang="en-US" altLang="zh-CN" dirty="0" smtClean="0"/>
          </a:p>
        </p:txBody>
      </p:sp>
      <p:sp>
        <p:nvSpPr>
          <p:cNvPr id="27" name="矩形 26"/>
          <p:cNvSpPr/>
          <p:nvPr/>
        </p:nvSpPr>
        <p:spPr>
          <a:xfrm>
            <a:off x="1207938" y="4869160"/>
            <a:ext cx="6795450" cy="830997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r>
              <a:rPr lang="en-US" altLang="zh-CN" sz="3200" dirty="0" smtClean="0">
                <a:latin typeface="微软雅黑" pitchFamily="34" charset="-122"/>
                <a:ea typeface="微软雅黑" pitchFamily="34" charset="-122"/>
              </a:rPr>
              <a:t>Jpg</a:t>
            </a:r>
            <a:r>
              <a:rPr lang="zh-CN" altLang="en-US" sz="3200" dirty="0" smtClean="0">
                <a:latin typeface="微软雅黑" pitchFamily="34" charset="-122"/>
                <a:ea typeface="微软雅黑" pitchFamily="34" charset="-122"/>
              </a:rPr>
              <a:t>图片大小只有</a:t>
            </a:r>
            <a:r>
              <a:rPr lang="en-US" altLang="zh-CN" sz="3200" dirty="0" err="1" smtClean="0">
                <a:latin typeface="微软雅黑" pitchFamily="34" charset="-122"/>
                <a:ea typeface="微软雅黑" pitchFamily="34" charset="-122"/>
              </a:rPr>
              <a:t>Png</a:t>
            </a:r>
            <a:r>
              <a:rPr lang="zh-CN" altLang="en-US" sz="3200" dirty="0">
                <a:latin typeface="微软雅黑" pitchFamily="34" charset="-122"/>
                <a:ea typeface="微软雅黑" pitchFamily="34" charset="-122"/>
              </a:rPr>
              <a:t>格式</a:t>
            </a:r>
            <a:r>
              <a:rPr lang="zh-CN" altLang="en-US" sz="3200" dirty="0" smtClean="0">
                <a:latin typeface="微软雅黑" pitchFamily="34" charset="-122"/>
                <a:ea typeface="微软雅黑" pitchFamily="34" charset="-122"/>
              </a:rPr>
              <a:t>的约</a:t>
            </a:r>
            <a:r>
              <a:rPr lang="en-US" altLang="zh-CN" sz="4800" b="1" dirty="0" smtClean="0">
                <a:solidFill>
                  <a:srgbClr val="009EFF"/>
                </a:solidFill>
                <a:latin typeface="微软雅黑" pitchFamily="34" charset="-122"/>
                <a:ea typeface="微软雅黑" pitchFamily="34" charset="-122"/>
              </a:rPr>
              <a:t>1/3</a:t>
            </a:r>
            <a:endParaRPr lang="en-US" altLang="zh-CN" sz="3200" b="1" dirty="0" smtClean="0">
              <a:solidFill>
                <a:srgbClr val="009EF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27CAE95-0A4C-4FC1-B81C-A5798E0B0A68}" type="slidenum">
              <a:rPr lang="zh-CN" altLang="en-US" smtClean="0"/>
              <a:pPr/>
              <a:t>21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029963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图片本地压缩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 smtClean="0"/>
              <a:t>Android</a:t>
            </a:r>
            <a:r>
              <a:rPr lang="zh-CN" altLang="en-US" dirty="0" smtClean="0"/>
              <a:t>平台实战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借助第三方工具库</a:t>
            </a:r>
            <a:r>
              <a:rPr lang="en-US" altLang="zh-CN" dirty="0" err="1" smtClean="0">
                <a:hlinkClick r:id="rId3"/>
              </a:rPr>
              <a:t>jpegEncoder</a:t>
            </a:r>
            <a:endParaRPr lang="en-US" altLang="zh-CN" dirty="0" smtClean="0"/>
          </a:p>
          <a:p>
            <a:pPr lvl="1"/>
            <a:r>
              <a:rPr lang="zh-CN" altLang="en-US" dirty="0"/>
              <a:t>将</a:t>
            </a:r>
            <a:r>
              <a:rPr lang="en-US" altLang="zh-CN" dirty="0"/>
              <a:t>canvas</a:t>
            </a:r>
            <a:r>
              <a:rPr lang="zh-CN" altLang="en-US" dirty="0"/>
              <a:t>的</a:t>
            </a:r>
            <a:r>
              <a:rPr lang="en-US" altLang="zh-CN" dirty="0" err="1"/>
              <a:t>argb</a:t>
            </a:r>
            <a:r>
              <a:rPr lang="zh-CN" altLang="en-US" dirty="0"/>
              <a:t>颜色数组转化为为压缩比更高的</a:t>
            </a:r>
            <a:r>
              <a:rPr lang="en-US" altLang="zh-CN" dirty="0"/>
              <a:t>jpg</a:t>
            </a:r>
            <a:r>
              <a:rPr lang="zh-CN" altLang="en-US" dirty="0"/>
              <a:t>格式，</a:t>
            </a:r>
            <a:r>
              <a:rPr lang="zh-CN" altLang="en-US" dirty="0" smtClean="0"/>
              <a:t>同时支持设置压缩质量</a:t>
            </a:r>
            <a:endParaRPr lang="en-US" altLang="zh-CN" dirty="0" smtClean="0"/>
          </a:p>
          <a:p>
            <a:pPr lvl="1"/>
            <a:endParaRPr lang="en-US" altLang="zh-CN" dirty="0"/>
          </a:p>
          <a:p>
            <a:pPr lvl="1"/>
            <a:endParaRPr lang="en-US" altLang="zh-CN" dirty="0" smtClean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1077" y="3933056"/>
            <a:ext cx="5657850" cy="1952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27CAE95-0A4C-4FC1-B81C-A5798E0B0A68}" type="slidenum">
              <a:rPr lang="zh-CN" altLang="en-US" smtClean="0"/>
              <a:pPr/>
              <a:t>22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303033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图片本地压缩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b="1" dirty="0" smtClean="0">
                <a:solidFill>
                  <a:srgbClr val="009EFF"/>
                </a:solidFill>
              </a:rPr>
              <a:t>其实，还可以做的更好！</a:t>
            </a:r>
            <a:endParaRPr lang="en-US" altLang="zh-CN" b="1" dirty="0" smtClean="0">
              <a:solidFill>
                <a:srgbClr val="009EFF"/>
              </a:solidFill>
            </a:endParaRPr>
          </a:p>
          <a:p>
            <a:pPr lvl="1"/>
            <a:r>
              <a:rPr lang="zh-CN" altLang="en-US" dirty="0" smtClean="0"/>
              <a:t>借助第三方工具库</a:t>
            </a:r>
            <a:r>
              <a:rPr lang="en-US" altLang="zh-CN" dirty="0" err="1">
                <a:hlinkClick r:id="rId3"/>
              </a:rPr>
              <a:t>JpegMeta</a:t>
            </a:r>
            <a:endParaRPr lang="en-US" altLang="zh-CN" dirty="0" smtClean="0"/>
          </a:p>
          <a:p>
            <a:pPr lvl="1"/>
            <a:r>
              <a:rPr lang="zh-CN" altLang="zh-CN" dirty="0"/>
              <a:t>读取图片</a:t>
            </a:r>
            <a:r>
              <a:rPr lang="en-US" altLang="zh-CN" dirty="0"/>
              <a:t>meta</a:t>
            </a:r>
            <a:r>
              <a:rPr lang="zh-CN" altLang="zh-CN" dirty="0"/>
              <a:t>数据里照片拍摄方向后自动旋转图片</a:t>
            </a:r>
            <a:endParaRPr lang="en-US" altLang="zh-CN" dirty="0" smtClean="0"/>
          </a:p>
          <a:p>
            <a:pPr lvl="1"/>
            <a:endParaRPr lang="en-US" altLang="zh-CN" dirty="0"/>
          </a:p>
          <a:p>
            <a:pPr lvl="1"/>
            <a:endParaRPr lang="en-US" altLang="zh-CN" dirty="0" smtClean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632" y="4395589"/>
            <a:ext cx="3305175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4048" y="3948658"/>
            <a:ext cx="3333750" cy="1352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27CAE95-0A4C-4FC1-B81C-A5798E0B0A68}" type="slidenum">
              <a:rPr lang="zh-CN" altLang="en-US" smtClean="0"/>
              <a:pPr/>
              <a:t>23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79777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图片本地压缩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你担心性能问题吗？</a:t>
            </a:r>
            <a:endParaRPr lang="en-US" altLang="zh-CN" dirty="0" smtClean="0"/>
          </a:p>
          <a:p>
            <a:pPr lvl="1"/>
            <a:endParaRPr lang="en-US" altLang="zh-CN" dirty="0" smtClean="0"/>
          </a:p>
        </p:txBody>
      </p:sp>
      <p:sp>
        <p:nvSpPr>
          <p:cNvPr id="4" name="矩形 3"/>
          <p:cNvSpPr/>
          <p:nvPr/>
        </p:nvSpPr>
        <p:spPr>
          <a:xfrm>
            <a:off x="2201456" y="5157192"/>
            <a:ext cx="4270721" cy="830997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r>
              <a:rPr lang="zh-CN" altLang="en-US" sz="3200" dirty="0" smtClean="0">
                <a:latin typeface="微软雅黑" pitchFamily="34" charset="-122"/>
                <a:ea typeface="微软雅黑" pitchFamily="34" charset="-122"/>
              </a:rPr>
              <a:t>小米</a:t>
            </a:r>
            <a:r>
              <a:rPr lang="en-US" altLang="zh-CN" sz="3200" dirty="0" smtClean="0">
                <a:latin typeface="微软雅黑" pitchFamily="34" charset="-122"/>
                <a:ea typeface="微软雅黑" pitchFamily="34" charset="-122"/>
              </a:rPr>
              <a:t>2A</a:t>
            </a:r>
            <a:r>
              <a:rPr lang="zh-CN" altLang="en-US" sz="3200" dirty="0" smtClean="0">
                <a:latin typeface="微软雅黑" pitchFamily="34" charset="-122"/>
                <a:ea typeface="微软雅黑" pitchFamily="34" charset="-122"/>
              </a:rPr>
              <a:t>整个过程约</a:t>
            </a:r>
            <a:r>
              <a:rPr lang="en-US" altLang="zh-CN" sz="4800" b="1" dirty="0" smtClean="0">
                <a:solidFill>
                  <a:srgbClr val="009EFF"/>
                </a:solidFill>
                <a:latin typeface="微软雅黑" pitchFamily="34" charset="-122"/>
                <a:ea typeface="微软雅黑" pitchFamily="34" charset="-122"/>
              </a:rPr>
              <a:t>1s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27CAE95-0A4C-4FC1-B81C-A5798E0B0A68}" type="slidenum">
              <a:rPr lang="zh-CN" altLang="en-US" smtClean="0"/>
              <a:pPr/>
              <a:t>24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545559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图片本地压缩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推荐压缩方案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根据业务特点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图片压缩到</a:t>
            </a:r>
            <a:r>
              <a:rPr lang="en-US" altLang="zh-CN" dirty="0" smtClean="0"/>
              <a:t>800x800</a:t>
            </a:r>
            <a:r>
              <a:rPr lang="zh-CN" altLang="en-US" dirty="0" smtClean="0"/>
              <a:t>以内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压缩质量</a:t>
            </a:r>
            <a:r>
              <a:rPr lang="en-US" altLang="zh-CN" dirty="0" smtClean="0"/>
              <a:t>0.8</a:t>
            </a:r>
          </a:p>
          <a:p>
            <a:pPr lvl="2"/>
            <a:r>
              <a:rPr lang="en-US" altLang="zh-CN" dirty="0" smtClean="0"/>
              <a:t>Android</a:t>
            </a:r>
            <a:r>
              <a:rPr lang="zh-CN" altLang="en-US" dirty="0" smtClean="0"/>
              <a:t>下</a:t>
            </a:r>
            <a:r>
              <a:rPr lang="en-US" altLang="zh-CN" dirty="0" smtClean="0"/>
              <a:t>2G</a:t>
            </a:r>
            <a:r>
              <a:rPr lang="zh-CN" altLang="en-US" dirty="0" smtClean="0"/>
              <a:t>网络压缩质量调整为</a:t>
            </a:r>
            <a:r>
              <a:rPr lang="en-US" altLang="zh-CN" dirty="0" smtClean="0"/>
              <a:t>0.5</a:t>
            </a:r>
            <a:endParaRPr lang="en-US" altLang="zh-CN" dirty="0"/>
          </a:p>
          <a:p>
            <a:pPr lvl="1"/>
            <a:endParaRPr lang="en-US" altLang="zh-CN" dirty="0" smtClean="0"/>
          </a:p>
        </p:txBody>
      </p:sp>
      <p:sp>
        <p:nvSpPr>
          <p:cNvPr id="4" name="矩形 3"/>
          <p:cNvSpPr/>
          <p:nvPr/>
        </p:nvSpPr>
        <p:spPr>
          <a:xfrm>
            <a:off x="1043608" y="4602034"/>
            <a:ext cx="7257115" cy="1077218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r>
              <a:rPr lang="zh-CN" altLang="en-US" sz="3200" dirty="0" smtClean="0">
                <a:latin typeface="微软雅黑" pitchFamily="34" charset="-122"/>
                <a:ea typeface="微软雅黑" pitchFamily="34" charset="-122"/>
              </a:rPr>
              <a:t>一般</a:t>
            </a:r>
            <a:r>
              <a:rPr lang="en-US" altLang="zh-CN" sz="3200" dirty="0" smtClean="0">
                <a:latin typeface="微软雅黑" pitchFamily="34" charset="-122"/>
                <a:ea typeface="微软雅黑" pitchFamily="34" charset="-122"/>
              </a:rPr>
              <a:t>2M</a:t>
            </a:r>
            <a:r>
              <a:rPr lang="zh-CN" altLang="en-US" sz="3200" dirty="0" smtClean="0">
                <a:latin typeface="微软雅黑" pitchFamily="34" charset="-122"/>
                <a:ea typeface="微软雅黑" pitchFamily="34" charset="-122"/>
              </a:rPr>
              <a:t>的图片可以压缩到</a:t>
            </a:r>
            <a:r>
              <a:rPr lang="en-US" altLang="zh-CN" sz="4800" b="1" dirty="0" smtClean="0">
                <a:solidFill>
                  <a:srgbClr val="009EFF"/>
                </a:solidFill>
                <a:latin typeface="微软雅黑" pitchFamily="34" charset="-122"/>
                <a:ea typeface="微软雅黑" pitchFamily="34" charset="-122"/>
              </a:rPr>
              <a:t>150k</a:t>
            </a:r>
            <a:r>
              <a:rPr lang="zh-CN" altLang="en-US" sz="3200" dirty="0" smtClean="0">
                <a:latin typeface="微软雅黑" pitchFamily="34" charset="-122"/>
                <a:ea typeface="微软雅黑" pitchFamily="34" charset="-122"/>
              </a:rPr>
              <a:t>左右</a:t>
            </a:r>
            <a:endParaRPr lang="en-US" altLang="zh-CN" sz="3200" dirty="0" smtClean="0">
              <a:latin typeface="微软雅黑" pitchFamily="34" charset="-122"/>
              <a:ea typeface="微软雅黑" pitchFamily="34" charset="-122"/>
            </a:endParaRPr>
          </a:p>
          <a:p>
            <a:r>
              <a:rPr lang="zh-CN" altLang="en-US" sz="1600" dirty="0" smtClean="0">
                <a:latin typeface="微软雅黑" pitchFamily="34" charset="-122"/>
                <a:ea typeface="微软雅黑" pitchFamily="34" charset="-122"/>
              </a:rPr>
              <a:t>适合移动网络下传输</a:t>
            </a:r>
            <a:endParaRPr lang="en-US" altLang="zh-CN" sz="1600" dirty="0" smtClean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27CAE95-0A4C-4FC1-B81C-A5798E0B0A68}" type="slidenum">
              <a:rPr lang="zh-CN" altLang="en-US" smtClean="0"/>
              <a:pPr/>
              <a:t>25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335475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3322712" cy="5386610"/>
          </a:xfrm>
        </p:spPr>
        <p:txBody>
          <a:bodyPr anchor="t"/>
          <a:lstStyle/>
          <a:p>
            <a:r>
              <a:rPr lang="zh-CN" altLang="en-US" dirty="0"/>
              <a:t>百万</a:t>
            </a:r>
            <a:r>
              <a:rPr lang="zh-CN" altLang="en-US" dirty="0" smtClean="0"/>
              <a:t>上传量</a:t>
            </a:r>
            <a:r>
              <a:rPr lang="en-US" altLang="zh-CN" dirty="0" smtClean="0"/>
              <a:t>!</a:t>
            </a:r>
            <a:r>
              <a:rPr lang="en-US" altLang="zh-CN" dirty="0"/>
              <a:t/>
            </a:r>
            <a:br>
              <a:rPr lang="en-US" altLang="zh-CN" dirty="0"/>
            </a:br>
            <a:r>
              <a:rPr lang="en-US" altLang="zh-CN" dirty="0" smtClean="0"/>
              <a:t/>
            </a:r>
            <a:br>
              <a:rPr lang="en-US" altLang="zh-CN" dirty="0" smtClean="0"/>
            </a:br>
            <a:r>
              <a:rPr lang="en-US" altLang="zh-CN" dirty="0" smtClean="0"/>
              <a:t/>
            </a:r>
            <a:br>
              <a:rPr lang="en-US" altLang="zh-CN" dirty="0" smtClean="0"/>
            </a:br>
            <a:r>
              <a:rPr lang="zh-CN" altLang="en-US" spc="-300" dirty="0" smtClean="0"/>
              <a:t>用</a:t>
            </a:r>
            <a:r>
              <a:rPr lang="zh-CN" altLang="en-US" dirty="0" smtClean="0"/>
              <a:t>户</a:t>
            </a:r>
            <a:r>
              <a:rPr lang="en-US" altLang="zh-CN" dirty="0" smtClean="0"/>
              <a:t/>
            </a:r>
            <a:br>
              <a:rPr lang="en-US" altLang="zh-CN" dirty="0" smtClean="0"/>
            </a:br>
            <a:r>
              <a:rPr lang="zh-CN" altLang="en-US" dirty="0" smtClean="0"/>
              <a:t>很</a:t>
            </a:r>
            <a:r>
              <a:rPr lang="zh-CN" altLang="en-US" dirty="0"/>
              <a:t>开心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27CAE95-0A4C-4FC1-B81C-A5798E0B0A68}" type="slidenum">
              <a:rPr lang="zh-CN" altLang="en-US" smtClean="0"/>
              <a:pPr/>
              <a:t>26</a:t>
            </a:fld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17564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 smtClean="0"/>
              <a:t>nodejs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取代</a:t>
            </a:r>
            <a:r>
              <a:rPr lang="en-US" altLang="zh-CN" dirty="0" smtClean="0"/>
              <a:t>CGI</a:t>
            </a:r>
            <a:r>
              <a:rPr lang="zh-CN" altLang="en-US" smtClean="0"/>
              <a:t>？</a:t>
            </a:r>
            <a:endParaRPr lang="en-US" altLang="zh-CN" smtClean="0"/>
          </a:p>
          <a:p>
            <a:r>
              <a:rPr lang="zh-CN" altLang="en-US" dirty="0" smtClean="0"/>
              <a:t>最小成本最大功效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27CAE95-0A4C-4FC1-B81C-A5798E0B0A68}" type="slidenum">
              <a:rPr lang="zh-CN" altLang="en-US" smtClean="0"/>
              <a:pPr/>
              <a:t>27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768221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模块化：页面管理</a:t>
            </a:r>
            <a:endParaRPr lang="zh-CN" altLang="en-US" dirty="0"/>
          </a:p>
        </p:txBody>
      </p:sp>
      <p:sp>
        <p:nvSpPr>
          <p:cNvPr id="57" name="内容占位符 5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err="1" smtClean="0"/>
              <a:t>PageManager</a:t>
            </a:r>
            <a:endParaRPr lang="zh-CN" altLang="en-US" dirty="0"/>
          </a:p>
        </p:txBody>
      </p:sp>
      <p:grpSp>
        <p:nvGrpSpPr>
          <p:cNvPr id="56" name="组合 55"/>
          <p:cNvGrpSpPr/>
          <p:nvPr/>
        </p:nvGrpSpPr>
        <p:grpSpPr>
          <a:xfrm>
            <a:off x="1043608" y="1268760"/>
            <a:ext cx="7128792" cy="4536504"/>
            <a:chOff x="899592" y="1700808"/>
            <a:chExt cx="7128792" cy="4536504"/>
          </a:xfrm>
        </p:grpSpPr>
        <p:sp>
          <p:nvSpPr>
            <p:cNvPr id="6" name="圆角矩形 5"/>
            <p:cNvSpPr/>
            <p:nvPr/>
          </p:nvSpPr>
          <p:spPr>
            <a:xfrm>
              <a:off x="3851920" y="1700808"/>
              <a:ext cx="1728192" cy="504056"/>
            </a:xfrm>
            <a:prstGeom prst="roundRect">
              <a:avLst>
                <a:gd name="adj" fmla="val 50000"/>
              </a:avLst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 smtClean="0"/>
                <a:t>Page launched</a:t>
              </a:r>
              <a:endParaRPr lang="zh-CN" altLang="en-US" sz="1400" dirty="0"/>
            </a:p>
          </p:txBody>
        </p:sp>
        <p:sp>
          <p:nvSpPr>
            <p:cNvPr id="8" name="圆角矩形 7"/>
            <p:cNvSpPr/>
            <p:nvPr/>
          </p:nvSpPr>
          <p:spPr>
            <a:xfrm>
              <a:off x="4031940" y="2468893"/>
              <a:ext cx="1368152" cy="360040"/>
            </a:xfrm>
            <a:prstGeom prst="roundRect">
              <a:avLst/>
            </a:prstGeom>
            <a:ln>
              <a:noFill/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 err="1" smtClean="0"/>
                <a:t>onCreate</a:t>
              </a:r>
              <a:endParaRPr lang="zh-CN" altLang="en-US" sz="1400" dirty="0"/>
            </a:p>
          </p:txBody>
        </p:sp>
        <p:sp>
          <p:nvSpPr>
            <p:cNvPr id="13" name="圆角矩形 12"/>
            <p:cNvSpPr/>
            <p:nvPr/>
          </p:nvSpPr>
          <p:spPr>
            <a:xfrm>
              <a:off x="2987824" y="3717032"/>
              <a:ext cx="3384376" cy="504056"/>
            </a:xfrm>
            <a:prstGeom prst="roundRect">
              <a:avLst>
                <a:gd name="adj" fmla="val 50000"/>
              </a:avLst>
            </a:prstGeom>
            <a:solidFill>
              <a:srgbClr val="92D050"/>
            </a:solidFill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 smtClean="0"/>
                <a:t>Page showed at front of users</a:t>
              </a:r>
              <a:endParaRPr lang="zh-CN" altLang="en-US" sz="1400" dirty="0"/>
            </a:p>
          </p:txBody>
        </p:sp>
        <p:sp>
          <p:nvSpPr>
            <p:cNvPr id="14" name="圆角矩形 13"/>
            <p:cNvSpPr/>
            <p:nvPr/>
          </p:nvSpPr>
          <p:spPr>
            <a:xfrm>
              <a:off x="4031940" y="3092962"/>
              <a:ext cx="1368152" cy="360040"/>
            </a:xfrm>
            <a:prstGeom prst="roundRect">
              <a:avLst/>
            </a:prstGeom>
            <a:ln>
              <a:noFill/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 err="1"/>
                <a:t>onShow</a:t>
              </a:r>
              <a:endParaRPr lang="zh-CN" altLang="en-US" sz="1400" dirty="0"/>
            </a:p>
          </p:txBody>
        </p:sp>
        <p:sp>
          <p:nvSpPr>
            <p:cNvPr id="15" name="圆角矩形 14"/>
            <p:cNvSpPr/>
            <p:nvPr/>
          </p:nvSpPr>
          <p:spPr>
            <a:xfrm>
              <a:off x="4031940" y="4485116"/>
              <a:ext cx="1368152" cy="360040"/>
            </a:xfrm>
            <a:prstGeom prst="roundRect">
              <a:avLst/>
            </a:prstGeom>
            <a:ln>
              <a:noFill/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 err="1"/>
                <a:t>onHide</a:t>
              </a:r>
              <a:endParaRPr lang="zh-CN" altLang="en-US" sz="1400" dirty="0"/>
            </a:p>
          </p:txBody>
        </p:sp>
        <p:sp>
          <p:nvSpPr>
            <p:cNvPr id="16" name="圆角矩形 15"/>
            <p:cNvSpPr/>
            <p:nvPr/>
          </p:nvSpPr>
          <p:spPr>
            <a:xfrm>
              <a:off x="4031940" y="5109185"/>
              <a:ext cx="1368152" cy="360040"/>
            </a:xfrm>
            <a:prstGeom prst="roundRect">
              <a:avLst/>
            </a:prstGeom>
            <a:ln>
              <a:noFill/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 err="1" smtClean="0"/>
                <a:t>onDestory</a:t>
              </a:r>
              <a:endParaRPr lang="zh-CN" altLang="en-US" sz="1400" dirty="0"/>
            </a:p>
          </p:txBody>
        </p:sp>
        <p:sp>
          <p:nvSpPr>
            <p:cNvPr id="17" name="圆角矩形 16"/>
            <p:cNvSpPr/>
            <p:nvPr/>
          </p:nvSpPr>
          <p:spPr>
            <a:xfrm>
              <a:off x="3851920" y="5733256"/>
              <a:ext cx="1728192" cy="504056"/>
            </a:xfrm>
            <a:prstGeom prst="roundRect">
              <a:avLst>
                <a:gd name="adj" fmla="val 50000"/>
              </a:avLst>
            </a:prstGeom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/>
                <a:t>Page cleared</a:t>
              </a:r>
              <a:endParaRPr lang="zh-CN" altLang="en-US" sz="1400" dirty="0"/>
            </a:p>
          </p:txBody>
        </p:sp>
        <p:cxnSp>
          <p:nvCxnSpPr>
            <p:cNvPr id="19" name="直接箭头连接符 18"/>
            <p:cNvCxnSpPr/>
            <p:nvPr/>
          </p:nvCxnSpPr>
          <p:spPr>
            <a:xfrm>
              <a:off x="4716016" y="2828933"/>
              <a:ext cx="0" cy="264029"/>
            </a:xfrm>
            <a:prstGeom prst="straightConnector1">
              <a:avLst/>
            </a:prstGeom>
            <a:ln w="12700">
              <a:solidFill>
                <a:schemeClr val="tx1">
                  <a:lumMod val="75000"/>
                  <a:lumOff val="25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0" name="直接箭头连接符 19"/>
            <p:cNvCxnSpPr/>
            <p:nvPr/>
          </p:nvCxnSpPr>
          <p:spPr>
            <a:xfrm>
              <a:off x="4716016" y="2204864"/>
              <a:ext cx="0" cy="264029"/>
            </a:xfrm>
            <a:prstGeom prst="straightConnector1">
              <a:avLst/>
            </a:prstGeom>
            <a:ln w="12700">
              <a:solidFill>
                <a:schemeClr val="tx1">
                  <a:lumMod val="75000"/>
                  <a:lumOff val="25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1" name="直接箭头连接符 20"/>
            <p:cNvCxnSpPr/>
            <p:nvPr/>
          </p:nvCxnSpPr>
          <p:spPr>
            <a:xfrm>
              <a:off x="4716016" y="3453002"/>
              <a:ext cx="0" cy="264029"/>
            </a:xfrm>
            <a:prstGeom prst="straightConnector1">
              <a:avLst/>
            </a:prstGeom>
            <a:ln w="12700">
              <a:solidFill>
                <a:schemeClr val="tx1">
                  <a:lumMod val="75000"/>
                  <a:lumOff val="25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3" name="直接箭头连接符 22"/>
            <p:cNvCxnSpPr/>
            <p:nvPr/>
          </p:nvCxnSpPr>
          <p:spPr>
            <a:xfrm>
              <a:off x="4716016" y="4221087"/>
              <a:ext cx="0" cy="264029"/>
            </a:xfrm>
            <a:prstGeom prst="straightConnector1">
              <a:avLst/>
            </a:prstGeom>
            <a:ln w="12700">
              <a:solidFill>
                <a:schemeClr val="tx1">
                  <a:lumMod val="75000"/>
                  <a:lumOff val="25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4" name="直接箭头连接符 23"/>
            <p:cNvCxnSpPr/>
            <p:nvPr/>
          </p:nvCxnSpPr>
          <p:spPr>
            <a:xfrm>
              <a:off x="4720183" y="4845156"/>
              <a:ext cx="0" cy="264029"/>
            </a:xfrm>
            <a:prstGeom prst="straightConnector1">
              <a:avLst/>
            </a:prstGeom>
            <a:ln w="12700">
              <a:solidFill>
                <a:schemeClr val="tx1">
                  <a:lumMod val="75000"/>
                  <a:lumOff val="25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直接箭头连接符 24"/>
            <p:cNvCxnSpPr/>
            <p:nvPr/>
          </p:nvCxnSpPr>
          <p:spPr>
            <a:xfrm>
              <a:off x="4728517" y="5469227"/>
              <a:ext cx="0" cy="264029"/>
            </a:xfrm>
            <a:prstGeom prst="straightConnector1">
              <a:avLst/>
            </a:prstGeom>
            <a:ln w="12700">
              <a:solidFill>
                <a:schemeClr val="tx1">
                  <a:lumMod val="75000"/>
                  <a:lumOff val="25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7" name="肘形连接符 26"/>
            <p:cNvCxnSpPr>
              <a:stCxn id="15" idx="3"/>
              <a:endCxn id="14" idx="3"/>
            </p:cNvCxnSpPr>
            <p:nvPr/>
          </p:nvCxnSpPr>
          <p:spPr>
            <a:xfrm flipV="1">
              <a:off x="5400092" y="3272982"/>
              <a:ext cx="12700" cy="1392154"/>
            </a:xfrm>
            <a:prstGeom prst="bentConnector3">
              <a:avLst>
                <a:gd name="adj1" fmla="val 15352945"/>
              </a:avLst>
            </a:prstGeom>
            <a:ln w="12700">
              <a:solidFill>
                <a:schemeClr val="tx1">
                  <a:lumMod val="75000"/>
                  <a:lumOff val="25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矩形 37"/>
            <p:cNvSpPr/>
            <p:nvPr/>
          </p:nvSpPr>
          <p:spPr>
            <a:xfrm>
              <a:off x="6444208" y="4353101"/>
              <a:ext cx="1584176" cy="624069"/>
            </a:xfrm>
            <a:prstGeom prst="rect">
              <a:avLst/>
            </a:prstGeom>
            <a:ln>
              <a:noFill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 smtClean="0"/>
                <a:t>User navigates to the page</a:t>
              </a:r>
              <a:endParaRPr lang="zh-CN" altLang="en-US" sz="1400" dirty="0"/>
            </a:p>
          </p:txBody>
        </p:sp>
        <p:sp>
          <p:nvSpPr>
            <p:cNvPr id="40" name="圆角矩形 39"/>
            <p:cNvSpPr/>
            <p:nvPr/>
          </p:nvSpPr>
          <p:spPr>
            <a:xfrm>
              <a:off x="899592" y="3127457"/>
              <a:ext cx="1368152" cy="360040"/>
            </a:xfrm>
            <a:prstGeom prst="roundRect">
              <a:avLst/>
            </a:prstGeom>
            <a:ln>
              <a:noFill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 err="1" smtClean="0"/>
                <a:t>onBack</a:t>
              </a:r>
              <a:endParaRPr lang="zh-CN" altLang="en-US" sz="1400" dirty="0"/>
            </a:p>
          </p:txBody>
        </p:sp>
        <p:sp>
          <p:nvSpPr>
            <p:cNvPr id="41" name="圆角矩形 40"/>
            <p:cNvSpPr/>
            <p:nvPr/>
          </p:nvSpPr>
          <p:spPr>
            <a:xfrm>
              <a:off x="899592" y="3818289"/>
              <a:ext cx="1368152" cy="360040"/>
            </a:xfrm>
            <a:prstGeom prst="roundRect">
              <a:avLst/>
            </a:prstGeom>
            <a:ln>
              <a:noFill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 err="1" smtClean="0"/>
                <a:t>onClick</a:t>
              </a:r>
              <a:endParaRPr lang="zh-CN" altLang="en-US" sz="1400" dirty="0"/>
            </a:p>
          </p:txBody>
        </p:sp>
        <p:sp>
          <p:nvSpPr>
            <p:cNvPr id="42" name="圆角矩形 41"/>
            <p:cNvSpPr/>
            <p:nvPr/>
          </p:nvSpPr>
          <p:spPr>
            <a:xfrm>
              <a:off x="899592" y="4509120"/>
              <a:ext cx="1368152" cy="360040"/>
            </a:xfrm>
            <a:prstGeom prst="roundRect">
              <a:avLst/>
            </a:prstGeom>
            <a:ln>
              <a:noFill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 err="1" smtClean="0"/>
                <a:t>onXxx</a:t>
              </a:r>
              <a:r>
                <a:rPr lang="en-US" altLang="zh-CN" sz="1400" dirty="0" smtClean="0"/>
                <a:t>…</a:t>
              </a:r>
              <a:endParaRPr lang="zh-CN" altLang="en-US" sz="1400" dirty="0"/>
            </a:p>
          </p:txBody>
        </p:sp>
        <p:cxnSp>
          <p:nvCxnSpPr>
            <p:cNvPr id="49" name="肘形连接符 48"/>
            <p:cNvCxnSpPr>
              <a:stCxn id="13" idx="1"/>
              <a:endCxn id="40" idx="3"/>
            </p:cNvCxnSpPr>
            <p:nvPr/>
          </p:nvCxnSpPr>
          <p:spPr>
            <a:xfrm rot="10800000">
              <a:off x="2267744" y="3307478"/>
              <a:ext cx="720080" cy="661583"/>
            </a:xfrm>
            <a:prstGeom prst="bentConnector3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肘形连接符 50"/>
            <p:cNvCxnSpPr>
              <a:stCxn id="13" idx="1"/>
              <a:endCxn id="42" idx="3"/>
            </p:cNvCxnSpPr>
            <p:nvPr/>
          </p:nvCxnSpPr>
          <p:spPr>
            <a:xfrm rot="10800000" flipV="1">
              <a:off x="2267744" y="3969060"/>
              <a:ext cx="720080" cy="720080"/>
            </a:xfrm>
            <a:prstGeom prst="bentConnector3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接箭头连接符 54"/>
            <p:cNvCxnSpPr/>
            <p:nvPr/>
          </p:nvCxnSpPr>
          <p:spPr>
            <a:xfrm flipH="1">
              <a:off x="2267744" y="3969059"/>
              <a:ext cx="360039" cy="0"/>
            </a:xfrm>
            <a:prstGeom prst="straightConnector1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灯片编号占位符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27CAE95-0A4C-4FC1-B81C-A5798E0B0A68}" type="slidenum">
              <a:rPr lang="zh-CN" altLang="en-US" smtClean="0"/>
              <a:pPr/>
              <a:t>28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1548222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xmlns:p14="http://schemas.microsoft.com/office/powerpoint/2010/main" spd="slow">
        <p:circle/>
      </p:transition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动静分离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27CAE95-0A4C-4FC1-B81C-A5798E0B0A68}" type="slidenum">
              <a:rPr lang="zh-CN" altLang="en-US" smtClean="0"/>
              <a:pPr/>
              <a:t>29</a:t>
            </a:fld>
            <a:endParaRPr lang="zh-CN" altLang="en-US" dirty="0"/>
          </a:p>
        </p:txBody>
      </p:sp>
      <p:pic>
        <p:nvPicPr>
          <p:cNvPr id="1026" name="Picture 2" descr="F:\yuni\94058156\yunidoc\ppt\velocity\old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1149167"/>
            <a:ext cx="6840760" cy="49441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60650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多普勒测速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err="1"/>
              <a:t>Q</a:t>
            </a:r>
            <a:r>
              <a:rPr lang="en-US" altLang="zh-CN" dirty="0" err="1" smtClean="0"/>
              <a:t>zone</a:t>
            </a:r>
            <a:r>
              <a:rPr lang="zh-CN" altLang="en-US" dirty="0" smtClean="0"/>
              <a:t> </a:t>
            </a:r>
            <a:r>
              <a:rPr lang="en-US" altLang="zh-CN" dirty="0" smtClean="0"/>
              <a:t>touch</a:t>
            </a:r>
            <a:r>
              <a:rPr lang="zh-CN" altLang="en-US" dirty="0" smtClean="0"/>
              <a:t>多普勒测速数据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27CAE95-0A4C-4FC1-B81C-A5798E0B0A68}" type="slidenum">
              <a:rPr lang="zh-CN" altLang="en-US" smtClean="0"/>
              <a:pPr/>
              <a:t>30</a:t>
            </a:fld>
            <a:endParaRPr lang="zh-CN" altLang="en-US" dirty="0"/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3172904"/>
              </p:ext>
            </p:extLst>
          </p:nvPr>
        </p:nvGraphicFramePr>
        <p:xfrm>
          <a:off x="683569" y="2492896"/>
          <a:ext cx="7848871" cy="2016224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196207"/>
                <a:gridCol w="1663166"/>
                <a:gridCol w="1663166"/>
                <a:gridCol w="1663166"/>
                <a:gridCol w="1663166"/>
              </a:tblGrid>
              <a:tr h="504056"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solidFill>
                            <a:srgbClr val="009EFF"/>
                          </a:solidFill>
                        </a:rPr>
                        <a:t>#</a:t>
                      </a:r>
                      <a:endParaRPr lang="zh-CN" altLang="en-US" dirty="0">
                        <a:solidFill>
                          <a:srgbClr val="009E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err="1" smtClean="0">
                          <a:solidFill>
                            <a:srgbClr val="009EFF"/>
                          </a:solidFill>
                        </a:rPr>
                        <a:t>dns</a:t>
                      </a:r>
                      <a:r>
                        <a:rPr lang="en-US" altLang="zh-CN" dirty="0" smtClean="0">
                          <a:solidFill>
                            <a:srgbClr val="009EFF"/>
                          </a:solidFill>
                        </a:rPr>
                        <a:t>(s)</a:t>
                      </a:r>
                      <a:endParaRPr lang="zh-CN" altLang="en-US" dirty="0">
                        <a:solidFill>
                          <a:srgbClr val="009E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solidFill>
                            <a:srgbClr val="009EFF"/>
                          </a:solidFill>
                        </a:rPr>
                        <a:t>conn(s)</a:t>
                      </a:r>
                      <a:endParaRPr lang="zh-CN" altLang="en-US" dirty="0">
                        <a:solidFill>
                          <a:srgbClr val="009E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err="1" smtClean="0">
                          <a:solidFill>
                            <a:srgbClr val="009EFF"/>
                          </a:solidFill>
                        </a:rPr>
                        <a:t>rtt</a:t>
                      </a:r>
                      <a:r>
                        <a:rPr lang="en-US" altLang="zh-CN" dirty="0" smtClean="0">
                          <a:solidFill>
                            <a:srgbClr val="009EFF"/>
                          </a:solidFill>
                        </a:rPr>
                        <a:t>(s)</a:t>
                      </a:r>
                      <a:endParaRPr lang="zh-CN" altLang="en-US" dirty="0">
                        <a:solidFill>
                          <a:srgbClr val="009E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err="1" smtClean="0">
                          <a:solidFill>
                            <a:srgbClr val="009EFF"/>
                          </a:solidFill>
                        </a:rPr>
                        <a:t>tran</a:t>
                      </a:r>
                      <a:r>
                        <a:rPr lang="en-US" altLang="zh-CN" dirty="0" smtClean="0">
                          <a:solidFill>
                            <a:srgbClr val="009EFF"/>
                          </a:solidFill>
                        </a:rPr>
                        <a:t>(kb/s)</a:t>
                      </a:r>
                      <a:endParaRPr lang="zh-CN" altLang="en-US" dirty="0">
                        <a:solidFill>
                          <a:srgbClr val="009EFF"/>
                        </a:solidFill>
                      </a:endParaRPr>
                    </a:p>
                  </a:txBody>
                  <a:tcPr/>
                </a:tc>
              </a:tr>
              <a:tr h="504056"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solidFill>
                            <a:srgbClr val="009EFF"/>
                          </a:solidFill>
                        </a:rPr>
                        <a:t>2g</a:t>
                      </a:r>
                      <a:endParaRPr lang="zh-CN" altLang="en-US" dirty="0">
                        <a:solidFill>
                          <a:srgbClr val="009E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3.85785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effectLst/>
                        </a:rPr>
                        <a:t>2.33482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effectLst/>
                        </a:rPr>
                        <a:t>2.57478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14.0374</a:t>
                      </a:r>
                      <a:endParaRPr lang="zh-CN" altLang="en-US" dirty="0"/>
                    </a:p>
                  </a:txBody>
                  <a:tcPr/>
                </a:tc>
              </a:tr>
              <a:tr h="504056"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solidFill>
                            <a:srgbClr val="009EFF"/>
                          </a:solidFill>
                        </a:rPr>
                        <a:t>3g</a:t>
                      </a:r>
                      <a:endParaRPr lang="zh-CN" altLang="en-US" dirty="0">
                        <a:solidFill>
                          <a:srgbClr val="009E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effectLst/>
                        </a:rPr>
                        <a:t>1.60643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effectLst/>
                        </a:rPr>
                        <a:t>0.743109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effectLst/>
                        </a:rPr>
                        <a:t>0.608047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effectLst/>
                        </a:rPr>
                        <a:t>60.1967</a:t>
                      </a:r>
                      <a:endParaRPr lang="zh-CN" altLang="en-US" dirty="0"/>
                    </a:p>
                  </a:txBody>
                  <a:tcPr/>
                </a:tc>
              </a:tr>
              <a:tr h="504056">
                <a:tc>
                  <a:txBody>
                    <a:bodyPr/>
                    <a:lstStyle/>
                    <a:p>
                      <a:r>
                        <a:rPr lang="en-US" altLang="zh-CN" dirty="0" err="1" smtClean="0">
                          <a:solidFill>
                            <a:srgbClr val="009EFF"/>
                          </a:solidFill>
                        </a:rPr>
                        <a:t>wifi</a:t>
                      </a:r>
                      <a:endParaRPr lang="zh-CN" altLang="en-US" dirty="0">
                        <a:solidFill>
                          <a:srgbClr val="009E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effectLst/>
                        </a:rPr>
                        <a:t>0.986921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effectLst/>
                        </a:rPr>
                        <a:t>0.550208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effectLst/>
                        </a:rPr>
                        <a:t>0.444332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effectLst/>
                        </a:rPr>
                        <a:t>70.8728</a:t>
                      </a:r>
                      <a:endParaRPr lang="zh-CN" alt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242703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 err="1" smtClean="0"/>
              <a:t>nodejs</a:t>
            </a:r>
            <a:r>
              <a:rPr lang="zh-CN" altLang="en-US" dirty="0" smtClean="0"/>
              <a:t>直出</a:t>
            </a:r>
            <a:endParaRPr lang="zh-CN" alt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2579" y="1628800"/>
            <a:ext cx="5711909" cy="41252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灯片编号占位符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27CAE95-0A4C-4FC1-B81C-A5798E0B0A68}" type="slidenum">
              <a:rPr lang="zh-CN" altLang="en-US" smtClean="0"/>
              <a:pPr/>
              <a:t>31</a:t>
            </a:fld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457199" y="1600200"/>
            <a:ext cx="2795379" cy="4525963"/>
          </a:xfrm>
        </p:spPr>
        <p:txBody>
          <a:bodyPr/>
          <a:lstStyle/>
          <a:p>
            <a:r>
              <a:rPr lang="zh-CN" altLang="en-US" dirty="0" smtClean="0"/>
              <a:t>原理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基于</a:t>
            </a:r>
            <a:r>
              <a:rPr lang="en-US" altLang="zh-CN" dirty="0" err="1" smtClean="0"/>
              <a:t>nodejs</a:t>
            </a:r>
            <a:r>
              <a:rPr lang="zh-CN" altLang="en-US" dirty="0" smtClean="0"/>
              <a:t>前后端公用一套</a:t>
            </a:r>
            <a:r>
              <a:rPr lang="en-US" altLang="zh-CN" dirty="0" err="1" smtClean="0"/>
              <a:t>js</a:t>
            </a:r>
            <a:r>
              <a:rPr lang="zh-CN" altLang="en-US" dirty="0" smtClean="0"/>
              <a:t>模板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对前端更加友好</a:t>
            </a:r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21940930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 err="1" smtClean="0"/>
              <a:t>nodejs</a:t>
            </a:r>
            <a:r>
              <a:rPr lang="zh-CN" altLang="en-US" dirty="0" smtClean="0"/>
              <a:t>直</a:t>
            </a:r>
            <a:r>
              <a:rPr lang="zh-CN" altLang="en-US" dirty="0"/>
              <a:t>出</a:t>
            </a: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ts val="800"/>
              </a:spcBef>
            </a:pPr>
            <a:r>
              <a:rPr lang="zh-CN" altLang="en-US" sz="2400" dirty="0"/>
              <a:t>容</a:t>
            </a:r>
            <a:r>
              <a:rPr lang="zh-CN" altLang="en-US" sz="2400" dirty="0" smtClean="0"/>
              <a:t>灾</a:t>
            </a:r>
            <a:endParaRPr lang="en-US" altLang="zh-CN" sz="2400" dirty="0" smtClean="0"/>
          </a:p>
          <a:p>
            <a:pPr lvl="1">
              <a:spcBef>
                <a:spcPts val="800"/>
              </a:spcBef>
            </a:pPr>
            <a:r>
              <a:rPr lang="zh-CN" altLang="en-US" sz="2000" dirty="0" smtClean="0"/>
              <a:t>当</a:t>
            </a:r>
            <a:r>
              <a:rPr lang="en-US" altLang="zh-CN" sz="2000" dirty="0" err="1" smtClean="0"/>
              <a:t>nodejs</a:t>
            </a:r>
            <a:r>
              <a:rPr lang="zh-CN" altLang="en-US" sz="2000" dirty="0" smtClean="0"/>
              <a:t>请求非关键路径出错时，转化为异步渲染</a:t>
            </a:r>
            <a:endParaRPr lang="en-US" altLang="zh-CN" sz="2000" dirty="0" smtClean="0"/>
          </a:p>
          <a:p>
            <a:pPr lvl="2">
              <a:spcBef>
                <a:spcPts val="800"/>
              </a:spcBef>
            </a:pPr>
            <a:r>
              <a:rPr lang="zh-CN" altLang="en-US" sz="1600" dirty="0" smtClean="0"/>
              <a:t>吐页面到浏览器，浏览器尝试异步再次请求</a:t>
            </a:r>
            <a:endParaRPr lang="en-US" altLang="zh-CN" sz="1600" dirty="0" smtClean="0"/>
          </a:p>
          <a:p>
            <a:pPr lvl="1">
              <a:spcBef>
                <a:spcPts val="800"/>
              </a:spcBef>
            </a:pPr>
            <a:r>
              <a:rPr lang="zh-CN" altLang="en-US" sz="2000" dirty="0" smtClean="0"/>
              <a:t>当</a:t>
            </a:r>
            <a:r>
              <a:rPr lang="en-US" altLang="zh-CN" sz="2000" dirty="0" err="1" smtClean="0"/>
              <a:t>nodejs</a:t>
            </a:r>
            <a:r>
              <a:rPr lang="zh-CN" altLang="en-US" sz="2000" dirty="0" smtClean="0"/>
              <a:t>请求关键路径出错时</a:t>
            </a:r>
            <a:endParaRPr lang="en-US" altLang="zh-CN" sz="2000" dirty="0" smtClean="0"/>
          </a:p>
          <a:p>
            <a:pPr lvl="2">
              <a:spcBef>
                <a:spcPts val="800"/>
              </a:spcBef>
            </a:pPr>
            <a:r>
              <a:rPr lang="zh-CN" altLang="en-US" sz="1600" dirty="0" smtClean="0"/>
              <a:t>提示用户错误信息</a:t>
            </a:r>
            <a:endParaRPr lang="en-US" altLang="zh-CN" sz="1600" dirty="0" smtClean="0"/>
          </a:p>
          <a:p>
            <a:pPr lvl="2">
              <a:spcBef>
                <a:spcPts val="800"/>
              </a:spcBef>
            </a:pPr>
            <a:endParaRPr lang="en-US" altLang="zh-CN" sz="1600" dirty="0" smtClean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27CAE95-0A4C-4FC1-B81C-A5798E0B0A68}" type="slidenum">
              <a:rPr lang="zh-CN" altLang="en-US" smtClean="0"/>
              <a:pPr/>
              <a:t>32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615816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 err="1" smtClean="0"/>
              <a:t>nodejs</a:t>
            </a:r>
            <a:r>
              <a:rPr lang="zh-CN" altLang="en-US" dirty="0" smtClean="0"/>
              <a:t>直</a:t>
            </a:r>
            <a:r>
              <a:rPr lang="zh-CN" altLang="en-US" dirty="0"/>
              <a:t>出</a:t>
            </a: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ts val="800"/>
              </a:spcBef>
            </a:pPr>
            <a:r>
              <a:rPr lang="zh-CN" altLang="en-US" sz="2400" dirty="0" smtClean="0"/>
              <a:t>测速</a:t>
            </a:r>
            <a:endParaRPr lang="en-US" altLang="zh-CN" sz="2400" dirty="0" smtClean="0"/>
          </a:p>
          <a:p>
            <a:pPr lvl="1">
              <a:spcBef>
                <a:spcPts val="800"/>
              </a:spcBef>
            </a:pPr>
            <a:r>
              <a:rPr lang="zh-CN" altLang="en-US" sz="2000" dirty="0"/>
              <a:t>可查看时间点直出一般在</a:t>
            </a:r>
            <a:r>
              <a:rPr lang="en-US" altLang="zh-CN" sz="2000" dirty="0"/>
              <a:t>2.5s</a:t>
            </a:r>
            <a:r>
              <a:rPr lang="zh-CN" altLang="en-US" sz="2000" dirty="0"/>
              <a:t>；而异步渲染则大于</a:t>
            </a:r>
            <a:r>
              <a:rPr lang="en-US" altLang="zh-CN" sz="2000" dirty="0"/>
              <a:t>5s</a:t>
            </a:r>
            <a:endParaRPr lang="en-US" altLang="zh-CN" sz="2000" dirty="0" smtClean="0"/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668" y="3057799"/>
            <a:ext cx="7862664" cy="27474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灯片编号占位符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27CAE95-0A4C-4FC1-B81C-A5798E0B0A68}" type="slidenum">
              <a:rPr lang="zh-CN" altLang="en-US" smtClean="0"/>
              <a:pPr/>
              <a:t>33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017436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 err="1" smtClean="0"/>
              <a:t>nodejs</a:t>
            </a:r>
            <a:r>
              <a:rPr lang="zh-CN" altLang="en-US" dirty="0" smtClean="0"/>
              <a:t>直</a:t>
            </a:r>
            <a:r>
              <a:rPr lang="zh-CN" altLang="en-US" dirty="0"/>
              <a:t>出</a:t>
            </a: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ts val="800"/>
              </a:spcBef>
            </a:pPr>
            <a:r>
              <a:rPr lang="zh-CN" altLang="en-US" sz="2400" dirty="0" smtClean="0"/>
              <a:t>测速</a:t>
            </a:r>
            <a:endParaRPr lang="en-US" altLang="zh-CN" sz="2400" dirty="0" smtClean="0"/>
          </a:p>
          <a:p>
            <a:pPr lvl="1">
              <a:spcBef>
                <a:spcPts val="800"/>
              </a:spcBef>
            </a:pPr>
            <a:r>
              <a:rPr lang="en-US" altLang="zh-CN" sz="1600" dirty="0" err="1" smtClean="0"/>
              <a:t>Nodejs</a:t>
            </a:r>
            <a:r>
              <a:rPr lang="zh-CN" altLang="en-US" sz="1600" dirty="0"/>
              <a:t>内</a:t>
            </a:r>
            <a:r>
              <a:rPr lang="zh-CN" altLang="en-US" sz="1600" dirty="0" smtClean="0"/>
              <a:t>网拉取后端</a:t>
            </a:r>
            <a:r>
              <a:rPr lang="en-US" altLang="zh-CN" sz="1600" dirty="0" err="1" smtClean="0"/>
              <a:t>cgi</a:t>
            </a:r>
            <a:r>
              <a:rPr lang="zh-CN" altLang="en-US" sz="1600" dirty="0" smtClean="0"/>
              <a:t>耗时（</a:t>
            </a:r>
            <a:r>
              <a:rPr lang="en-US" altLang="zh-CN" sz="1600" dirty="0" smtClean="0"/>
              <a:t>180ms</a:t>
            </a:r>
            <a:r>
              <a:rPr lang="zh-CN" altLang="en-US" sz="1600" dirty="0" smtClean="0"/>
              <a:t>左右）</a:t>
            </a: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999" y="2953469"/>
            <a:ext cx="8580003" cy="29958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灯片编号占位符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27CAE95-0A4C-4FC1-B81C-A5798E0B0A68}" type="slidenum">
              <a:rPr lang="zh-CN" altLang="en-US" smtClean="0"/>
              <a:pPr/>
              <a:t>34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337104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 err="1" smtClean="0"/>
              <a:t>nodejs</a:t>
            </a:r>
            <a:r>
              <a:rPr lang="zh-CN" altLang="en-US" dirty="0" smtClean="0"/>
              <a:t>直</a:t>
            </a:r>
            <a:r>
              <a:rPr lang="zh-CN" altLang="en-US" dirty="0"/>
              <a:t>出</a:t>
            </a: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ts val="800"/>
              </a:spcBef>
            </a:pPr>
            <a:r>
              <a:rPr lang="zh-CN" altLang="en-US" sz="2400" dirty="0" smtClean="0"/>
              <a:t>测速</a:t>
            </a:r>
            <a:endParaRPr lang="en-US" altLang="zh-CN" sz="1200" dirty="0" smtClean="0"/>
          </a:p>
          <a:p>
            <a:pPr lvl="1">
              <a:spcBef>
                <a:spcPts val="800"/>
              </a:spcBef>
            </a:pPr>
            <a:r>
              <a:rPr lang="en-US" altLang="zh-CN" sz="1600" dirty="0" err="1" smtClean="0"/>
              <a:t>Nodejs</a:t>
            </a:r>
            <a:r>
              <a:rPr lang="zh-CN" altLang="en-US" sz="1600" dirty="0" smtClean="0"/>
              <a:t>渲染模板耗时（可以忽略）</a:t>
            </a:r>
            <a:endParaRPr lang="en-US" altLang="zh-CN" sz="1600" dirty="0" smtClean="0"/>
          </a:p>
        </p:txBody>
      </p:sp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7104" y="3018492"/>
            <a:ext cx="8049792" cy="2930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灯片编号占位符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27CAE95-0A4C-4FC1-B81C-A5798E0B0A68}" type="slidenum">
              <a:rPr lang="zh-CN" altLang="en-US" smtClean="0"/>
              <a:pPr/>
              <a:t>35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204074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4400" dirty="0" smtClean="0"/>
              <a:t>HTML5</a:t>
            </a:r>
            <a:r>
              <a:rPr lang="zh-CN" altLang="en-US" sz="4400" dirty="0" smtClean="0"/>
              <a:t>是</a:t>
            </a:r>
          </a:p>
        </p:txBody>
      </p:sp>
      <p:pic>
        <p:nvPicPr>
          <p:cNvPr id="58372" name="Picture 7" descr="http://posters.7176.com/poster-pic/0848228/mgqak8eyj_1321705564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1340768"/>
            <a:ext cx="7753350" cy="47525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632977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理想与现实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27CAE95-0A4C-4FC1-B81C-A5798E0B0A68}" type="slidenum">
              <a:rPr lang="zh-CN" altLang="en-US" smtClean="0"/>
              <a:pPr/>
              <a:t>37</a:t>
            </a:fld>
            <a:endParaRPr lang="zh-CN" altLang="en-US" dirty="0"/>
          </a:p>
        </p:txBody>
      </p:sp>
      <p:pic>
        <p:nvPicPr>
          <p:cNvPr id="1026" name="Picture 2" descr="http://imgtech.gmw.cn/attachement/jpg/site2/20130302/eca86bd9e0eb129be4121f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1340768"/>
            <a:ext cx="6912768" cy="46877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232501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H5+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Q+</a:t>
            </a:r>
            <a:r>
              <a:rPr lang="zh-CN" altLang="en-US" dirty="0" smtClean="0"/>
              <a:t>（</a:t>
            </a:r>
            <a:r>
              <a:rPr lang="en-US" altLang="zh-CN" dirty="0" smtClean="0"/>
              <a:t>PC</a:t>
            </a:r>
            <a:r>
              <a:rPr lang="zh-CN" altLang="en-US" dirty="0" smtClean="0"/>
              <a:t>）</a:t>
            </a:r>
            <a:endParaRPr lang="en-US" altLang="zh-CN" dirty="0" smtClean="0"/>
          </a:p>
          <a:p>
            <a:r>
              <a:rPr lang="en-US" altLang="zh-CN" dirty="0" err="1" smtClean="0"/>
              <a:t>Phonegap</a:t>
            </a:r>
            <a:endParaRPr lang="en-US" altLang="zh-CN" dirty="0" smtClean="0"/>
          </a:p>
          <a:p>
            <a:r>
              <a:rPr lang="en-US" altLang="zh-CN" dirty="0" smtClean="0"/>
              <a:t>QCML</a:t>
            </a:r>
          </a:p>
          <a:p>
            <a:r>
              <a:rPr lang="en-US" altLang="zh-CN" dirty="0" smtClean="0"/>
              <a:t>SNG H5 hybrid SDK</a:t>
            </a:r>
          </a:p>
          <a:p>
            <a:r>
              <a:rPr lang="zh-CN" altLang="en-US" dirty="0"/>
              <a:t>微</a:t>
            </a:r>
            <a:r>
              <a:rPr lang="zh-CN" altLang="en-US" dirty="0" smtClean="0"/>
              <a:t>信</a:t>
            </a:r>
            <a:r>
              <a:rPr lang="en-US" altLang="zh-CN" smtClean="0"/>
              <a:t>JS SDK</a:t>
            </a:r>
            <a:endParaRPr lang="en-US" altLang="zh-CN" dirty="0" smtClean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27CAE95-0A4C-4FC1-B81C-A5798E0B0A68}" type="slidenum">
              <a:rPr lang="zh-CN" altLang="en-US" smtClean="0"/>
              <a:pPr/>
              <a:t>38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714037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38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246535"/>
            <a:ext cx="7612770" cy="58467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946763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圆角矩形 38"/>
          <p:cNvSpPr/>
          <p:nvPr/>
        </p:nvSpPr>
        <p:spPr>
          <a:xfrm>
            <a:off x="609600" y="1905000"/>
            <a:ext cx="5486400" cy="3972272"/>
          </a:xfrm>
          <a:prstGeom prst="roundRect">
            <a:avLst>
              <a:gd name="adj" fmla="val 3255"/>
            </a:avLst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圆角矩形 37"/>
          <p:cNvSpPr/>
          <p:nvPr/>
        </p:nvSpPr>
        <p:spPr>
          <a:xfrm>
            <a:off x="609600" y="1649016"/>
            <a:ext cx="5486400" cy="411832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 smtClean="0">
                <a:latin typeface="+mn-ea"/>
              </a:rPr>
              <a:t>java</a:t>
            </a:r>
            <a:endParaRPr lang="zh-CN" altLang="en-US" sz="1200" dirty="0">
              <a:latin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</a:t>
            </a:r>
            <a:r>
              <a:rPr lang="en-US" altLang="zh-CN" dirty="0" smtClean="0"/>
              <a:t>ndroid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27CAE95-0A4C-4FC1-B81C-A5798E0B0A68}" type="slidenum">
              <a:rPr lang="zh-CN" altLang="en-US" smtClean="0"/>
              <a:pPr/>
              <a:t>40</a:t>
            </a:fld>
            <a:endParaRPr lang="zh-CN" altLang="en-US" dirty="0"/>
          </a:p>
        </p:txBody>
      </p:sp>
      <p:sp>
        <p:nvSpPr>
          <p:cNvPr id="32" name="TextBox 31"/>
          <p:cNvSpPr txBox="1"/>
          <p:nvPr/>
        </p:nvSpPr>
        <p:spPr>
          <a:xfrm>
            <a:off x="6266033" y="1649016"/>
            <a:ext cx="2685351" cy="83099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zh-CN" dirty="0" err="1" smtClean="0"/>
              <a:t>loadUrl</a:t>
            </a:r>
            <a:endParaRPr lang="en-US" altLang="zh-CN" dirty="0" smtClean="0"/>
          </a:p>
          <a:p>
            <a:r>
              <a:rPr lang="en-US" sz="1200" dirty="0" smtClean="0"/>
              <a:t>Load the given </a:t>
            </a:r>
            <a:r>
              <a:rPr lang="en-US" sz="1200" dirty="0" err="1" smtClean="0"/>
              <a:t>url</a:t>
            </a:r>
          </a:p>
          <a:p>
            <a:r>
              <a:rPr lang="en-US" altLang="zh-CN" dirty="0" smtClean="0"/>
              <a:t>                                       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66033" y="2478286"/>
            <a:ext cx="2702984" cy="92333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zh-CN" dirty="0" err="1" smtClean="0"/>
              <a:t>addJavascriptInterface</a:t>
            </a:r>
            <a:endParaRPr lang="en-US" altLang="zh-CN" dirty="0" smtClean="0"/>
          </a:p>
          <a:p>
            <a:r>
              <a:rPr lang="en-US" sz="1200" dirty="0" smtClean="0"/>
              <a:t>Use this function to bind an object to </a:t>
            </a:r>
          </a:p>
          <a:p>
            <a:r>
              <a:rPr lang="en-US" sz="1200" b="1" dirty="0" smtClean="0">
                <a:solidFill>
                  <a:srgbClr val="FF0000"/>
                </a:solidFill>
              </a:rPr>
              <a:t>JavaScript</a:t>
            </a:r>
            <a:r>
              <a:rPr lang="en-US" sz="1200" dirty="0" smtClean="0"/>
              <a:t> so that the methods can </a:t>
            </a:r>
          </a:p>
          <a:p>
            <a:r>
              <a:rPr lang="en-US" sz="1200" dirty="0" smtClean="0"/>
              <a:t>be accessed from JavaScript</a:t>
            </a:r>
          </a:p>
        </p:txBody>
      </p:sp>
      <p:sp>
        <p:nvSpPr>
          <p:cNvPr id="40" name="圆角矩形 39"/>
          <p:cNvSpPr/>
          <p:nvPr/>
        </p:nvSpPr>
        <p:spPr>
          <a:xfrm>
            <a:off x="2771800" y="2514651"/>
            <a:ext cx="3214180" cy="3134072"/>
          </a:xfrm>
          <a:prstGeom prst="roundRect">
            <a:avLst>
              <a:gd name="adj" fmla="val 3255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圆角矩形 40"/>
          <p:cNvSpPr/>
          <p:nvPr/>
        </p:nvSpPr>
        <p:spPr>
          <a:xfrm>
            <a:off x="2771800" y="2258667"/>
            <a:ext cx="3214180" cy="32493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 err="1">
                <a:latin typeface="+mn-ea"/>
              </a:rPr>
              <a:t>webview</a:t>
            </a:r>
            <a:endParaRPr lang="zh-CN" altLang="en-US" sz="1200" dirty="0">
              <a:latin typeface="+mn-ea"/>
            </a:endParaRPr>
          </a:p>
        </p:txBody>
      </p:sp>
      <p:sp>
        <p:nvSpPr>
          <p:cNvPr id="33" name="右箭头 32"/>
          <p:cNvSpPr/>
          <p:nvPr/>
        </p:nvSpPr>
        <p:spPr>
          <a:xfrm>
            <a:off x="1259632" y="2852936"/>
            <a:ext cx="3600400" cy="1050032"/>
          </a:xfrm>
          <a:prstGeom prst="rightArrow">
            <a:avLst>
              <a:gd name="adj1" fmla="val 65145"/>
              <a:gd name="adj2" fmla="val 50000"/>
            </a:avLst>
          </a:prstGeom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 smtClean="0">
                <a:solidFill>
                  <a:schemeClr val="tx1"/>
                </a:solidFill>
                <a:latin typeface="+mn-ea"/>
              </a:rPr>
              <a:t>Java</a:t>
            </a:r>
            <a:r>
              <a:rPr lang="zh-CN" altLang="en-US" sz="1200" dirty="0" smtClean="0">
                <a:solidFill>
                  <a:schemeClr val="tx1"/>
                </a:solidFill>
                <a:latin typeface="+mn-ea"/>
              </a:rPr>
              <a:t>调用</a:t>
            </a:r>
            <a:r>
              <a:rPr lang="en-US" altLang="zh-CN" sz="1200" dirty="0" err="1" smtClean="0">
                <a:solidFill>
                  <a:schemeClr val="tx1"/>
                </a:solidFill>
                <a:latin typeface="+mn-ea"/>
              </a:rPr>
              <a:t>Js</a:t>
            </a:r>
            <a:endParaRPr lang="en-US" altLang="zh-CN" sz="1200" dirty="0" smtClean="0">
              <a:solidFill>
                <a:schemeClr val="tx1"/>
              </a:solidFill>
              <a:latin typeface="+mn-ea"/>
            </a:endParaRPr>
          </a:p>
          <a:p>
            <a:r>
              <a:rPr lang="zh-CN" altLang="en-US" sz="900" dirty="0">
                <a:solidFill>
                  <a:srgbClr val="00B0F0"/>
                </a:solidFill>
              </a:rPr>
              <a:t>ｍ</a:t>
            </a:r>
            <a:r>
              <a:rPr lang="en-US" altLang="zh-CN" sz="900" dirty="0" err="1">
                <a:solidFill>
                  <a:srgbClr val="00B0F0"/>
                </a:solidFill>
              </a:rPr>
              <a:t>Webview</a:t>
            </a:r>
            <a:r>
              <a:rPr lang="en-US" altLang="zh-CN" sz="900" dirty="0" err="1"/>
              <a:t>.loadUrl</a:t>
            </a:r>
            <a:r>
              <a:rPr lang="en-US" altLang="zh-CN" sz="900" dirty="0"/>
              <a:t>(“</a:t>
            </a:r>
            <a:r>
              <a:rPr lang="en-US" altLang="zh-CN" sz="900" dirty="0" err="1"/>
              <a:t>javascript</a:t>
            </a:r>
            <a:r>
              <a:rPr lang="en-US" altLang="zh-CN" sz="900" dirty="0"/>
              <a:t>: </a:t>
            </a:r>
            <a:r>
              <a:rPr lang="en-US" altLang="zh-CN" sz="900" dirty="0">
                <a:solidFill>
                  <a:schemeClr val="accent6">
                    <a:lumMod val="75000"/>
                  </a:schemeClr>
                </a:solidFill>
              </a:rPr>
              <a:t>JS_FUNCTION</a:t>
            </a:r>
            <a:r>
              <a:rPr lang="en-US" altLang="zh-CN" sz="900" dirty="0"/>
              <a:t>”);</a:t>
            </a:r>
            <a:endParaRPr lang="zh-CN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4" name="右箭头 33"/>
          <p:cNvSpPr/>
          <p:nvPr/>
        </p:nvSpPr>
        <p:spPr>
          <a:xfrm flipH="1">
            <a:off x="899592" y="4149080"/>
            <a:ext cx="3600400" cy="1181523"/>
          </a:xfrm>
          <a:prstGeom prst="rightArrow">
            <a:avLst>
              <a:gd name="adj1" fmla="val 62561"/>
              <a:gd name="adj2" fmla="val 50000"/>
            </a:avLst>
          </a:prstGeom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 smtClean="0">
                <a:latin typeface="+mn-ea"/>
              </a:rPr>
              <a:t>Js</a:t>
            </a:r>
            <a:r>
              <a:rPr lang="zh-CN" altLang="en-US" sz="1200" dirty="0" smtClean="0">
                <a:latin typeface="+mn-ea"/>
              </a:rPr>
              <a:t>调用</a:t>
            </a:r>
            <a:r>
              <a:rPr lang="en-US" altLang="zh-CN" sz="1200" dirty="0" smtClean="0">
                <a:latin typeface="+mn-ea"/>
              </a:rPr>
              <a:t>Java</a:t>
            </a:r>
          </a:p>
          <a:p>
            <a:r>
              <a:rPr lang="en-US" altLang="zh-CN" sz="900" dirty="0" err="1">
                <a:solidFill>
                  <a:srgbClr val="00B0F0"/>
                </a:solidFill>
              </a:rPr>
              <a:t>mWebView</a:t>
            </a:r>
            <a:r>
              <a:rPr lang="en-US" altLang="zh-CN" sz="900" dirty="0"/>
              <a:t>. </a:t>
            </a:r>
            <a:r>
              <a:rPr lang="en-US" altLang="zh-CN" sz="900" dirty="0" err="1"/>
              <a:t>addJavascriptInterface</a:t>
            </a:r>
            <a:r>
              <a:rPr lang="en-US" altLang="zh-CN" sz="900" dirty="0"/>
              <a:t>(</a:t>
            </a:r>
            <a:r>
              <a:rPr lang="en-US" altLang="zh-CN" sz="900" dirty="0">
                <a:solidFill>
                  <a:schemeClr val="accent6">
                    <a:lumMod val="75000"/>
                  </a:schemeClr>
                </a:solidFill>
              </a:rPr>
              <a:t>JAVA_OBJECT</a:t>
            </a:r>
            <a:r>
              <a:rPr lang="en-US" altLang="zh-CN" sz="900" dirty="0"/>
              <a:t>, “</a:t>
            </a:r>
            <a:r>
              <a:rPr lang="en-US" altLang="zh-CN" sz="900" dirty="0">
                <a:solidFill>
                  <a:schemeClr val="accent6">
                    <a:lumMod val="75000"/>
                  </a:schemeClr>
                </a:solidFill>
              </a:rPr>
              <a:t>OBJECT_NAME_IN_JS</a:t>
            </a:r>
            <a:r>
              <a:rPr lang="en-US" altLang="zh-CN" sz="900" dirty="0"/>
              <a:t>”)</a:t>
            </a:r>
            <a:endParaRPr lang="zh-CN" altLang="en-US" sz="600" dirty="0">
              <a:solidFill>
                <a:schemeClr val="tx1"/>
              </a:solidFill>
              <a:latin typeface="+mn-ea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721" y="1700808"/>
            <a:ext cx="427895" cy="3375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4381762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xmlns:p14="http://schemas.microsoft.com/office/powerpoint/2010/main" spd="slow">
        <p:circle/>
      </p:transition>
    </mc:Fallback>
  </mc:AlternateContent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3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8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 tmFilter="0, 0; .2, .5; .8, .5; 1, 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" dur="250" autoRev="1" fill="hold"/>
                                        <p:tgtEl>
                                          <p:spTgt spid="3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 tmFilter="0, 0; .2, .5; .8, .5; 1, 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5" dur="250" autoRev="1" fill="hold"/>
                                        <p:tgtEl>
                                          <p:spTgt spid="3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6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 tmFilter="0, 0; .2, .5; .8, .5; 1, 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8" dur="250" autoRev="1" fill="hold"/>
                                        <p:tgtEl>
                                          <p:spTgt spid="3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35" grpId="0" animBg="1"/>
      <p:bldP spid="33" grpId="0" animBg="1"/>
      <p:bldP spid="34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 smtClean="0"/>
              <a:t>ios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27CAE95-0A4C-4FC1-B81C-A5798E0B0A68}" type="slidenum">
              <a:rPr lang="zh-CN" altLang="en-US" smtClean="0"/>
              <a:pPr/>
              <a:t>41</a:t>
            </a:fld>
            <a:endParaRPr lang="zh-CN" altLang="en-US" dirty="0"/>
          </a:p>
        </p:txBody>
      </p:sp>
      <p:sp>
        <p:nvSpPr>
          <p:cNvPr id="5" name="圆角矩形 4"/>
          <p:cNvSpPr/>
          <p:nvPr/>
        </p:nvSpPr>
        <p:spPr>
          <a:xfrm>
            <a:off x="609600" y="1905000"/>
            <a:ext cx="5486400" cy="3972272"/>
          </a:xfrm>
          <a:prstGeom prst="roundRect">
            <a:avLst>
              <a:gd name="adj" fmla="val 3255"/>
            </a:avLst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圆角矩形 5"/>
          <p:cNvSpPr/>
          <p:nvPr/>
        </p:nvSpPr>
        <p:spPr>
          <a:xfrm>
            <a:off x="609600" y="1649016"/>
            <a:ext cx="5486400" cy="411832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 err="1" smtClean="0">
                <a:latin typeface="+mn-ea"/>
              </a:rPr>
              <a:t>Objecct</a:t>
            </a:r>
            <a:r>
              <a:rPr lang="en-US" altLang="zh-CN" sz="1200" dirty="0" smtClean="0">
                <a:latin typeface="+mn-ea"/>
              </a:rPr>
              <a:t> c</a:t>
            </a:r>
            <a:endParaRPr lang="zh-CN" altLang="en-US" sz="1200" dirty="0">
              <a:latin typeface="+mn-ea"/>
            </a:endParaRPr>
          </a:p>
        </p:txBody>
      </p:sp>
      <p:sp>
        <p:nvSpPr>
          <p:cNvPr id="9" name="圆角矩形 8"/>
          <p:cNvSpPr/>
          <p:nvPr/>
        </p:nvSpPr>
        <p:spPr>
          <a:xfrm>
            <a:off x="2771800" y="2514651"/>
            <a:ext cx="3214180" cy="3134072"/>
          </a:xfrm>
          <a:prstGeom prst="roundRect">
            <a:avLst>
              <a:gd name="adj" fmla="val 3255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圆角矩形 9"/>
          <p:cNvSpPr/>
          <p:nvPr/>
        </p:nvSpPr>
        <p:spPr>
          <a:xfrm>
            <a:off x="2771800" y="2258667"/>
            <a:ext cx="3214180" cy="32493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 err="1" smtClean="0">
                <a:latin typeface="+mn-ea"/>
              </a:rPr>
              <a:t>UIwebview</a:t>
            </a:r>
            <a:endParaRPr lang="zh-CN" altLang="en-US" sz="1200" dirty="0">
              <a:latin typeface="+mn-ea"/>
            </a:endParaRPr>
          </a:p>
        </p:txBody>
      </p:sp>
      <p:sp>
        <p:nvSpPr>
          <p:cNvPr id="11" name="右箭头 10"/>
          <p:cNvSpPr/>
          <p:nvPr/>
        </p:nvSpPr>
        <p:spPr>
          <a:xfrm>
            <a:off x="1259632" y="2852936"/>
            <a:ext cx="3600400" cy="1050032"/>
          </a:xfrm>
          <a:prstGeom prst="rightArrow">
            <a:avLst>
              <a:gd name="adj1" fmla="val 65145"/>
              <a:gd name="adj2" fmla="val 50000"/>
            </a:avLst>
          </a:prstGeom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 err="1">
                <a:solidFill>
                  <a:schemeClr val="tx1"/>
                </a:solidFill>
                <a:latin typeface="+mn-ea"/>
              </a:rPr>
              <a:t>oc</a:t>
            </a:r>
            <a:r>
              <a:rPr lang="zh-CN" altLang="en-US" sz="1200" dirty="0" smtClean="0">
                <a:solidFill>
                  <a:schemeClr val="tx1"/>
                </a:solidFill>
                <a:latin typeface="+mn-ea"/>
              </a:rPr>
              <a:t>调用</a:t>
            </a:r>
            <a:r>
              <a:rPr lang="en-US" altLang="zh-CN" sz="1200" dirty="0" err="1" smtClean="0">
                <a:solidFill>
                  <a:schemeClr val="tx1"/>
                </a:solidFill>
                <a:latin typeface="+mn-ea"/>
              </a:rPr>
              <a:t>Js</a:t>
            </a:r>
            <a:endParaRPr lang="en-US" altLang="zh-CN" sz="1200" dirty="0" smtClean="0">
              <a:solidFill>
                <a:schemeClr val="tx1"/>
              </a:solidFill>
              <a:latin typeface="+mn-ea"/>
            </a:endParaRPr>
          </a:p>
          <a:p>
            <a:r>
              <a:rPr lang="en-US" altLang="zh-CN" sz="900" dirty="0" err="1"/>
              <a:t>NSString</a:t>
            </a:r>
            <a:r>
              <a:rPr lang="en-US" altLang="zh-CN" sz="900" dirty="0"/>
              <a:t> </a:t>
            </a:r>
            <a:r>
              <a:rPr lang="en-US" altLang="zh-CN" sz="900" dirty="0">
                <a:solidFill>
                  <a:srgbClr val="00B0F0"/>
                </a:solidFill>
              </a:rPr>
              <a:t>*title</a:t>
            </a:r>
            <a:r>
              <a:rPr lang="en-US" altLang="zh-CN" sz="900" dirty="0"/>
              <a:t> = [</a:t>
            </a:r>
            <a:r>
              <a:rPr lang="en-US" altLang="zh-CN" sz="900" dirty="0" err="1"/>
              <a:t>webView</a:t>
            </a:r>
            <a:r>
              <a:rPr lang="en-US" altLang="zh-CN" sz="900" dirty="0"/>
              <a:t> </a:t>
            </a:r>
            <a:r>
              <a:rPr lang="en-US" altLang="zh-CN" sz="900" dirty="0" err="1"/>
              <a:t>stringByEvaluatingJavaScriptFromString</a:t>
            </a:r>
            <a:r>
              <a:rPr lang="en-US" altLang="zh-CN" sz="900" dirty="0"/>
              <a:t>:@"</a:t>
            </a:r>
            <a:r>
              <a:rPr lang="en-US" altLang="zh-CN" sz="900" dirty="0" err="1">
                <a:solidFill>
                  <a:schemeClr val="accent6">
                    <a:lumMod val="75000"/>
                  </a:schemeClr>
                </a:solidFill>
              </a:rPr>
              <a:t>document.title</a:t>
            </a:r>
            <a:r>
              <a:rPr lang="en-US" altLang="zh-CN" sz="900" dirty="0" smtClean="0"/>
              <a:t>"];</a:t>
            </a:r>
            <a:endParaRPr lang="zh-CN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2" name="右箭头 11"/>
          <p:cNvSpPr/>
          <p:nvPr/>
        </p:nvSpPr>
        <p:spPr>
          <a:xfrm flipH="1">
            <a:off x="899592" y="4149080"/>
            <a:ext cx="3600400" cy="1181523"/>
          </a:xfrm>
          <a:prstGeom prst="rightArrow">
            <a:avLst>
              <a:gd name="adj1" fmla="val 62561"/>
              <a:gd name="adj2" fmla="val 50000"/>
            </a:avLst>
          </a:prstGeom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 err="1" smtClean="0">
                <a:latin typeface="+mn-ea"/>
              </a:rPr>
              <a:t>Js</a:t>
            </a:r>
            <a:r>
              <a:rPr lang="zh-CN" altLang="en-US" sz="1200" dirty="0" smtClean="0">
                <a:latin typeface="+mn-ea"/>
              </a:rPr>
              <a:t>调用</a:t>
            </a:r>
            <a:r>
              <a:rPr lang="en-US" altLang="zh-CN" sz="1200" dirty="0" err="1" smtClean="0">
                <a:latin typeface="+mn-ea"/>
              </a:rPr>
              <a:t>oc</a:t>
            </a:r>
            <a:endParaRPr lang="en-US" altLang="zh-CN" sz="1200" dirty="0" smtClean="0">
              <a:latin typeface="+mn-ea"/>
            </a:endParaRPr>
          </a:p>
          <a:p>
            <a:r>
              <a:rPr lang="en-US" altLang="zh-CN" sz="900" dirty="0" err="1"/>
              <a:t>window.</a:t>
            </a:r>
            <a:r>
              <a:rPr lang="en-US" altLang="zh-CN" sz="900" dirty="0" err="1">
                <a:solidFill>
                  <a:srgbClr val="00B0F0"/>
                </a:solidFill>
              </a:rPr>
              <a:t>location</a:t>
            </a:r>
            <a:r>
              <a:rPr lang="en-US" altLang="zh-CN" sz="900" dirty="0"/>
              <a:t> = “</a:t>
            </a:r>
            <a:r>
              <a:rPr lang="en-US" altLang="zh-CN" sz="900" dirty="0" err="1"/>
              <a:t>phonegap</a:t>
            </a:r>
            <a:r>
              <a:rPr lang="en-US" altLang="zh-CN" sz="900" dirty="0"/>
              <a:t>://</a:t>
            </a:r>
            <a:r>
              <a:rPr lang="en-US" altLang="zh-CN" sz="900" dirty="0">
                <a:solidFill>
                  <a:schemeClr val="accent6">
                    <a:lumMod val="75000"/>
                  </a:schemeClr>
                </a:solidFill>
              </a:rPr>
              <a:t>COMMANDS</a:t>
            </a:r>
            <a:endParaRPr lang="zh-CN" altLang="en-US" sz="600" dirty="0">
              <a:solidFill>
                <a:schemeClr val="tx1"/>
              </a:solidFill>
              <a:latin typeface="+mn-ea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1700808"/>
            <a:ext cx="224035" cy="2747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5" name="TextBox 14"/>
          <p:cNvSpPr txBox="1"/>
          <p:nvPr/>
        </p:nvSpPr>
        <p:spPr>
          <a:xfrm>
            <a:off x="6266032" y="1649016"/>
            <a:ext cx="2626447" cy="101566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dirty="0" err="1" smtClean="0"/>
              <a:t>stringByEvaluating</a:t>
            </a:r>
            <a:endParaRPr lang="en-US" altLang="zh-CN" dirty="0" smtClean="0"/>
          </a:p>
          <a:p>
            <a:r>
              <a:rPr lang="en-US" altLang="zh-CN" dirty="0" smtClean="0"/>
              <a:t>-</a:t>
            </a:r>
            <a:r>
              <a:rPr lang="en-US" altLang="zh-CN" dirty="0" err="1" smtClean="0"/>
              <a:t>JavaScriptFromString</a:t>
            </a:r>
            <a:r>
              <a:rPr lang="en-US" altLang="zh-CN" dirty="0" smtClean="0"/>
              <a:t> </a:t>
            </a:r>
          </a:p>
          <a:p>
            <a:r>
              <a:rPr lang="en-US" sz="1200" dirty="0" smtClean="0"/>
              <a:t>Inject </a:t>
            </a:r>
            <a:r>
              <a:rPr lang="en-US" sz="1200" b="1" dirty="0" err="1" smtClean="0">
                <a:solidFill>
                  <a:srgbClr val="FF0000"/>
                </a:solidFill>
              </a:rPr>
              <a:t>javascript</a:t>
            </a:r>
            <a:r>
              <a:rPr lang="en-US" sz="1200" dirty="0" smtClean="0"/>
              <a:t> functions into a</a:t>
            </a:r>
          </a:p>
          <a:p>
            <a:r>
              <a:rPr lang="en-US" sz="1200" dirty="0" err="1" smtClean="0"/>
              <a:t>uiwebview</a:t>
            </a:r>
            <a:endParaRPr lang="en-US" sz="1200" dirty="0" smtClean="0"/>
          </a:p>
        </p:txBody>
      </p:sp>
    </p:spTree>
    <p:extLst>
      <p:ext uri="{BB962C8B-B14F-4D97-AF65-F5344CB8AC3E}">
        <p14:creationId xmlns:p14="http://schemas.microsoft.com/office/powerpoint/2010/main" val="260062399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xmlns:p14="http://schemas.microsoft.com/office/powerpoint/2010/main" spd="slow">
        <p:circle/>
      </p:transition>
    </mc:Fallback>
  </mc:AlternateContent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1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8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 tmFilter="0, 0; .2, .5; .8, .5; 1, 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" dur="250" autoRev="1" fill="hold"/>
                                        <p:tgtEl>
                                          <p:spTgt spid="1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 tmFilter="0, 0; .2, .5; .8, .5; 1, 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5" dur="250" autoRev="1" fill="hold"/>
                                        <p:tgtEl>
                                          <p:spTgt spid="1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5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问题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Android</a:t>
            </a:r>
            <a:r>
              <a:rPr lang="zh-CN" altLang="en-US" dirty="0"/>
              <a:t>平台</a:t>
            </a:r>
            <a:endParaRPr lang="en-US" altLang="zh-CN" dirty="0"/>
          </a:p>
          <a:p>
            <a:pPr lvl="1"/>
            <a:r>
              <a:rPr lang="en-US" altLang="zh-CN" dirty="0"/>
              <a:t>Java</a:t>
            </a:r>
            <a:r>
              <a:rPr lang="zh-CN" altLang="en-US" dirty="0"/>
              <a:t>通过</a:t>
            </a:r>
            <a:r>
              <a:rPr lang="en-US" altLang="zh-CN" dirty="0" err="1"/>
              <a:t>webview.loadUrl</a:t>
            </a:r>
            <a:r>
              <a:rPr lang="en-US" altLang="zh-CN" dirty="0"/>
              <a:t>(“</a:t>
            </a:r>
            <a:r>
              <a:rPr lang="en-US" altLang="zh-CN" dirty="0" err="1"/>
              <a:t>javascript:commands</a:t>
            </a:r>
            <a:r>
              <a:rPr lang="en-US" altLang="zh-CN" dirty="0"/>
              <a:t>”)</a:t>
            </a:r>
            <a:r>
              <a:rPr lang="zh-CN" altLang="en-US" dirty="0"/>
              <a:t>执行 </a:t>
            </a:r>
            <a:r>
              <a:rPr lang="en-US" altLang="zh-CN" dirty="0"/>
              <a:t>JS</a:t>
            </a:r>
            <a:r>
              <a:rPr lang="zh-CN" altLang="en-US" dirty="0"/>
              <a:t>方法时会隐藏用户正在输入使用的软键盘</a:t>
            </a:r>
          </a:p>
          <a:p>
            <a:r>
              <a:rPr lang="en-US" altLang="zh-CN" dirty="0"/>
              <a:t>iPhone</a:t>
            </a:r>
            <a:r>
              <a:rPr lang="zh-CN" altLang="en-US" dirty="0"/>
              <a:t>平台</a:t>
            </a:r>
            <a:endParaRPr lang="en-US" altLang="zh-CN" dirty="0"/>
          </a:p>
          <a:p>
            <a:pPr lvl="1"/>
            <a:r>
              <a:rPr lang="zh-CN" altLang="en-US" dirty="0"/>
              <a:t>使用自定义协议如</a:t>
            </a:r>
            <a:r>
              <a:rPr lang="en-US" altLang="zh-CN" dirty="0" err="1"/>
              <a:t>window.location</a:t>
            </a:r>
            <a:r>
              <a:rPr lang="en-US" altLang="zh-CN" dirty="0"/>
              <a:t>=phonegap://commands</a:t>
            </a:r>
            <a:r>
              <a:rPr lang="zh-CN" altLang="en-US" dirty="0" smtClean="0"/>
              <a:t>不能实现连续</a:t>
            </a:r>
            <a:r>
              <a:rPr lang="zh-CN" altLang="en-US" dirty="0"/>
              <a:t>多次</a:t>
            </a:r>
            <a:r>
              <a:rPr lang="zh-CN" altLang="en-US" dirty="0" smtClean="0"/>
              <a:t>调用（白屏）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27CAE95-0A4C-4FC1-B81C-A5798E0B0A68}" type="slidenum">
              <a:rPr lang="zh-CN" altLang="en-US" smtClean="0"/>
              <a:pPr/>
              <a:t>42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7092829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xmlns:p14="http://schemas.microsoft.com/office/powerpoint/2010/main" spd="slow">
        <p:circle/>
      </p:transition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圆角矩形 38"/>
          <p:cNvSpPr/>
          <p:nvPr/>
        </p:nvSpPr>
        <p:spPr>
          <a:xfrm>
            <a:off x="609600" y="1905000"/>
            <a:ext cx="5486400" cy="3972272"/>
          </a:xfrm>
          <a:prstGeom prst="roundRect">
            <a:avLst>
              <a:gd name="adj" fmla="val 3255"/>
            </a:avLst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圆角矩形 37"/>
          <p:cNvSpPr/>
          <p:nvPr/>
        </p:nvSpPr>
        <p:spPr>
          <a:xfrm>
            <a:off x="609600" y="1649016"/>
            <a:ext cx="5486400" cy="411832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 smtClean="0">
                <a:latin typeface="+mn-ea"/>
              </a:rPr>
              <a:t>java</a:t>
            </a:r>
            <a:endParaRPr lang="zh-CN" altLang="en-US" sz="1200" dirty="0">
              <a:latin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</a:t>
            </a:r>
            <a:r>
              <a:rPr lang="en-US" altLang="zh-CN" dirty="0" smtClean="0"/>
              <a:t>ndroid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27CAE95-0A4C-4FC1-B81C-A5798E0B0A68}" type="slidenum">
              <a:rPr lang="zh-CN" altLang="en-US" smtClean="0"/>
              <a:pPr/>
              <a:t>43</a:t>
            </a:fld>
            <a:endParaRPr lang="zh-CN" altLang="en-US" dirty="0"/>
          </a:p>
        </p:txBody>
      </p:sp>
      <p:sp>
        <p:nvSpPr>
          <p:cNvPr id="35" name="TextBox 34"/>
          <p:cNvSpPr txBox="1"/>
          <p:nvPr/>
        </p:nvSpPr>
        <p:spPr>
          <a:xfrm>
            <a:off x="6266033" y="1649016"/>
            <a:ext cx="2702984" cy="92333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zh-CN" dirty="0" err="1" smtClean="0"/>
              <a:t>addJavascriptInterface</a:t>
            </a:r>
            <a:endParaRPr lang="en-US" altLang="zh-CN" dirty="0" smtClean="0"/>
          </a:p>
          <a:p>
            <a:r>
              <a:rPr lang="en-US" sz="1200" dirty="0" smtClean="0"/>
              <a:t>Use this function to bind an object to </a:t>
            </a:r>
          </a:p>
          <a:p>
            <a:r>
              <a:rPr lang="en-US" sz="1200" b="1" dirty="0" smtClean="0">
                <a:solidFill>
                  <a:srgbClr val="FF0000"/>
                </a:solidFill>
              </a:rPr>
              <a:t>JavaScript</a:t>
            </a:r>
            <a:r>
              <a:rPr lang="en-US" sz="1200" dirty="0" smtClean="0"/>
              <a:t> so that the methods can </a:t>
            </a:r>
          </a:p>
          <a:p>
            <a:r>
              <a:rPr lang="en-US" sz="1200" dirty="0" smtClean="0"/>
              <a:t>be accessed from JavaScript</a:t>
            </a:r>
          </a:p>
        </p:txBody>
      </p:sp>
      <p:sp>
        <p:nvSpPr>
          <p:cNvPr id="40" name="圆角矩形 39"/>
          <p:cNvSpPr/>
          <p:nvPr/>
        </p:nvSpPr>
        <p:spPr>
          <a:xfrm>
            <a:off x="2771800" y="2514651"/>
            <a:ext cx="3214180" cy="3134072"/>
          </a:xfrm>
          <a:prstGeom prst="roundRect">
            <a:avLst>
              <a:gd name="adj" fmla="val 3255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圆角矩形 40"/>
          <p:cNvSpPr/>
          <p:nvPr/>
        </p:nvSpPr>
        <p:spPr>
          <a:xfrm>
            <a:off x="2771800" y="2258667"/>
            <a:ext cx="3214180" cy="32493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 err="1">
                <a:latin typeface="+mn-ea"/>
              </a:rPr>
              <a:t>webview</a:t>
            </a:r>
            <a:endParaRPr lang="zh-CN" altLang="en-US" sz="1200" dirty="0">
              <a:latin typeface="+mn-ea"/>
            </a:endParaRPr>
          </a:p>
        </p:txBody>
      </p:sp>
      <p:sp>
        <p:nvSpPr>
          <p:cNvPr id="34" name="右箭头 33"/>
          <p:cNvSpPr/>
          <p:nvPr/>
        </p:nvSpPr>
        <p:spPr>
          <a:xfrm flipH="1">
            <a:off x="1835696" y="2701279"/>
            <a:ext cx="3888432" cy="2887961"/>
          </a:xfrm>
          <a:prstGeom prst="rightArrow">
            <a:avLst>
              <a:gd name="adj1" fmla="val 65125"/>
              <a:gd name="adj2" fmla="val 27581"/>
            </a:avLst>
          </a:prstGeom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1200" b="1" dirty="0" smtClean="0">
                <a:latin typeface="+mn-ea"/>
              </a:rPr>
              <a:t>Js</a:t>
            </a:r>
            <a:r>
              <a:rPr lang="zh-CN" altLang="en-US" sz="1200" b="1" dirty="0" smtClean="0">
                <a:latin typeface="+mn-ea"/>
              </a:rPr>
              <a:t>调用</a:t>
            </a:r>
            <a:r>
              <a:rPr lang="en-US" altLang="zh-CN" sz="1200" b="1" dirty="0" smtClean="0">
                <a:latin typeface="+mn-ea"/>
              </a:rPr>
              <a:t>Java</a:t>
            </a:r>
          </a:p>
          <a:p>
            <a:r>
              <a:rPr lang="en-US" altLang="zh-CN" sz="900" dirty="0" err="1" smtClean="0">
                <a:latin typeface="+mn-ea"/>
              </a:rPr>
              <a:t>Js</a:t>
            </a:r>
            <a:r>
              <a:rPr lang="zh-CN" altLang="en-US" sz="900" dirty="0" smtClean="0">
                <a:latin typeface="+mn-ea"/>
              </a:rPr>
              <a:t>可通过官方接口直接调用</a:t>
            </a:r>
            <a:r>
              <a:rPr lang="en-US" altLang="zh-CN" sz="900" dirty="0" smtClean="0">
                <a:latin typeface="+mn-ea"/>
              </a:rPr>
              <a:t>java</a:t>
            </a:r>
          </a:p>
          <a:p>
            <a:r>
              <a:rPr lang="en-US" altLang="zh-CN" sz="900" dirty="0" err="1">
                <a:solidFill>
                  <a:srgbClr val="00B0F0"/>
                </a:solidFill>
              </a:rPr>
              <a:t>mWebView</a:t>
            </a:r>
            <a:r>
              <a:rPr lang="en-US" altLang="zh-CN" sz="900" dirty="0"/>
              <a:t>. </a:t>
            </a:r>
            <a:r>
              <a:rPr lang="en-US" altLang="zh-CN" sz="900" dirty="0" err="1"/>
              <a:t>addJavascriptInterface</a:t>
            </a:r>
            <a:r>
              <a:rPr lang="en-US" altLang="zh-CN" sz="900" dirty="0"/>
              <a:t>(</a:t>
            </a:r>
            <a:r>
              <a:rPr lang="en-US" altLang="zh-CN" sz="900" dirty="0">
                <a:solidFill>
                  <a:schemeClr val="accent6">
                    <a:lumMod val="75000"/>
                  </a:schemeClr>
                </a:solidFill>
              </a:rPr>
              <a:t>JAVA_OBJECT</a:t>
            </a:r>
            <a:r>
              <a:rPr lang="en-US" altLang="zh-CN" sz="900" dirty="0"/>
              <a:t>, “</a:t>
            </a:r>
            <a:r>
              <a:rPr lang="en-US" altLang="zh-CN" sz="900" dirty="0">
                <a:solidFill>
                  <a:schemeClr val="accent6">
                    <a:lumMod val="75000"/>
                  </a:schemeClr>
                </a:solidFill>
              </a:rPr>
              <a:t>OBJECT_NAME_IN_JS</a:t>
            </a:r>
            <a:r>
              <a:rPr lang="en-US" altLang="zh-CN" sz="900" dirty="0" smtClean="0"/>
              <a:t>”)</a:t>
            </a:r>
          </a:p>
          <a:p>
            <a:endParaRPr lang="en-US" altLang="zh-CN" sz="900" dirty="0">
              <a:solidFill>
                <a:schemeClr val="tx1"/>
              </a:solidFill>
              <a:latin typeface="+mn-ea"/>
            </a:endParaRPr>
          </a:p>
          <a:p>
            <a:r>
              <a:rPr lang="en-US" altLang="zh-CN" sz="1200" b="1" dirty="0" smtClean="0">
                <a:solidFill>
                  <a:schemeClr val="tx1"/>
                </a:solidFill>
                <a:latin typeface="+mn-ea"/>
              </a:rPr>
              <a:t>Java</a:t>
            </a:r>
            <a:r>
              <a:rPr lang="zh-CN" altLang="en-US" sz="1200" b="1" dirty="0" smtClean="0">
                <a:solidFill>
                  <a:schemeClr val="tx1"/>
                </a:solidFill>
                <a:latin typeface="+mn-ea"/>
              </a:rPr>
              <a:t>调用</a:t>
            </a:r>
            <a:r>
              <a:rPr lang="en-US" altLang="zh-CN" sz="1200" b="1" dirty="0" err="1" smtClean="0">
                <a:solidFill>
                  <a:schemeClr val="tx1"/>
                </a:solidFill>
                <a:latin typeface="+mn-ea"/>
              </a:rPr>
              <a:t>js</a:t>
            </a:r>
            <a:endParaRPr lang="en-US" altLang="zh-CN" sz="1200" b="1" dirty="0" smtClean="0">
              <a:solidFill>
                <a:schemeClr val="tx1"/>
              </a:solidFill>
              <a:latin typeface="+mn-ea"/>
            </a:endParaRPr>
          </a:p>
          <a:p>
            <a:r>
              <a:rPr lang="en-US" altLang="zh-CN" sz="900" dirty="0" smtClean="0">
                <a:solidFill>
                  <a:schemeClr val="tx1"/>
                </a:solidFill>
                <a:latin typeface="+mn-ea"/>
              </a:rPr>
              <a:t>java</a:t>
            </a:r>
            <a:r>
              <a:rPr lang="zh-CN" altLang="en-US" sz="900" dirty="0" smtClean="0">
                <a:solidFill>
                  <a:schemeClr val="tx1"/>
                </a:solidFill>
                <a:latin typeface="+mn-ea"/>
              </a:rPr>
              <a:t>不</a:t>
            </a:r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直接调用</a:t>
            </a:r>
            <a:r>
              <a:rPr lang="en-US" altLang="zh-CN" sz="900" dirty="0" err="1">
                <a:solidFill>
                  <a:schemeClr val="tx1"/>
                </a:solidFill>
                <a:latin typeface="+mn-ea"/>
              </a:rPr>
              <a:t>js</a:t>
            </a:r>
            <a:r>
              <a:rPr lang="zh-CN" altLang="en-US" sz="900" dirty="0" smtClean="0">
                <a:solidFill>
                  <a:schemeClr val="tx1"/>
                </a:solidFill>
                <a:latin typeface="+mn-ea"/>
              </a:rPr>
              <a:t>，</a:t>
            </a:r>
            <a:r>
              <a:rPr lang="en-US" altLang="zh-CN" sz="900" dirty="0" smtClean="0">
                <a:solidFill>
                  <a:schemeClr val="tx1"/>
                </a:solidFill>
                <a:latin typeface="+mn-ea"/>
              </a:rPr>
              <a:t>java</a:t>
            </a:r>
            <a:r>
              <a:rPr lang="zh-CN" altLang="en-US" sz="900" dirty="0" smtClean="0">
                <a:solidFill>
                  <a:schemeClr val="tx1"/>
                </a:solidFill>
                <a:latin typeface="+mn-ea"/>
              </a:rPr>
              <a:t>调用</a:t>
            </a:r>
            <a:r>
              <a:rPr lang="en-US" altLang="zh-CN" sz="900" dirty="0" err="1">
                <a:solidFill>
                  <a:schemeClr val="tx1"/>
                </a:solidFill>
                <a:latin typeface="+mn-ea"/>
              </a:rPr>
              <a:t>js</a:t>
            </a:r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时只是将需要执行的</a:t>
            </a:r>
            <a:r>
              <a:rPr lang="en-US" altLang="zh-CN" sz="900" dirty="0" err="1">
                <a:solidFill>
                  <a:schemeClr val="tx1"/>
                </a:solidFill>
                <a:latin typeface="+mn-ea"/>
              </a:rPr>
              <a:t>js</a:t>
            </a:r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函数保存到</a:t>
            </a:r>
            <a:r>
              <a:rPr lang="en-US" altLang="zh-CN" sz="900" dirty="0">
                <a:solidFill>
                  <a:schemeClr val="tx1"/>
                </a:solidFill>
                <a:latin typeface="+mn-ea"/>
              </a:rPr>
              <a:t>java</a:t>
            </a:r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队列；</a:t>
            </a:r>
            <a:r>
              <a:rPr lang="en-US" altLang="zh-CN" sz="900" dirty="0" err="1">
                <a:solidFill>
                  <a:schemeClr val="tx1"/>
                </a:solidFill>
                <a:latin typeface="+mn-ea"/>
              </a:rPr>
              <a:t>js</a:t>
            </a:r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定时到</a:t>
            </a:r>
            <a:r>
              <a:rPr lang="en-US" altLang="zh-CN" sz="900" dirty="0">
                <a:solidFill>
                  <a:schemeClr val="tx1"/>
                </a:solidFill>
                <a:latin typeface="+mn-ea"/>
              </a:rPr>
              <a:t>java</a:t>
            </a:r>
            <a:r>
              <a:rPr lang="zh-CN" altLang="en-US" sz="900" dirty="0" smtClean="0">
                <a:solidFill>
                  <a:schemeClr val="tx1"/>
                </a:solidFill>
                <a:latin typeface="+mn-ea"/>
              </a:rPr>
              <a:t>环境通过</a:t>
            </a:r>
            <a:r>
              <a:rPr lang="en-US" altLang="zh-CN" sz="900" dirty="0" smtClean="0">
                <a:solidFill>
                  <a:schemeClr val="tx1"/>
                </a:solidFill>
                <a:latin typeface="+mn-ea"/>
              </a:rPr>
              <a:t>java</a:t>
            </a:r>
            <a:r>
              <a:rPr lang="zh-CN" altLang="en-US" sz="900" dirty="0" smtClean="0">
                <a:solidFill>
                  <a:schemeClr val="tx1"/>
                </a:solidFill>
                <a:latin typeface="+mn-ea"/>
              </a:rPr>
              <a:t>接口</a:t>
            </a:r>
            <a:r>
              <a:rPr lang="en-US" altLang="zh-CN" sz="900" dirty="0" err="1" smtClean="0">
                <a:solidFill>
                  <a:schemeClr val="tx1"/>
                </a:solidFill>
                <a:latin typeface="+mn-ea"/>
              </a:rPr>
              <a:t>getCommands</a:t>
            </a:r>
            <a:r>
              <a:rPr lang="zh-CN" altLang="en-US" sz="900" dirty="0" smtClean="0">
                <a:solidFill>
                  <a:schemeClr val="tx1"/>
                </a:solidFill>
                <a:latin typeface="+mn-ea"/>
              </a:rPr>
              <a:t>取</a:t>
            </a:r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到所需执行的</a:t>
            </a:r>
            <a:r>
              <a:rPr lang="en-US" altLang="zh-CN" sz="900" dirty="0" err="1">
                <a:solidFill>
                  <a:schemeClr val="tx1"/>
                </a:solidFill>
                <a:latin typeface="+mn-ea"/>
              </a:rPr>
              <a:t>js</a:t>
            </a:r>
            <a:r>
              <a:rPr lang="zh-CN" altLang="en-US" sz="900" dirty="0" smtClean="0">
                <a:solidFill>
                  <a:schemeClr val="tx1"/>
                </a:solidFill>
                <a:latin typeface="+mn-ea"/>
              </a:rPr>
              <a:t>函数队列</a:t>
            </a:r>
            <a:endParaRPr lang="zh-CN" altLang="en-US" sz="900" dirty="0">
              <a:solidFill>
                <a:schemeClr val="tx1"/>
              </a:solidFill>
              <a:latin typeface="+mn-ea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721" y="1700808"/>
            <a:ext cx="427895" cy="3375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流程图: 过程 5"/>
          <p:cNvSpPr/>
          <p:nvPr/>
        </p:nvSpPr>
        <p:spPr>
          <a:xfrm>
            <a:off x="865684" y="3348796"/>
            <a:ext cx="720080" cy="273025"/>
          </a:xfrm>
          <a:prstGeom prst="flowChartProcess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dirty="0" err="1" smtClean="0"/>
              <a:t>Js</a:t>
            </a:r>
            <a:r>
              <a:rPr lang="en-US" altLang="zh-CN" sz="1000" dirty="0" smtClean="0"/>
              <a:t> </a:t>
            </a:r>
            <a:r>
              <a:rPr lang="en-US" altLang="zh-CN" sz="1000" dirty="0" err="1" smtClean="0"/>
              <a:t>cmd</a:t>
            </a:r>
            <a:endParaRPr lang="zh-CN" altLang="en-US" sz="1000" dirty="0"/>
          </a:p>
        </p:txBody>
      </p:sp>
      <p:sp>
        <p:nvSpPr>
          <p:cNvPr id="22" name="流程图: 过程 21"/>
          <p:cNvSpPr/>
          <p:nvPr/>
        </p:nvSpPr>
        <p:spPr>
          <a:xfrm>
            <a:off x="865684" y="3621821"/>
            <a:ext cx="720080" cy="273025"/>
          </a:xfrm>
          <a:prstGeom prst="flowChartProcess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dirty="0" err="1"/>
              <a:t>Js</a:t>
            </a:r>
            <a:r>
              <a:rPr lang="en-US" altLang="zh-CN" sz="1000" dirty="0"/>
              <a:t> </a:t>
            </a:r>
            <a:r>
              <a:rPr lang="en-US" altLang="zh-CN" sz="1000" dirty="0" err="1" smtClean="0"/>
              <a:t>cmd</a:t>
            </a:r>
            <a:endParaRPr lang="zh-CN" altLang="en-US" sz="1000" dirty="0"/>
          </a:p>
        </p:txBody>
      </p:sp>
      <p:sp>
        <p:nvSpPr>
          <p:cNvPr id="23" name="流程图: 过程 22"/>
          <p:cNvSpPr/>
          <p:nvPr/>
        </p:nvSpPr>
        <p:spPr>
          <a:xfrm>
            <a:off x="865684" y="3880932"/>
            <a:ext cx="720080" cy="273025"/>
          </a:xfrm>
          <a:prstGeom prst="flowChartProcess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dirty="0" err="1" smtClean="0"/>
              <a:t>Js</a:t>
            </a:r>
            <a:r>
              <a:rPr lang="en-US" altLang="zh-CN" sz="1000" dirty="0" smtClean="0"/>
              <a:t> </a:t>
            </a:r>
            <a:r>
              <a:rPr lang="en-US" altLang="zh-CN" sz="1000" dirty="0" err="1" smtClean="0"/>
              <a:t>cmd</a:t>
            </a:r>
            <a:endParaRPr lang="zh-CN" altLang="en-US" sz="1000" dirty="0"/>
          </a:p>
        </p:txBody>
      </p:sp>
      <p:sp>
        <p:nvSpPr>
          <p:cNvPr id="27" name="流程图: 过程 26"/>
          <p:cNvSpPr/>
          <p:nvPr/>
        </p:nvSpPr>
        <p:spPr>
          <a:xfrm>
            <a:off x="865684" y="4153957"/>
            <a:ext cx="720080" cy="273025"/>
          </a:xfrm>
          <a:prstGeom prst="flowChartProcess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dirty="0" err="1" smtClean="0"/>
              <a:t>Js</a:t>
            </a:r>
            <a:r>
              <a:rPr lang="en-US" altLang="zh-CN" sz="1000" dirty="0" smtClean="0"/>
              <a:t> </a:t>
            </a:r>
            <a:r>
              <a:rPr lang="en-US" altLang="zh-CN" sz="1000" dirty="0" err="1" smtClean="0"/>
              <a:t>cmd</a:t>
            </a:r>
            <a:endParaRPr lang="zh-CN" altLang="en-US" sz="1000" dirty="0"/>
          </a:p>
        </p:txBody>
      </p:sp>
      <p:sp>
        <p:nvSpPr>
          <p:cNvPr id="30" name="流程图: 过程 29"/>
          <p:cNvSpPr/>
          <p:nvPr/>
        </p:nvSpPr>
        <p:spPr>
          <a:xfrm>
            <a:off x="865684" y="4426982"/>
            <a:ext cx="720080" cy="273025"/>
          </a:xfrm>
          <a:prstGeom prst="flowChartProcess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dirty="0" err="1" smtClean="0"/>
              <a:t>Js</a:t>
            </a:r>
            <a:r>
              <a:rPr lang="en-US" altLang="zh-CN" sz="1000" dirty="0" smtClean="0"/>
              <a:t> </a:t>
            </a:r>
            <a:r>
              <a:rPr lang="en-US" altLang="zh-CN" sz="1000" dirty="0" err="1" smtClean="0"/>
              <a:t>cmd</a:t>
            </a:r>
            <a:endParaRPr lang="zh-CN" altLang="en-US" sz="1000" dirty="0"/>
          </a:p>
        </p:txBody>
      </p:sp>
      <p:sp>
        <p:nvSpPr>
          <p:cNvPr id="31" name="流程图: 过程 30"/>
          <p:cNvSpPr/>
          <p:nvPr/>
        </p:nvSpPr>
        <p:spPr>
          <a:xfrm>
            <a:off x="865684" y="4708689"/>
            <a:ext cx="720080" cy="273025"/>
          </a:xfrm>
          <a:prstGeom prst="flowChartProcess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dirty="0"/>
              <a:t>……</a:t>
            </a:r>
            <a:endParaRPr lang="zh-CN" altLang="en-US" sz="1000" dirty="0"/>
          </a:p>
        </p:txBody>
      </p:sp>
      <p:sp>
        <p:nvSpPr>
          <p:cNvPr id="8" name="流程图: 文档 7"/>
          <p:cNvSpPr/>
          <p:nvPr/>
        </p:nvSpPr>
        <p:spPr>
          <a:xfrm>
            <a:off x="827584" y="2421132"/>
            <a:ext cx="1368152" cy="431804"/>
          </a:xfrm>
          <a:prstGeom prst="flowChartDocumen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 smtClean="0"/>
              <a:t>exec(“</a:t>
            </a:r>
            <a:r>
              <a:rPr lang="en-US" altLang="zh-CN" sz="1200" dirty="0" err="1" smtClean="0"/>
              <a:t>js</a:t>
            </a:r>
            <a:r>
              <a:rPr lang="en-US" altLang="zh-CN" sz="1200" dirty="0" smtClean="0"/>
              <a:t> </a:t>
            </a:r>
            <a:r>
              <a:rPr lang="en-US" altLang="zh-CN" sz="1200" dirty="0" err="1" smtClean="0"/>
              <a:t>cmd</a:t>
            </a:r>
            <a:r>
              <a:rPr lang="en-US" altLang="zh-CN" sz="1200" dirty="0" smtClean="0"/>
              <a:t>”)</a:t>
            </a:r>
            <a:endParaRPr lang="zh-CN" altLang="en-US" sz="1200" dirty="0"/>
          </a:p>
        </p:txBody>
      </p:sp>
      <p:cxnSp>
        <p:nvCxnSpPr>
          <p:cNvPr id="13" name="直接箭头连接符 12"/>
          <p:cNvCxnSpPr/>
          <p:nvPr/>
        </p:nvCxnSpPr>
        <p:spPr>
          <a:xfrm>
            <a:off x="1225724" y="2924944"/>
            <a:ext cx="0" cy="360040"/>
          </a:xfrm>
          <a:prstGeom prst="straightConnector1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  <a:prstDash val="sysDot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肘形连接符 20"/>
          <p:cNvCxnSpPr>
            <a:endCxn id="40" idx="2"/>
          </p:cNvCxnSpPr>
          <p:nvPr/>
        </p:nvCxnSpPr>
        <p:spPr>
          <a:xfrm>
            <a:off x="1225724" y="4981714"/>
            <a:ext cx="3153166" cy="667009"/>
          </a:xfrm>
          <a:prstGeom prst="bentConnector4">
            <a:avLst>
              <a:gd name="adj1" fmla="val -197"/>
              <a:gd name="adj2" fmla="val 118775"/>
            </a:avLst>
          </a:prstGeom>
          <a:ln w="19050">
            <a:solidFill>
              <a:schemeClr val="tx1">
                <a:lumMod val="50000"/>
                <a:lumOff val="50000"/>
              </a:schemeClr>
            </a:solidFill>
            <a:prstDash val="sysDot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8734416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xmlns:p14="http://schemas.microsoft.com/office/powerpoint/2010/main" spd="slow">
        <p:circle/>
      </p:transition>
    </mc:Fallback>
  </mc:AlternateContent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3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8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 tmFilter="0, 0; .2, .5; .8, .5; 1, 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" dur="250" autoRev="1" fill="hold"/>
                                        <p:tgtEl>
                                          <p:spTgt spid="3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  <p:bldP spid="34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 smtClean="0"/>
              <a:t>ios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27CAE95-0A4C-4FC1-B81C-A5798E0B0A68}" type="slidenum">
              <a:rPr lang="zh-CN" altLang="en-US" smtClean="0"/>
              <a:pPr/>
              <a:t>44</a:t>
            </a:fld>
            <a:endParaRPr lang="zh-CN" altLang="en-US" dirty="0"/>
          </a:p>
        </p:txBody>
      </p:sp>
      <p:sp>
        <p:nvSpPr>
          <p:cNvPr id="5" name="圆角矩形 4"/>
          <p:cNvSpPr/>
          <p:nvPr/>
        </p:nvSpPr>
        <p:spPr>
          <a:xfrm>
            <a:off x="609600" y="1905000"/>
            <a:ext cx="5486400" cy="3972272"/>
          </a:xfrm>
          <a:prstGeom prst="roundRect">
            <a:avLst>
              <a:gd name="adj" fmla="val 3255"/>
            </a:avLst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圆角矩形 5"/>
          <p:cNvSpPr/>
          <p:nvPr/>
        </p:nvSpPr>
        <p:spPr>
          <a:xfrm>
            <a:off x="609600" y="1649016"/>
            <a:ext cx="5486400" cy="411832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 err="1" smtClean="0">
                <a:latin typeface="+mn-ea"/>
              </a:rPr>
              <a:t>Objecct</a:t>
            </a:r>
            <a:r>
              <a:rPr lang="en-US" altLang="zh-CN" sz="1200" dirty="0" smtClean="0">
                <a:latin typeface="+mn-ea"/>
              </a:rPr>
              <a:t> c</a:t>
            </a:r>
            <a:endParaRPr lang="zh-CN" altLang="en-US" sz="1200" dirty="0">
              <a:latin typeface="+mn-ea"/>
            </a:endParaRPr>
          </a:p>
        </p:txBody>
      </p:sp>
      <p:sp>
        <p:nvSpPr>
          <p:cNvPr id="9" name="圆角矩形 8"/>
          <p:cNvSpPr/>
          <p:nvPr/>
        </p:nvSpPr>
        <p:spPr>
          <a:xfrm>
            <a:off x="2771800" y="2514651"/>
            <a:ext cx="3214180" cy="3134072"/>
          </a:xfrm>
          <a:prstGeom prst="roundRect">
            <a:avLst>
              <a:gd name="adj" fmla="val 3255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圆角矩形 9"/>
          <p:cNvSpPr/>
          <p:nvPr/>
        </p:nvSpPr>
        <p:spPr>
          <a:xfrm>
            <a:off x="2771800" y="2258667"/>
            <a:ext cx="3214180" cy="32493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 err="1" smtClean="0">
                <a:latin typeface="+mn-ea"/>
              </a:rPr>
              <a:t>UIwebview</a:t>
            </a:r>
            <a:endParaRPr lang="zh-CN" altLang="en-US" sz="1200" dirty="0">
              <a:latin typeface="+mn-ea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1700808"/>
            <a:ext cx="224035" cy="2747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3" name="右箭头 12"/>
          <p:cNvSpPr/>
          <p:nvPr/>
        </p:nvSpPr>
        <p:spPr>
          <a:xfrm>
            <a:off x="827584" y="2701279"/>
            <a:ext cx="3888432" cy="2887961"/>
          </a:xfrm>
          <a:prstGeom prst="rightArrow">
            <a:avLst>
              <a:gd name="adj1" fmla="val 65125"/>
              <a:gd name="adj2" fmla="val 27581"/>
            </a:avLst>
          </a:prstGeom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1200" b="1" dirty="0" err="1" smtClean="0">
                <a:latin typeface="+mn-ea"/>
              </a:rPr>
              <a:t>oc</a:t>
            </a:r>
            <a:r>
              <a:rPr lang="zh-CN" altLang="en-US" sz="1200" b="1" dirty="0" smtClean="0">
                <a:latin typeface="+mn-ea"/>
              </a:rPr>
              <a:t>调用</a:t>
            </a:r>
            <a:r>
              <a:rPr lang="en-US" altLang="zh-CN" sz="1200" b="1" dirty="0" err="1" smtClean="0">
                <a:latin typeface="+mn-ea"/>
              </a:rPr>
              <a:t>js</a:t>
            </a:r>
            <a:endParaRPr lang="en-US" altLang="zh-CN" sz="1200" b="1" dirty="0" smtClean="0">
              <a:latin typeface="+mn-ea"/>
            </a:endParaRPr>
          </a:p>
          <a:p>
            <a:r>
              <a:rPr lang="en-US" altLang="zh-CN" sz="900" dirty="0" err="1" smtClean="0">
                <a:latin typeface="+mn-ea"/>
              </a:rPr>
              <a:t>oc</a:t>
            </a:r>
            <a:r>
              <a:rPr lang="zh-CN" altLang="en-US" sz="900" dirty="0" smtClean="0">
                <a:latin typeface="+mn-ea"/>
              </a:rPr>
              <a:t>可通过官方接口直接调用</a:t>
            </a:r>
            <a:r>
              <a:rPr lang="en-US" altLang="zh-CN" sz="900" dirty="0" err="1" smtClean="0">
                <a:latin typeface="+mn-ea"/>
              </a:rPr>
              <a:t>js</a:t>
            </a:r>
            <a:endParaRPr lang="en-US" altLang="zh-CN" sz="900" dirty="0" smtClean="0">
              <a:latin typeface="+mn-ea"/>
            </a:endParaRPr>
          </a:p>
          <a:p>
            <a:r>
              <a:rPr lang="en-US" altLang="zh-CN" sz="900" dirty="0" err="1"/>
              <a:t>NSString</a:t>
            </a:r>
            <a:r>
              <a:rPr lang="en-US" altLang="zh-CN" sz="900" dirty="0"/>
              <a:t> </a:t>
            </a:r>
            <a:r>
              <a:rPr lang="en-US" altLang="zh-CN" sz="900" dirty="0">
                <a:solidFill>
                  <a:srgbClr val="00B0F0"/>
                </a:solidFill>
              </a:rPr>
              <a:t>*title</a:t>
            </a:r>
            <a:r>
              <a:rPr lang="en-US" altLang="zh-CN" sz="900" dirty="0"/>
              <a:t> = [</a:t>
            </a:r>
            <a:r>
              <a:rPr lang="en-US" altLang="zh-CN" sz="900" dirty="0" err="1"/>
              <a:t>webView</a:t>
            </a:r>
            <a:r>
              <a:rPr lang="en-US" altLang="zh-CN" sz="900" dirty="0"/>
              <a:t> </a:t>
            </a:r>
            <a:r>
              <a:rPr lang="en-US" altLang="zh-CN" sz="900" dirty="0" err="1"/>
              <a:t>stringByEvaluatingJavaScriptFromString</a:t>
            </a:r>
            <a:r>
              <a:rPr lang="en-US" altLang="zh-CN" sz="900" dirty="0"/>
              <a:t>:@"</a:t>
            </a:r>
            <a:r>
              <a:rPr lang="en-US" altLang="zh-CN" sz="900" dirty="0" err="1">
                <a:solidFill>
                  <a:schemeClr val="accent6">
                    <a:lumMod val="75000"/>
                  </a:schemeClr>
                </a:solidFill>
              </a:rPr>
              <a:t>document.title</a:t>
            </a:r>
            <a:r>
              <a:rPr lang="en-US" altLang="zh-CN" sz="900" dirty="0" smtClean="0"/>
              <a:t>"];</a:t>
            </a:r>
          </a:p>
          <a:p>
            <a:endParaRPr lang="en-US" altLang="zh-CN" sz="900" dirty="0">
              <a:solidFill>
                <a:schemeClr val="tx1"/>
              </a:solidFill>
              <a:latin typeface="+mn-ea"/>
            </a:endParaRPr>
          </a:p>
          <a:p>
            <a:r>
              <a:rPr lang="en-US" altLang="zh-CN" sz="1200" b="1" dirty="0" err="1">
                <a:solidFill>
                  <a:schemeClr val="tx1"/>
                </a:solidFill>
                <a:latin typeface="+mn-ea"/>
              </a:rPr>
              <a:t>js</a:t>
            </a:r>
            <a:r>
              <a:rPr lang="zh-CN" altLang="en-US" sz="1200" b="1" dirty="0" smtClean="0">
                <a:solidFill>
                  <a:schemeClr val="tx1"/>
                </a:solidFill>
                <a:latin typeface="+mn-ea"/>
              </a:rPr>
              <a:t>调用</a:t>
            </a:r>
            <a:r>
              <a:rPr lang="en-US" altLang="zh-CN" sz="1200" b="1" dirty="0" err="1" smtClean="0">
                <a:solidFill>
                  <a:schemeClr val="tx1"/>
                </a:solidFill>
                <a:latin typeface="+mn-ea"/>
              </a:rPr>
              <a:t>oc</a:t>
            </a:r>
            <a:endParaRPr lang="en-US" altLang="zh-CN" sz="1200" b="1" dirty="0" smtClean="0">
              <a:solidFill>
                <a:schemeClr val="tx1"/>
              </a:solidFill>
              <a:latin typeface="+mn-ea"/>
            </a:endParaRPr>
          </a:p>
          <a:p>
            <a:r>
              <a:rPr lang="en-US" altLang="zh-CN" sz="900" dirty="0" err="1">
                <a:solidFill>
                  <a:schemeClr val="tx1"/>
                </a:solidFill>
                <a:latin typeface="+mn-ea"/>
              </a:rPr>
              <a:t>js</a:t>
            </a:r>
            <a:r>
              <a:rPr lang="en-US" altLang="zh-CN" sz="900" dirty="0">
                <a:solidFill>
                  <a:schemeClr val="tx1"/>
                </a:solidFill>
                <a:latin typeface="+mn-ea"/>
              </a:rPr>
              <a:t> </a:t>
            </a:r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不直接调用</a:t>
            </a:r>
            <a:r>
              <a:rPr lang="en-US" altLang="zh-CN" sz="900" dirty="0" err="1">
                <a:solidFill>
                  <a:schemeClr val="tx1"/>
                </a:solidFill>
                <a:latin typeface="+mn-ea"/>
              </a:rPr>
              <a:t>ios</a:t>
            </a:r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平台</a:t>
            </a:r>
            <a:r>
              <a:rPr lang="en-US" altLang="zh-CN" sz="900" dirty="0" err="1">
                <a:solidFill>
                  <a:schemeClr val="tx1"/>
                </a:solidFill>
                <a:latin typeface="+mn-ea"/>
              </a:rPr>
              <a:t>oc</a:t>
            </a:r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方法</a:t>
            </a:r>
            <a:r>
              <a:rPr lang="en-US" altLang="zh-CN" sz="900" dirty="0">
                <a:solidFill>
                  <a:schemeClr val="tx1"/>
                </a:solidFill>
                <a:latin typeface="+mn-ea"/>
              </a:rPr>
              <a:t>,</a:t>
            </a:r>
            <a:r>
              <a:rPr lang="en-US" altLang="zh-CN" sz="900" dirty="0" err="1">
                <a:solidFill>
                  <a:schemeClr val="tx1"/>
                </a:solidFill>
                <a:latin typeface="+mn-ea"/>
              </a:rPr>
              <a:t>js</a:t>
            </a:r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调用</a:t>
            </a:r>
            <a:r>
              <a:rPr lang="en-US" altLang="zh-CN" sz="900" dirty="0" err="1">
                <a:solidFill>
                  <a:schemeClr val="tx1"/>
                </a:solidFill>
                <a:latin typeface="+mn-ea"/>
              </a:rPr>
              <a:t>oc</a:t>
            </a:r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函数时只是将需要执行的</a:t>
            </a:r>
            <a:r>
              <a:rPr lang="en-US" altLang="zh-CN" sz="900" dirty="0" err="1">
                <a:solidFill>
                  <a:schemeClr val="tx1"/>
                </a:solidFill>
                <a:latin typeface="+mn-ea"/>
              </a:rPr>
              <a:t>oc</a:t>
            </a:r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函数保存到</a:t>
            </a:r>
            <a:r>
              <a:rPr lang="en-US" altLang="zh-CN" sz="900" dirty="0" err="1">
                <a:solidFill>
                  <a:schemeClr val="tx1"/>
                </a:solidFill>
                <a:latin typeface="+mn-ea"/>
              </a:rPr>
              <a:t>js</a:t>
            </a:r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队列；</a:t>
            </a:r>
            <a:r>
              <a:rPr lang="en-US" altLang="zh-CN" sz="900" dirty="0" err="1">
                <a:solidFill>
                  <a:schemeClr val="tx1"/>
                </a:solidFill>
                <a:latin typeface="+mn-ea"/>
              </a:rPr>
              <a:t>oc</a:t>
            </a:r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定时到</a:t>
            </a:r>
            <a:r>
              <a:rPr lang="en-US" altLang="zh-CN" sz="900" dirty="0" err="1">
                <a:solidFill>
                  <a:schemeClr val="tx1"/>
                </a:solidFill>
                <a:latin typeface="+mn-ea"/>
              </a:rPr>
              <a:t>js</a:t>
            </a:r>
            <a:r>
              <a:rPr lang="zh-CN" altLang="en-US" sz="900" dirty="0" smtClean="0">
                <a:solidFill>
                  <a:schemeClr val="tx1"/>
                </a:solidFill>
                <a:latin typeface="+mn-ea"/>
              </a:rPr>
              <a:t>环境通过</a:t>
            </a:r>
            <a:r>
              <a:rPr lang="en-US" altLang="zh-CN" sz="900" dirty="0" err="1" smtClean="0">
                <a:solidFill>
                  <a:schemeClr val="tx1"/>
                </a:solidFill>
                <a:latin typeface="+mn-ea"/>
              </a:rPr>
              <a:t>js</a:t>
            </a:r>
            <a:r>
              <a:rPr lang="zh-CN" altLang="en-US" sz="900" dirty="0" smtClean="0">
                <a:solidFill>
                  <a:schemeClr val="tx1"/>
                </a:solidFill>
                <a:latin typeface="+mn-ea"/>
              </a:rPr>
              <a:t>接口</a:t>
            </a:r>
            <a:r>
              <a:rPr lang="en-US" altLang="zh-CN" sz="900" dirty="0" err="1" smtClean="0">
                <a:solidFill>
                  <a:schemeClr val="tx1"/>
                </a:solidFill>
                <a:latin typeface="+mn-ea"/>
              </a:rPr>
              <a:t>getCommands</a:t>
            </a:r>
            <a:r>
              <a:rPr lang="zh-CN" altLang="en-US" sz="900" dirty="0" smtClean="0">
                <a:solidFill>
                  <a:schemeClr val="tx1"/>
                </a:solidFill>
                <a:latin typeface="+mn-ea"/>
              </a:rPr>
              <a:t>取</a:t>
            </a:r>
            <a:r>
              <a:rPr lang="zh-CN" altLang="en-US" sz="900" dirty="0">
                <a:solidFill>
                  <a:schemeClr val="tx1"/>
                </a:solidFill>
                <a:latin typeface="+mn-ea"/>
              </a:rPr>
              <a:t>到所需执行的</a:t>
            </a:r>
            <a:r>
              <a:rPr lang="en-US" altLang="zh-CN" sz="900" dirty="0" err="1">
                <a:solidFill>
                  <a:schemeClr val="tx1"/>
                </a:solidFill>
                <a:latin typeface="+mn-ea"/>
              </a:rPr>
              <a:t>oc</a:t>
            </a:r>
            <a:r>
              <a:rPr lang="zh-CN" altLang="en-US" sz="900" dirty="0" smtClean="0">
                <a:solidFill>
                  <a:schemeClr val="tx1"/>
                </a:solidFill>
                <a:latin typeface="+mn-ea"/>
              </a:rPr>
              <a:t>函数队列</a:t>
            </a:r>
            <a:endParaRPr lang="zh-CN" altLang="en-US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4" name="流程图: 过程 13"/>
          <p:cNvSpPr/>
          <p:nvPr/>
        </p:nvSpPr>
        <p:spPr>
          <a:xfrm>
            <a:off x="5148064" y="3348796"/>
            <a:ext cx="720080" cy="273025"/>
          </a:xfrm>
          <a:prstGeom prst="flowChartProcess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dirty="0" err="1" smtClean="0"/>
              <a:t>oc</a:t>
            </a:r>
            <a:r>
              <a:rPr lang="en-US" altLang="zh-CN" sz="1000" dirty="0" smtClean="0"/>
              <a:t> </a:t>
            </a:r>
            <a:r>
              <a:rPr lang="en-US" altLang="zh-CN" sz="1000" dirty="0" err="1" smtClean="0"/>
              <a:t>cmd</a:t>
            </a:r>
            <a:endParaRPr lang="zh-CN" altLang="en-US" sz="1000" dirty="0"/>
          </a:p>
        </p:txBody>
      </p:sp>
      <p:sp>
        <p:nvSpPr>
          <p:cNvPr id="15" name="流程图: 过程 14"/>
          <p:cNvSpPr/>
          <p:nvPr/>
        </p:nvSpPr>
        <p:spPr>
          <a:xfrm>
            <a:off x="5148064" y="3621821"/>
            <a:ext cx="720080" cy="273025"/>
          </a:xfrm>
          <a:prstGeom prst="flowChartProcess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dirty="0" err="1" smtClean="0"/>
              <a:t>oc</a:t>
            </a:r>
            <a:r>
              <a:rPr lang="en-US" altLang="zh-CN" sz="1000" dirty="0" smtClean="0"/>
              <a:t> </a:t>
            </a:r>
            <a:r>
              <a:rPr lang="en-US" altLang="zh-CN" sz="1000" dirty="0" err="1" smtClean="0"/>
              <a:t>cmd</a:t>
            </a:r>
            <a:endParaRPr lang="zh-CN" altLang="en-US" sz="1000" dirty="0"/>
          </a:p>
        </p:txBody>
      </p:sp>
      <p:sp>
        <p:nvSpPr>
          <p:cNvPr id="16" name="流程图: 过程 15"/>
          <p:cNvSpPr/>
          <p:nvPr/>
        </p:nvSpPr>
        <p:spPr>
          <a:xfrm>
            <a:off x="5148064" y="3880932"/>
            <a:ext cx="720080" cy="273025"/>
          </a:xfrm>
          <a:prstGeom prst="flowChartProcess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dirty="0" err="1" smtClean="0"/>
              <a:t>oc</a:t>
            </a:r>
            <a:r>
              <a:rPr lang="en-US" altLang="zh-CN" sz="1000" dirty="0" smtClean="0"/>
              <a:t> </a:t>
            </a:r>
            <a:r>
              <a:rPr lang="en-US" altLang="zh-CN" sz="1000" dirty="0" err="1" smtClean="0"/>
              <a:t>cmd</a:t>
            </a:r>
            <a:endParaRPr lang="zh-CN" altLang="en-US" sz="1000" dirty="0"/>
          </a:p>
        </p:txBody>
      </p:sp>
      <p:sp>
        <p:nvSpPr>
          <p:cNvPr id="17" name="流程图: 过程 16"/>
          <p:cNvSpPr/>
          <p:nvPr/>
        </p:nvSpPr>
        <p:spPr>
          <a:xfrm>
            <a:off x="5148064" y="4153957"/>
            <a:ext cx="720080" cy="273025"/>
          </a:xfrm>
          <a:prstGeom prst="flowChartProcess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dirty="0" err="1" smtClean="0"/>
              <a:t>oc</a:t>
            </a:r>
            <a:r>
              <a:rPr lang="en-US" altLang="zh-CN" sz="1000" dirty="0" smtClean="0"/>
              <a:t> </a:t>
            </a:r>
            <a:r>
              <a:rPr lang="en-US" altLang="zh-CN" sz="1000" dirty="0" err="1" smtClean="0"/>
              <a:t>cmd</a:t>
            </a:r>
            <a:endParaRPr lang="zh-CN" altLang="en-US" sz="1000" dirty="0"/>
          </a:p>
        </p:txBody>
      </p:sp>
      <p:sp>
        <p:nvSpPr>
          <p:cNvPr id="18" name="流程图: 过程 17"/>
          <p:cNvSpPr/>
          <p:nvPr/>
        </p:nvSpPr>
        <p:spPr>
          <a:xfrm>
            <a:off x="5148064" y="4426982"/>
            <a:ext cx="720080" cy="273025"/>
          </a:xfrm>
          <a:prstGeom prst="flowChartProcess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dirty="0" err="1" smtClean="0"/>
              <a:t>oc</a:t>
            </a:r>
            <a:r>
              <a:rPr lang="en-US" altLang="zh-CN" sz="1000" dirty="0" smtClean="0"/>
              <a:t> </a:t>
            </a:r>
            <a:r>
              <a:rPr lang="en-US" altLang="zh-CN" sz="1000" dirty="0" err="1" smtClean="0"/>
              <a:t>cmd</a:t>
            </a:r>
            <a:endParaRPr lang="zh-CN" altLang="en-US" sz="1000" dirty="0"/>
          </a:p>
        </p:txBody>
      </p:sp>
      <p:sp>
        <p:nvSpPr>
          <p:cNvPr id="19" name="流程图: 过程 18"/>
          <p:cNvSpPr/>
          <p:nvPr/>
        </p:nvSpPr>
        <p:spPr>
          <a:xfrm>
            <a:off x="5148064" y="4708689"/>
            <a:ext cx="720080" cy="273025"/>
          </a:xfrm>
          <a:prstGeom prst="flowChartProcess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dirty="0"/>
              <a:t>……</a:t>
            </a:r>
            <a:endParaRPr lang="zh-CN" altLang="en-US" sz="1000" dirty="0"/>
          </a:p>
        </p:txBody>
      </p:sp>
      <p:sp>
        <p:nvSpPr>
          <p:cNvPr id="20" name="TextBox 19"/>
          <p:cNvSpPr txBox="1"/>
          <p:nvPr/>
        </p:nvSpPr>
        <p:spPr>
          <a:xfrm>
            <a:off x="6266032" y="1649016"/>
            <a:ext cx="2626447" cy="101566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dirty="0" err="1" smtClean="0"/>
              <a:t>stringByEvaluating</a:t>
            </a:r>
            <a:endParaRPr lang="en-US" altLang="zh-CN" dirty="0" smtClean="0"/>
          </a:p>
          <a:p>
            <a:r>
              <a:rPr lang="en-US" altLang="zh-CN" dirty="0" smtClean="0"/>
              <a:t>-</a:t>
            </a:r>
            <a:r>
              <a:rPr lang="en-US" altLang="zh-CN" dirty="0" err="1" smtClean="0"/>
              <a:t>JavaScriptFromString</a:t>
            </a:r>
            <a:r>
              <a:rPr lang="en-US" altLang="zh-CN" dirty="0" smtClean="0"/>
              <a:t> </a:t>
            </a:r>
          </a:p>
          <a:p>
            <a:r>
              <a:rPr lang="en-US" sz="1200" dirty="0" smtClean="0"/>
              <a:t>Inject </a:t>
            </a:r>
            <a:r>
              <a:rPr lang="en-US" sz="1200" b="1" dirty="0" err="1" smtClean="0">
                <a:solidFill>
                  <a:srgbClr val="FF0000"/>
                </a:solidFill>
              </a:rPr>
              <a:t>javascript</a:t>
            </a:r>
            <a:r>
              <a:rPr lang="en-US" sz="1200" dirty="0" smtClean="0"/>
              <a:t> functions into a</a:t>
            </a:r>
          </a:p>
          <a:p>
            <a:r>
              <a:rPr lang="en-US" sz="1200" dirty="0" err="1" smtClean="0"/>
              <a:t>uiwebview</a:t>
            </a:r>
            <a:endParaRPr lang="en-US" sz="1200" dirty="0" smtClean="0"/>
          </a:p>
        </p:txBody>
      </p:sp>
      <p:sp>
        <p:nvSpPr>
          <p:cNvPr id="21" name="流程图: 文档 20"/>
          <p:cNvSpPr/>
          <p:nvPr/>
        </p:nvSpPr>
        <p:spPr>
          <a:xfrm>
            <a:off x="4378890" y="2690572"/>
            <a:ext cx="1489254" cy="431804"/>
          </a:xfrm>
          <a:prstGeom prst="flowChartDocumen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 smtClean="0"/>
              <a:t>exec(“</a:t>
            </a:r>
            <a:r>
              <a:rPr lang="en-US" altLang="zh-CN" sz="1200" dirty="0" err="1" smtClean="0"/>
              <a:t>oc</a:t>
            </a:r>
            <a:r>
              <a:rPr lang="en-US" altLang="zh-CN" sz="1200" dirty="0" smtClean="0"/>
              <a:t> </a:t>
            </a:r>
            <a:r>
              <a:rPr lang="en-US" altLang="zh-CN" sz="1200" dirty="0" err="1" smtClean="0"/>
              <a:t>cmd</a:t>
            </a:r>
            <a:r>
              <a:rPr lang="en-US" altLang="zh-CN" sz="1200" dirty="0" smtClean="0"/>
              <a:t>”)</a:t>
            </a:r>
            <a:endParaRPr lang="zh-CN" altLang="en-US" sz="1200" dirty="0"/>
          </a:p>
        </p:txBody>
      </p:sp>
      <p:cxnSp>
        <p:nvCxnSpPr>
          <p:cNvPr id="22" name="直接箭头连接符 21"/>
          <p:cNvCxnSpPr/>
          <p:nvPr/>
        </p:nvCxnSpPr>
        <p:spPr>
          <a:xfrm>
            <a:off x="5516184" y="3065123"/>
            <a:ext cx="0" cy="283673"/>
          </a:xfrm>
          <a:prstGeom prst="straightConnector1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  <a:prstDash val="sysDot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9179388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xmlns:p14="http://schemas.microsoft.com/office/powerpoint/2010/main" spd="slow">
        <p:circle/>
      </p:transition>
    </mc:Fallback>
  </mc:AlternateContent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1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8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 tmFilter="0, 0; .2, .5; .8, .5; 1, 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" dur="250" autoRev="1" fill="hold"/>
                                        <p:tgtEl>
                                          <p:spTgt spid="2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20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H5</a:t>
            </a:r>
            <a:r>
              <a:rPr lang="zh-CN" altLang="en-US" dirty="0" smtClean="0"/>
              <a:t>的未来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27CAE95-0A4C-4FC1-B81C-A5798E0B0A68}" type="slidenum">
              <a:rPr lang="zh-CN" altLang="en-US" smtClean="0"/>
              <a:pPr/>
              <a:t>45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397998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还</a:t>
            </a:r>
            <a:r>
              <a:rPr lang="zh-CN" altLang="en-US" dirty="0" smtClean="0"/>
              <a:t>是一个态度</a:t>
            </a:r>
            <a:endParaRPr lang="zh-CN" altLang="en-US" dirty="0" smtClean="0"/>
          </a:p>
        </p:txBody>
      </p:sp>
      <p:pic>
        <p:nvPicPr>
          <p:cNvPr id="59395" name="Picture 10" descr="http://www.w3.org/html/logo/downloads/HTML5_Badge_512.png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9018" y="1600200"/>
            <a:ext cx="4525963" cy="4525963"/>
          </a:xfrm>
        </p:spPr>
      </p:pic>
    </p:spTree>
    <p:extLst>
      <p:ext uri="{BB962C8B-B14F-4D97-AF65-F5344CB8AC3E}">
        <p14:creationId xmlns:p14="http://schemas.microsoft.com/office/powerpoint/2010/main" val="2993259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敢吃螃蟹</a:t>
            </a:r>
          </a:p>
        </p:txBody>
      </p:sp>
      <p:pic>
        <p:nvPicPr>
          <p:cNvPr id="61443" name="Picture 5" descr="http://epaper.yangtse.com/images/2008-10/05/1223142512953YZA04a05C001_b.jpg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5656" y="1268760"/>
            <a:ext cx="6077627" cy="4679773"/>
          </a:xfrm>
          <a:noFill/>
        </p:spPr>
      </p:pic>
    </p:spTree>
    <p:extLst>
      <p:ext uri="{BB962C8B-B14F-4D97-AF65-F5344CB8AC3E}">
        <p14:creationId xmlns:p14="http://schemas.microsoft.com/office/powerpoint/2010/main" val="41073862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提炼和分享</a:t>
            </a:r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62467" name="Picture 2" descr="http://p3.images22.51img1.com/6000/shanji860225/31aeb4572b195e7e974c717f57e94adc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1124744"/>
            <a:ext cx="6007100" cy="54025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426812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融合</a:t>
            </a:r>
          </a:p>
        </p:txBody>
      </p:sp>
      <p:graphicFrame>
        <p:nvGraphicFramePr>
          <p:cNvPr id="5" name="内容占位符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52291930"/>
              </p:ext>
            </p:extLst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27CAE95-0A4C-4FC1-B81C-A5798E0B0A68}" type="slidenum">
              <a:rPr lang="zh-CN" altLang="en-US" smtClean="0"/>
              <a:pPr/>
              <a:t>49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45507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健康生活</a:t>
            </a:r>
          </a:p>
        </p:txBody>
      </p:sp>
      <p:pic>
        <p:nvPicPr>
          <p:cNvPr id="68612" name="Picture 9" descr="http://www.199it.com/wp-content/uploads/2012/08/2804400_142203538797_21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674" y="1124744"/>
            <a:ext cx="5438775" cy="50787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685265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634" name="Picture 6" descr="http://www.eefocus.com/data/myspace/0/49/blog/Image/wgtp/1167755465.jpg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0646" y="1600200"/>
            <a:ext cx="6242707" cy="4525963"/>
          </a:xfrm>
          <a:noFill/>
        </p:spPr>
      </p:pic>
      <p:sp>
        <p:nvSpPr>
          <p:cNvPr id="69635" name="标题 1"/>
          <p:cNvSpPr>
            <a:spLocks noGrp="1"/>
          </p:cNvSpPr>
          <p:nvPr>
            <p:ph type="title"/>
          </p:nvPr>
        </p:nvSpPr>
        <p:spPr>
          <a:xfrm>
            <a:off x="1541173" y="5373216"/>
            <a:ext cx="6067941" cy="720080"/>
          </a:xfrm>
          <a:solidFill>
            <a:schemeClr val="bg1"/>
          </a:solidFill>
        </p:spPr>
        <p:txBody>
          <a:bodyPr/>
          <a:lstStyle/>
          <a:p>
            <a:r>
              <a:rPr lang="zh-CN" altLang="en-US" sz="4000" dirty="0" smtClean="0">
                <a:solidFill>
                  <a:srgbClr val="C00000"/>
                </a:solidFill>
              </a:rPr>
              <a:t>为</a:t>
            </a:r>
            <a:r>
              <a:rPr lang="en-US" altLang="zh-CN" sz="4000" dirty="0" smtClean="0">
                <a:solidFill>
                  <a:srgbClr val="C00000"/>
                </a:solidFill>
              </a:rPr>
              <a:t>H5</a:t>
            </a:r>
            <a:r>
              <a:rPr lang="zh-CN" altLang="en-US" sz="4000" dirty="0" smtClean="0">
                <a:solidFill>
                  <a:srgbClr val="C00000"/>
                </a:solidFill>
              </a:rPr>
              <a:t>继续奋斗</a:t>
            </a:r>
            <a:r>
              <a:rPr lang="zh-CN" altLang="zh-CN" dirty="0">
                <a:solidFill>
                  <a:srgbClr val="C00000"/>
                </a:solidFill>
              </a:rPr>
              <a:t>2</a:t>
            </a:r>
            <a:r>
              <a:rPr lang="en-US" altLang="zh-CN" sz="4000" dirty="0" smtClean="0">
                <a:solidFill>
                  <a:srgbClr val="C00000"/>
                </a:solidFill>
              </a:rPr>
              <a:t>0</a:t>
            </a:r>
            <a:r>
              <a:rPr lang="zh-CN" altLang="en-US" sz="4000" dirty="0" smtClean="0">
                <a:solidFill>
                  <a:srgbClr val="C00000"/>
                </a:solidFill>
              </a:rPr>
              <a:t>年！</a:t>
            </a:r>
          </a:p>
        </p:txBody>
      </p:sp>
      <p:sp>
        <p:nvSpPr>
          <p:cNvPr id="69636" name="AutoShape 4" descr="data:image/jpeg;base64,/9j/4AAQSkZJRgABAQAAAQABAAD/2wCEAAkGBhQSERUUEhQWFRUWGR0aGBgYGBgaFxodHBgYGBgXGhgcHCceHBojGRgXHy8gJCcpLSwsGB4xNTAqNSYrLCkBCQoKDgwOGg8PGiokHyQsLCwpLC0sLCwqLCwsKSwsLCwsKSwsLCksLCwsLCwsLCwsLCwsKSwsLCwsLCksLCwsLP/AABEIAQkAvgMBIgACEQEDEQH/xAAbAAACAwEBAQAAAAAAAAAAAAAFBgIDBAcBAP/EAEAQAAEDAgQDBgQFAwMDBAMBAAECAxEAIQQSMUEFUWEGEyJxgZEyobHwB0JSwdEUI+EzcvEVYpIkorLCU4PSFv/EABoBAAIDAQEAAAAAAAAAAAAAAAECAwQFAAb/xAArEQACAgEEAQIGAgMBAAAAAAAAAQIRAwQSITFBIlEFEzJhcYGR8COhwdH/2gAMAwEAAhEDEQA/AHhGIIECIq5K50PoaRsJ2qWk+NIUOeho/geOtOaHKeSrVYlhnj76IIZ8eTrsLrM6mqM8EQb16BXwSKhassJ0aEYwb0l9psPldkEEnzBibT1GlNXdcq+LaVCFoSsdR9xT4ssscuSLNhWSNI56lRHrUm0XEKA63EetNPEOy7awVMnIf0nT0pXxGHKFFJ1BrTx5oZPpZk5MM8X1IZv+kIebT/czKAupJmTzPPlesieyyhqpKhGlwRyPWOVB8NiVIMoMGmjhHFFOA5hdOpGn+KryjPEuHwWccsWZ01yKeJw6m1FC7Eex5EdDVdE+PYFSHCsnMlUwZuOl+XShk1cxy3RTKWSGyTR9Xorya9qQjPSa8r417QOIxXzryUiVqCeXM+QFYuLcTLSQEJzOrkITtP6ldBy3NLb2NxLRP9YlRDnwkjQ8hYWjbaqmbUxg9q7LuDSymt76G9vFIV8LiCeU39jVrqSDcRXKcYYWcsgH0ojw7tY60fEStI/KYj319aSOq59RJPR8elnQ5qSDQ7g/FU4hvMkERYg7HodxrfpW8VcUlJWihKLi6Z6VzXleAV7TCnmWiH/QXCQUQvS6SDrzG1YiKsw+IU2ZQoikmpV6SSDjfqHLC8OKAUhZ/g+tquwLC0g9453nLwgH1M0NwHaPNZWvt60XaxINY045It2bmOWOSTiWJ8r/ACrFh+NsrIGaCd4Irdm5UvYzspYlpRBP5VRlPQRp96UcTi+Jujsu9cwVjAqNZpT7QPpWQQADNuZEake1Cw+4glMqSQbj/FZnnwnxLOvz8hV3FplCW+zPzal5I7KLkpm1HsNgm1K7mVIcAgLSbE7gjQgGlZvjaEKCiCqDMAR7zQ1rtw81iUuONoDRX4inMogHedJ9Kj1eSfHy3+SXR4YVL5i/Ay8QwbjSsjk9DJKSOk1kCa6GvDtYtlKj4kL8SSk3EjY+3oelLfEexzrfia/up5Cyh6Tf09qmwamMlT4ZBn0sou1ygBlr6KktBBggg8iIPsajV0pH0V6UwCo6Df8Abzr0Rvp92q/iHDz/AEqyASo2ISTmyzJyf93Q66cqparVLCqXZf0ejed2/pRZ2ewjS151KQXfyp/SP0gnfmetbu03D28WyWyIUBy0Oyh1B+prmDSni+yrNmWlQGZGaVpuf7ibQRBmb3GutdFZ4s2uDnCHNwo69awZyd2/J6CEUlVdHO+L9isSgAk96lIAGxgdP3pcfwySJQFSPiSRJHryrvaMV4cqgCOYgkdRSN2v7Mgy6wIUJmLSOvPyqSGddNkWTB5iI/ZriimHpGhEKEEyPSumBQMEaG48q5UwyUOAqSY+nXT9q6Xwd3MwkTJSfqJ/atXSzp7TI1eNSju9jVFfRXs18DWiZZ6DXhNaG2+9tACuYsD5iIT/ALhbmBqanWSk5VAgjY/elLGalx0/YlnjcVfj3IpVet+H4oU6zWBCCdKg08FKIGYxqUiR7kj3qPLPGuJslwYs0k5Y1wu/b+RswvaEHkfkaKYXHoWPCodRSOoNhJJJBEnYgDW5Mfe9J2M7awshCSWxbNmIJ6xyn5cqqZcONK7ot4s2Ryrjj7nXeOYhhtsrxGUDS4GbyTvPlXJsRiVPKMKtpCZJjlOnzoX/AP6HvFXGYnmkn99KIsYlUQEgeQNJD0qkyy0m7rkvY4ajcK9VfxUsQgaajQpNwR5neq/61QsdahnmpOGFBvs32xPDVpZXKsI4ZSSf9M9NwN+l9a68w+kgKSZSoSCNwY/c6VwHG4bvEqb2IOWdlJgj5ZvY0y/hR21yK/ocTpB7snYj8p9DY/zVLLGnaJovwzqXFuFIfTlWL7KGo8j+2lI/E+BLZP6knRQ+hFPixp1mD6fxNI/4k9o1tKw7CJHemVEG5AIMT0vbcxsLyYNRKDrwV8+mjk58i9j8TCTBEJ9if8ae9e4HiDza20Ou5Eu/DKcw1AuZGXUD+Kz8J4SlxsuO5u7y2gxPOdxFa3uDIVh0htxbraJUoDKXGwAQVptDjcHxDUEcr1n5JvJNyZtYsaxY1CPSD+LxXd/6cFR1VImK5zx3g+V0F1Su7VCi6iCpM6FSP0g2nptR7uFssglxK0JWFNkfEQrUdBG0nXWwo63h28YkbHKQCNUkx8pi2hqOL2sacd0QP2WxjkLafV3mUjIvmD15R85qfajivdNQkCVc7gfd6IYHsghgZkuk2AAMQOYSQJ5+VLHah0OkpAKssSQJA6T60K3ZERVthQq8O4isuDcDp0j7HWuh4FrK2mUhKj4lee3y+poL2e7NBv8AuOJhRulPLqrryHvTjheEJUgKW6ESbAiT5m43rewR+Wt8zz2olvfy4fsGGptNEzAmvU4YlRSL0xdn+GJ7srcE5iI3tfYev2as5syxxu+SpgwPJJWnQF4csBwTYGR7/YoljMchKMqwHAdE2kcyFap/edDQaK9mk1Onlk9UHTRa0WshhThljuizNiAXNfCnZKZ+fM+c+tWYrFttJCVEJSLnqYuesae/Os+P4u0z8QJXyH1Jmx6UBf7S4fFKKMQ0pN7OCVp5+MJ1vuJNZmFTwTc8nL696+5savLi1GOOLDxFcvx+v0VY/to2VFOUlJsRtHXn1qeBbac8SWkjkco+Vqz490MQpTIU0fhdRlWg9M0WPQwelUntIHAAhfdqH6gMquV7x61YWVS5bsqLGocLgPIaCdABWV55Q1t0oU/xp5r/AFW5SfzCI9CLURwmOS6kH8p9weXnUiknwgszqePlUO9M61Y9AUUztPobD6GoEUN4CTbgCwDsJnyvS0vErDgeuAVW8haPa3oaM+JxWRJAKkqzE6Abk+QrNxtlOQBA8KAABvA3PUzJ86hkrQU6O3dmu0WbDtOuSUvJC5Ef6gOVfuQFdJof+JvCO+YQWjLgTnbIN5SqZHKZigP4Y4sPcPcZPxsKK0f7TGYR5wfUUffMgHl7enIVVk65LMVuFDsl2mQtvuHEwRYgwB18q343gzgUO4VlBv8AF8J5g3PLS9Ce0nAQ06MQiyTZzpO55CYvtVLXGHIjOpPML1EfL+aqTg/qiX8WTja+yT+FKFqa7wqEgxtmNzbzmjXB2S2sCdrxS+07Cs8zeTRrhuIKySJSP1EfIczXKE5tRjyx55Y44uUnSN2KWQDAUpKfiCf5rDhGFqhRKgm/gBGWSbCRrA3rcGR/3RMwVEgnnGk/LpRjAdn3HRmPhSRYnflblWli0axerK0Y+b4i8q2YFz7+wHitOGwLjxOQSBvsOkmmHD9lkC7hnoDA99a2jChtMMITcjeARuSre1WcutjFVDl/6M/DoZydz4Qv8N4CsuQsEJEgkco2NNDLSUC8JSLJBHv78+nWtTbQCcwJM+52AHKoYl5CfjKZmwsSBrce1Up5Xllci/jxLFHbHo51Q/j+PDTYT+Zd7ahIt8z8gaIUvdtOFl4tHNAQi8a3Udp8q2dTk2QsyNJj+ZkoCP8AGEp1CZ9Sfavmu1KCYJUPS31obiOAEWSqd7iPpWZXBXeQPkayvn2bHypLwNWF7SpJJbcLZ0IKUqSscloOqelaV8Pw748IZQsjdJ7snoQc6PXMPKkB1opMEEEbGtWEbdiW79BGvlzoWpO139jra4Y0vYh5sltYCFFPgCgMp5QQYUDpIJpYd4gUqlCe6UJzAfCT/tMwdbUQwXa5xuEuIS6gGShwSJB5HQ9ReiGLwLGOR3mGIbf/ADNOKAnbwrMA9Jg7Sa55H5/v/h22+gXj8WQhtxOvwnkR8Qke/tViuMDu5/MRprfT2oVjm3G5ZdSpCkH4VAhQ8wayTR3+ULQUwGLWolCP9R0pGbkkXI9TBP8Atojx9ru28upN1Hbp6fzU+zuFDKC+v4lCEDeN1eZ0HQE19wfied9wKggp0MHMcybAHUxMCnXXPkHkj2A7T/0WKSpU92rwrHQ2J9v52rrCkJPwmQdDzG3rXKu0PZoCXGBAiSj9xuPL/itHZbtwpiG3QVt8/wAw/kfd6glCmSxnXB0p3DBSSFXBkHra9IWK4UWsR/TXCSQWVkTZUy36EEg7AGdRTxw/iTTyczawoHaRP+KQvxC4jGKbLRIUhs+LqoqEjqBv/FRxXhEsp9NmlrCBGJCCrvkpIzhIgDobmY1ItypncTBiwjSNI2jpFc37F4F7E4tGHadLXeElSuQSkqUY3MAwOceddIVhi0S2ST3fhuZNutaOiSSryZfxCTlTIp1mn3hxPdoJIUcouNOX+PSkMpo5wBLxVAJCdydB0jcyRUmsx743fRDop7Z1XYwY1jvE5JNyDbUgG4HLa+1b2sGEpgidgOcCw/yeVRwzIFzBI1v5TPIdK+dlSVoROYiM50vabcgdLfvWMom05cUVY/FFCkhICllXwnYRty/ybVV/0rMpRcJOYg5RGwiSY6mBsDvWrB4BLUn4lHVR15QOQtp03oZjO0BQ4oBIUBpqDoKl4jywRi58RExhAKgDoTS1xvH5nVCLT/x6bUx0udocvfEjeSR61o/EG1FGf8JrfK/YHpcvMTRXDcILsKWvKn9KBCv/ACP8UGwqZWAL3pkwK4UOVYk5NdHo4JPss4l2BbeSVNk5gLJUbHyVEg/LyrnLiVYd1TawRBuCCCPv9q7ZgBECfLYUlfivwi4eAumAo9Dp8/rUuHI1RU1GO06FPFYUOp5L2PPoefnQVtWXMk7iPUVowWMUPDBVOgGs0d4d+G/EMUrMjCuJCvzOAoHuqCfarkmnyjPMGG7Tr7sNPpTiGholyc6f9jg8SfK46V6rgbb18G5nV/8AhX4Xh0Sfhc9INvhp54X+AbyhOIxDbXMJSVkW3JKQPemng/4YYHBuhxJXiFi6Q5lKEnZWUAAmbwZiq7SjyiRW+ziSA+tRZCXFLsnJlUVjKIyhOosANNqOtfhVxBTXeBncDu86O8vzRNvIweldt7vu5W0ooWbrmCg+aY+YiqMfxV0YcBv+wt2C2uEhGUQVZZuFEGRmA+IXpfmvyP8AK9mcQbx77D/cYoLQpPhhQhSdImdUm3yINe4vs8p1PfNQZF06EkWJB0JJvFq6HxDBh4ZMYjv7WK1K7xHVDmoHS6TaQaQu0nBMRg5LTi14YkQsHSbhDgHwL6GyokSNLEcia5I5QcWBCt5g5fEgnbn15VuwOOC8jeJ8TZPxE+NEm5C9YMXBm3UUPd4oVoyuDMoRlUTcXvXuCaLq0oECbSfUzTcdkdNukP3ZHgjbb3esqWHGnJBUIzJ+EpGykkTCheaeOPYHvXUONpJS4kG17hWUjz0nrNcZwfG1YV0liCgGIP5oACj6kExpfSu7djVPLZC1JCW1pCkjNJJVF020ixO9opY5HB2vI08ayel+CjAdmQCC7r+gXtFpIPn8r0dCQmBFxogbbk8k3mTPK9XrZjMVGE30tbqdZiPvUHx3tUjDqyNDvHB4lISRYEeEqOs7wP4qKU5T+pkkIRj9KoNLaTCUr3MhI0mLiwuNbnWai+9KFIAy2KR5XEwNqWODds0OpCFeF0CMqib22JE3MD18q0JGdzO3mKyhQIJJFwY3GUDLEH9W1JfhEn3ND/aFKAUgFWXwkSABsk6aGD5GBeZqfDuFAuKWuUgi0xmM5fy6AWOt9LVPhPDi3ClJAXEHdRvaVeg0Joim2n2Kfb7gv2OdRNqVuPvAvSNDPtJj6U2MGFp8x9aTuPGHY2Ej2Naev+lIzvha9UmFOyLaUqKiBJJB8tI8qYMdwoBedsAII05c/vqaVuBO5SZNtvWnjA4oEQbi01gS7PSrq0fYb8tCe1Ks6VhdwSBHSQI/ej39J4swIiNKXeNglMRJKwINvzUsbUkLOnBv7Dt2e4MzhWkJaabSrLJWlKQtRNyc0TvETtRPvjeSddydIjWqW8KAAXDK4EpSfAkxcTuAeVfOrJN71ct+TLr2Id7KjOiddYJiwHXr0qINfC1VOORJpbHoscygXFtCSbX6ab0lcXxRdcLqnAq5CU3kJGk2ygHYDlJ6ti+GF1sl0qaB0SI7wjmrVKfK5G8G1KmO4CnDuKQl1xzS7gAjoMu3WuQK5JYfG+GFDMnkfqDqDXwYBOZBNwUlJFyD+UgjKtJ5EelYgCNak2oiu219PBLfuAe1XZFh6FYVvuHkiFtz/bWRpkm6FEbExNrann7rTjKylQW2tJgggpUDoQRqDXY14iT4hNvi/MP5GtjWlvhrGJU23iWUPJchHfJs+g6NhR3ANvED5mLup+JEU8fmJxVGJzKGc73Vv59fWut8M4wU4ZoNKzpS2hIUD+lISoK5GRI0i1J/bz8PFYFwlpXeNXJmykwSPEOVtR19c3YHiiEOKZdVlS7ELn4Vics/9pkg+nI0ci3x4FxPbPk6t2Y4qtx8pU4pOYWOsRJAEm2pA9BQ7BcJS4/3pUZUSSbXJANrW1iOlU4fBLQ5GaNQYtPStPelpxKEwEkiDy51TUmkabxW7aPuNMh5K2e7CFpgpXFtbJBA3Gg9LalkxnHxhGWkPSXcicyUxrlEydpM0JwTAdxCGysqbQQpWYRCkzAE65oFh1tWTtHhluPvBSyPHbygR6wanxypNsq5YK0kMfBu07eIJQAUrAnKY8Q0JBHLfpRM4iRIEetc7wLgYdbWghRQoZ5NyCCCD0Mx6jlXQHESSNACYhBI/wCalhPcQZIuIjcSY7reRNiNDYH978qT+NHOtSogkyPXX5zTBxbiil6mwkxoOpjagOLIWnMn8uvkau592TGr7RX00IYp8eTNgHT86buE4ox6UlGUq+lMHCcTMVjZF5Rt43XA8YB4FJ96D8Vwk4hpIEhSwfZWY/IVfgsTkM7Gxq7iLY/qcP0cTPr9iui7oXIqv8DYASZIgaxqT/FTVAHIVPJB9P8AiqENZzKjCRonn5/xVozTKgZ1fFbmBP8AzWttlKTKZPUx9BpV61A/Sq8oFIPdkQgrJBIAMDrSbxjHIcfWpBlMwFc4Ak+UzHSj/GOKobQ4Mwz5CAkXIKgQCdhFz6UnJSK5sC7LlEG3OqEm9Wam/Kqw3f1pojyPSLnmP3qXeZShX6VA7jQ3Fr6VJTd56V45cEffKi0dYX4xlLmZLhUIlCz4vCSSnNbxCDM6+decUweGdebKWWEAgQrukgBcSQSEyIJ1AEam1CcKSWgDqBl9jb5RWpDxyD82URe9pJAPOJqJ3FNINKTTZ5i1qQu4hST4vQ3B8xb1qriqCfHsnneJ3kbWogjEtOpCXSUEGEOfEANe7VecoBEcp5VTjMEtqEqWjKseEz4VDchUfKoGmjQjOMkvDBOB4oW4AMhVyki+mx5fxWjHYxLxkplQIsSqbAAKtryjoOdZ18MCnkpStOYA2VaISTaJ62pq4Bwdl3D9ypSQ8VE5he1ykHY2m38U6jfRXlJRdixiHcqsyQmAQqANYIIBJAnedfWuhcPx5dTmDar31n0vQzD/AIfpCwXHCpP6QI9zJMUexvEmcMAFnKDoAJ+XpU2O4rkhzzhKtvJwTjvEcsxt8zsK+w75DCZ+JdzPL+I+tB8aS66hExJueXX2k1vxuJFzokCB0A0rU3W2Z7RZkJE71pwOIKSOVCeBY1SlqBEi6vLQEeWlE0HxGOdqy5qmzVxytJjphHpAHMT5daIcXTAQ6k/DlPkUmaW8A4QJpoZHeMGwsNeus1W6ZYnyh1zpKQbkHSIuDoZqlSANBE+vzoH2S4uCjunFQpBhOYxmRqmJ1IuPQUwLbka25jWrV2jMcdrpmdx0C2p5V4oGNDflr/it7RQj4R6nX3qlTm/31oHWYMTwzDJaPetBUSqT8RJMnxiDE7aRSW4kKKiE5QSSEjQcgKdMW8lxs5TIJIMffUUnq8IPSln0Nj7MaETPMVNiJ61LCNeEqO/0FQdbhfmP+aMZcjNeS5Qv6V44j3r4D3qShzqRMRnmqbWif5qOEA8QqxncetZnTkWFbGx9f80skFMggCMsfmJ/9qUx/wC2r2lqSnIcqmyfhVcTzHI9RVEnMcuoNvPWr8j0yUfDeCUXMa6iaSbpK0T447umRaxKkrSsBMBV4QA5GioMifDN/ltRLs1jsuJSopzaix0kQSZ5CbUGxXFlAeNGTzbUAflejfZnAOKZ75tIVJNosQDEBQ0Mg25R51Gm10h8kfTy0OCuNAuJQkSTJJmyQLlRPKgeN40h18hgJsPE4oAk3AATOidT1oPxIOMpKVApW4fHPIaAEWIJknyjagqcQU6GPvzrnkbXJUcKfBzvhmGI8Z3FvWs/EsXmMDQfM1UjGEJKRptWVRrScvTSK6XI2fh5ge8ecKhYII94/j50RXh0o7xCoC0nwnnB+hH1qH4XAy6fKiHahA7425D5TUGVemyzpm9zR7gFQBNNXCXAlBzXSRf1286SuHPgKAVpIHpTJw12FESYTIPT9MjrFUpGh2qCrTqY7vOcqbALAMdAdRyjyorw7Gd14Zzo1gfEnnF9OlL/ABJJUpJTEkep8/Ssi+KltYaWCSowLfPNtt86VN2dKKkqZ0Rt4LAUkyDp9PrNfYrALcQUiEzBk6Ebi1BOB40NyhZsTKTIIk6pnTW45yaYWyY+vKrMeVZn5IuDowt8HDREuZxIMREQDfUzf6UnPuZlGR8RPzJP70e4/ilB5CUqOVTZkbEyb/UUuvKi/KlmHEfNuQY2gftUi5p99KzsO3Kq0kSoR970Fwwt2ZUq/unqJ/Y1vablJmNY/wAUMfdCXEzzv6/c0Vb+AmLf8fxT+4i5ZS1ZRB1qjGQR1FWKeuD7/Sq3kyelN32GjM41YHmL/MVFwOpRMhYyyqCARabgiDbWprEJiZqlOYOJTmASuTfQHceR196jmrRPglUqZSeNgpUiycwg+ttqeewDKmsLB+ErKkcyCAPqKRk4GXEpLaZKgkEHwyTA2mJ6V07Cs9wwEzPdo15wCaGJcj6ppRSQsN9o1/C+UupOy4nrB1B8qoxHBGnV/wBtXdiJhZt6Ki+u9TwDhbMgIKtJUkKI8idK9JmOlM4xa5IOV+DiCkTVS0Wog/gHEqKCk5hqN45jmOomsy07RB61bK3A59iHO5Yzfqn6wPp86ljsUVuEqrzhLYDKE8hXnEEQoH7+9abLFbDtLL/J/J8lCSFTrEp8x/IongsZDra1fA4kIXzlOivOI/8AE0JCgY6VswLfeNOoBEpGdM/9tyB1jNVGSNYbMJBXB8p8zb0i/rQ7jnCFuOurSRCEixtpNgeeXKfWsfBuOQUSJVlUnT1QfS/pFauLYkqec2GbTyASJ62mhhgm6ZFqJuEbRg4ZjHCe5kkbE9bAE+ddOc4oVYcLZTmUSERayoj6x7zpXO+G8Fcedho5VQcxN0gbyN55QZPvTezjksJaQ2olKVKzkiCoiMyh08R0taNqfbtZXnkWSK9y7FMAYzCoVBhBB5EgKM/+Q+tKT2JHyohxHtCVvJdSAkoBCSb2IIuPIml9TviteNKWVEcHRubTCJ+4rSj4ZBqp1soCM3K/1/erMMoQpPr6Uoxg43cgj9P0JNFcC/8A2fvehfEWiI5VdgXQWyBsaL7OXRtwyJAB51B8wKiokAfKvVKz0d3IV0ZE4YkToKx8VX4UDrr7b0XcIgD0rI80FAjnRtJitNoO9i+FpcaS84SpWYwNvCYBPMyJ15Uw8axWVhZ8h7qAj50mcC4qrDpATfmDpqZ8jrR7jmPQ9hgpP60yNxqYI9PpUny9r46A5uX1MwK1nny6ma+ZuTNQmw9Kkk1FZLXAwcWwmEdgraTJJhxCQFA/7gJv1mhWL7AYJ4kJX4yJSZQVDSDoCQPlNaW8QvIpCR4YGY8p29ayuYsM5lAkFQi2v+BUm9oh+WmDXPw6xCIDa23OeYlH7H7NJXF3lIUEuNLQZ3Hv5x0rpeCQkf3FoUoqukqURAOhABiCCKGYrjC0v+LxIkEoUApEdM0keGn37uGKobXaOfEEnL61s4SkFcLJCSlRPkATXYMSxhP6dKwy2QsDKMqdTsbW39qHf9KwSx/cwzYMRKQU/wDxIqJ+xbWb7CD2TZSXSpY+ASPONaC43tiEuqSEFRzGb9dvWuoYXsphDm7lTrSljXMFD0zA+00AxP4LkphD6SfzFaDfmbGxnzo41TbI881NJCa728WkFDaFJ/VtJ62npUcL2oVIWttVtLkpnqnQ+RkdKY2/wnxTZj+0sAWIXE9PEARQ3i3ZPEMf6uHURE5kpK0+pApm0yGMTI72jziwA8/qL1fwXHoU6nvlBKRfe52GlrxPSghaTMTHQ2NfFoHnQ2oblHQsbjUqT4VBQ5iquHKlZHSknDKKfgUR0pjwfaZAjMjKqIKrmes1C4tdEidhji6LA7G1ZuEi6k871HF8UbcSANfOx/eahg3MqwTpFI2MkEMQowK9YTeoOqmKuiDQs6il3XrUDyqwi9VP/CT0pkKU4f616+YcRuJv7Gq23I09asQmXEA7T8wRNXpSqJClyFyrSvRXpTp5VImqNloKB3KgpG5k9bACsv8ARoWtJckpTqkb9D00rxxfiA30qTiovTWLRqxeKzKn0A5DYUvcUBLltIgzRRheYTFpIB5xE/Wh/ERKvT3+700e+RJdcDoOHBrDhBhfdoICiBcwbxzmgwNFsO6VYRKjqW/mBH1FAm1kmun2dAk67BT1VFaFYtRPiJn/AHGPasytU/7h9a1uMXkUE2guKZqwr4F0vKbOhC05x6XFTbxqkEkOZ55giT5yYrIGbV443Ao7mLsNGNAe+JLahu08gKEgRKFZT9mo4rgOBWgJcaYSBsmEwfNMV8p2BVDyUmLAz/NBzoO0X8Z+FeHV4mcStsE6KSlxPkCMpjzJoa9+GuIB/susOgayopV7QR86b3E1BtZQc6TB+vnRWSwbWhDxXZ99qQ6wq35kgqT7gVlS+T8KhI9a6ThuIOn43lg3gJSkzyknQUMwTbL2IyYhlCg9IJiDnmQQRdM3BI5ihSfQdzXYstY/TNb6UTL4VBFMuN/DTCH4S63/ALXJ+SwqsC/w6yH+3iSBsHEA/NJH0pXjCpoETuKrfTKVDmK2t8BxSVKSpkyn8ySkoVfUEkH0InpVeL4JiSciGVkkEzbLbbNMA+dBJ2cwUgRV+FcHfJ9fltWZ3hWJFiw7MExlkwNTA5VHgrsuAnb+RUsm65OSXgZVHaviqvVrB3qhR5GoSUJ92O8J++VeYpqRHO1WJ1mrXxBFMhCpSQEIA2mhfEFysRyH386LYhu1C84DgUbgEewiRTx7El0MDKFIwyWzMxMaQCc0H3oeBBmi/FsQDJF7fX/mhhM02RKwY+iaGbzWuKraUIqDmJvApRy3PAqvvLXqtw6VNKfCaDOJYk+w1qTyQAmNI+t6hj3MqFncVbjF3HlSM4yqNQWbelSUKhF/SlQWV5YBPKvuz0f1STGyo9RH7mvnlQmrOAKnFC0eFVNDsWXQY4piO6Jy/GuTJvGlh0vpQLv1XlRM9TRXjokp9aEmmm3YYL0mnD8QcAss+Rg/Wvn8eFkd6AQDYg5SJ2BF6oRpVZEqA1E+n3ehuZzijfh8ShJ8C30g3jMlY9lA3r5bWEWvMpm/6iP2SqKx4NkKfaCtCTbbwpUqPerVphSgNASPnR3OhNqujzE8MYUTlW43b8ozCeZCgT6A1gd4O7bulsrH/cVJPnEVuUalMChf2GprySNRxeKDaSpUkDkJqQNZOLMrUkBCggzckwIgiDY+1d4Hgk5K+i1nHIW13mwBJG4gXB60L71LhJSZH3YjnQ/GYZxlvL3iSheydxrMxcab715hm3G3UtqMDUgf7SY01n6UIzafJcyaWLg5Qfu1+F2Mj3E0JbaC5OaACEkgRa8b201qA4igOd3JzeRgeZ2pXxDKZURM5xeUkQQTtvI69YOsV4ZIWpIkgLygykCJNydNB5a0ryOyeGix7Vy+htx3Fm2iAuQSJECRqRWA9oGdir/xqHaxI7ts2JzG+8RMTymqOMvpypQhCZXHiGTpaRoZ5xRlJ2yLHgxyjFtPm/Pt+g5h3w4lKkzBuJFSd4ihK0tEnMqIsYM2101FYX1OoabSxCimAT4SICY360GxTr/ftlSU96IygRBuYmDGs710pUJi0yyNu1XPnkc3gDruay8RxyEQVmJMDX761hwwxDqHkPJCZRCLACTImRPSld/Dd2soXEpnNCxE+KLxbbwm56TYSkHDpVJtSl17D2qI86w4riTaF5VrymBsf2FL/A+Hla0LTl8BBVKpJuYhIHhMDQ61o4wT/VpypQo5RZyMn5tZIFLu4sZaaCybG74b9gi/xdk2SsEm2it7biruDcVaZcUXV5SQIJB0kzoDyFLuJKu/bzIaQZH+llg3GuVRvWjE4hpLgLiAuEG14J2H+aaMn2Lk00FKMeXftVjBxTtEwsjK6DE7K/8A5rExiUuXQZExMHlO4oLwv+ngl4pknSFQPYfdqJBlKm//AEysgza+LlfW/KhucnYcmCGNbVf5fRsdxyEqCSqCqIF7yYtbnVgpU4gFJdAU5mUmPF+m8/LWjOCYcSrM47nTBtJ6X9q5S5FyaeMIp7u/7wE8O9ldQdxJ63SpM+V6qa4ihxaglUkSSIPONxzoOg968HMOqFZoUFcpsqD+U8traVHgH+s76/8AyP8AFdu8CvAlFyb5pB5Sqk2qqyq9S0pkVS4LqrHMpcSUkwDvy6zUy3WLi2HcU3lbi+o3I5A6V1kmNepc0AeHkF1AWrwpNp01kDoCb1sx6/8A1Xp/9TW5PBw02khIU4kE30Kj52tt/mg7SXFOZlgggXJEbEe96VKjQlkjNyknwotfySxGESlwICcxKQq68uok30qOHwSVOpbUnLm3CwrY8gRtV2PYUp5OVvOMidZCfhnUEfWvsLh1JxDcthAn8skb3mTFCuf2TRyf41zzt9/t+f8AgR7VI/ttJ3zQPQAfuKCuIaCFhSSl0KgCTETf2AI9qMcTYcU+hWXMhAlInUi8GdCTHoKHv4J5ycQQArNOWLmN4PKBY3N/UyXNi6ecY44py/35voYuEYXI2hMXAv5m5+ZilviWIU48t1u6WimD5KgHyKpPlRbHYp44cFKYUv4gD4gDyHX5T61v4XwpLbJbVBzjx9ZER5AWFGSvhFTHNYryS5bdV++Sx7EB3DlSM3iTbLGYHkLi4M77UkuOGSpalZtIM5oIJkkiIg+ZmmPgmFdaU42QCgHwqVMTFiBrBETyNB+KNrCv7uYurUkk6I3ASkfmNxcaSR1Ky5VljTKMJSimq8e5f2ezF0JC15QZ8I8CgOdwRqDedaq4spXfFx1olAOUTmSDE5TOvWjeBwzjLi0fE0SVBRPiBO3UyL++8EVxjFLdeDYbUQ2bpuc3UxoCPkTXNcBhk353JVVd3/eTAuQtKkMlEeLLK1SJ1veKm+Ap0Zh+RRj/APWsj51o4g2+lYfWhKCqEwne0XEna3tUO6z4htMwVJIvtmSsac70oznc4v7Pm7/Rlaw4PdSPiKp9DainDW1HBKKFZVSoz0AEidrcqqxuA7hKCVFQSogQkC5veVaWPOt3CUFGDOYEWWb8iLGuS5OzZVKCkvf/AKwPhMY2lspLKllY+LNe1zl8Nosa18GWoNlRMoE5QY2km+o0oGEmAYVF9rdL/WmXgUHDjzV9aMexdWlGD+7Bg4o0Hg6EKB5AgAnn9ZG9VcP4sGlLUUk5tLgbk/vTToJt60B7OkEubzH/ANqLTTII5YSxyddV5DibxVyVVnS4LVYhdSIoGnerAmqV6mtCPh96NC2fFAIoU83r60Va/esON+FXkf3rjnySwohIHSrUiL8q+w2ifIfSrhqfvlThIOKm9SSBUUaHz/erGt6IGeTerRVR1rzf1/alOL0azU1GosaffWrN644zOCo5a+XXidKATHxUyB5zWTAO5V+YitXENBWJr4hUb7B5CbLl+cmatfFqzM6j751fivhHnRHZRy1qChsBUmf4+hqxPxUUBlLptHpXy01c7rWdVFiIipIr1IqYrxFcgn//2Q=="/>
          <p:cNvSpPr>
            <a:spLocks noChangeAspect="1" noChangeArrowheads="1"/>
          </p:cNvSpPr>
          <p:nvPr/>
        </p:nvSpPr>
        <p:spPr bwMode="auto">
          <a:xfrm>
            <a:off x="155575" y="-171450"/>
            <a:ext cx="304800" cy="3638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  <a:sym typeface="Arial" pitchFamily="34" charset="0"/>
              </a:defRPr>
            </a:lvl9pPr>
          </a:lstStyle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973455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对开源的一点思考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和聪明的人一起</a:t>
            </a:r>
            <a:r>
              <a:rPr lang="zh-CN" altLang="en-US" dirty="0" smtClean="0"/>
              <a:t>工作</a:t>
            </a:r>
            <a:endParaRPr lang="en-US" altLang="zh-CN" dirty="0" smtClean="0"/>
          </a:p>
          <a:p>
            <a:r>
              <a:rPr lang="zh-CN" altLang="en-US" dirty="0"/>
              <a:t>持续跟进，追逐技术红利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27CAE95-0A4C-4FC1-B81C-A5798E0B0A68}" type="slidenum">
              <a:rPr lang="zh-CN" altLang="en-US" smtClean="0"/>
              <a:pPr/>
              <a:t>52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0017019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xmlns:p14="http://schemas.microsoft.com/office/powerpoint/2010/main" spd="slow">
        <p:circle/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27CAE95-0A4C-4FC1-B81C-A5798E0B0A68}" type="slidenum">
              <a:rPr lang="zh-CN" altLang="en-US" smtClean="0"/>
              <a:pPr/>
              <a:t>53</a:t>
            </a:fld>
            <a:endParaRPr lang="zh-CN" altLang="en-US" dirty="0"/>
          </a:p>
        </p:txBody>
      </p:sp>
      <p:pic>
        <p:nvPicPr>
          <p:cNvPr id="1026" name="Picture 2" descr="F:\yuni\94058156\yunidoc\ppt\velocity\照片-小号\IMG_0315s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170638"/>
            <a:ext cx="7992888" cy="5994666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533361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xmlns:p14="http://schemas.microsoft.com/office/powerpoint/2010/main" spd="slow">
        <p:circle/>
      </p:transition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132856"/>
            <a:ext cx="8229600" cy="3312368"/>
          </a:xfrm>
        </p:spPr>
        <p:txBody>
          <a:bodyPr>
            <a:normAutofit/>
          </a:bodyPr>
          <a:lstStyle/>
          <a:p>
            <a:pPr algn="ctr"/>
            <a:r>
              <a:rPr lang="en-US" altLang="zh-CN" b="0" dirty="0">
                <a:hlinkClick r:id="rId2"/>
              </a:rPr>
              <a:t>https://</a:t>
            </a:r>
            <a:r>
              <a:rPr lang="en-US" altLang="zh-CN" b="0" dirty="0" smtClean="0">
                <a:hlinkClick r:id="rId2"/>
              </a:rPr>
              <a:t>github.com/QzoneTouch</a:t>
            </a:r>
            <a:r>
              <a:rPr lang="en-US" altLang="zh-CN" b="0" dirty="0" smtClean="0"/>
              <a:t/>
            </a:r>
            <a:br>
              <a:rPr lang="en-US" altLang="zh-CN" b="0" dirty="0" smtClean="0"/>
            </a:br>
            <a:r>
              <a:rPr lang="en-US" altLang="zh-CN" b="0" dirty="0" smtClean="0"/>
              <a:t/>
            </a:r>
            <a:br>
              <a:rPr lang="en-US" altLang="zh-CN" b="0" dirty="0" smtClean="0"/>
            </a:br>
            <a:r>
              <a:rPr lang="zh-CN" altLang="en-US" b="0" dirty="0" smtClean="0"/>
              <a:t>微信：</a:t>
            </a:r>
            <a:r>
              <a:rPr lang="en-US" altLang="zh-CN" b="0" dirty="0" smtClean="0"/>
              <a:t>yunishi</a:t>
            </a:r>
            <a:br>
              <a:rPr lang="en-US" altLang="zh-CN" b="0" dirty="0" smtClean="0"/>
            </a:br>
            <a:endParaRPr lang="zh-CN" altLang="en-US" b="0" dirty="0"/>
          </a:p>
        </p:txBody>
      </p:sp>
      <p:sp>
        <p:nvSpPr>
          <p:cNvPr id="5" name="标题 1"/>
          <p:cNvSpPr txBox="1">
            <a:spLocks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914400" indent="-914400" algn="l" rtl="0" eaLnBrk="1" fontAlgn="base" hangingPunct="1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+mj-lt"/>
                <a:ea typeface="+mj-ea"/>
                <a:cs typeface="+mj-cs"/>
                <a:sym typeface="Calibri" pitchFamily="34" charset="0"/>
              </a:defRPr>
            </a:lvl1pPr>
            <a:lvl2pPr marL="914400" indent="-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2pPr>
            <a:lvl3pPr marL="914400" indent="-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3pPr>
            <a:lvl4pPr marL="914400" indent="-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4pPr>
            <a:lvl5pPr marL="914400" indent="-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5pPr>
            <a:lvl6pPr marL="1371600" indent="-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6pPr>
            <a:lvl7pPr marL="1828800" indent="-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7pPr>
            <a:lvl8pPr marL="2286000" indent="-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8pPr>
            <a:lvl9pPr marL="2743200" indent="-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9pPr>
          </a:lstStyle>
          <a:p>
            <a:r>
              <a:rPr lang="en-US" altLang="zh-CN" b="0" dirty="0"/>
              <a:t>Q &amp; A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27CAE95-0A4C-4FC1-B81C-A5798E0B0A68}" type="slidenum">
              <a:rPr lang="zh-CN" altLang="en-US" smtClean="0"/>
              <a:pPr/>
              <a:t>54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408969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参考资料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altLang="zh-CN" sz="2000" dirty="0" smtClean="0"/>
              <a:t>HTML5. </a:t>
            </a:r>
            <a:r>
              <a:rPr lang="en-US" altLang="zh-CN" sz="2000" dirty="0" smtClean="0">
                <a:hlinkClick r:id="rId2"/>
              </a:rPr>
              <a:t>http</a:t>
            </a:r>
            <a:r>
              <a:rPr lang="en-US" altLang="zh-CN" sz="2000" dirty="0">
                <a:hlinkClick r:id="rId2"/>
              </a:rPr>
              <a:t>://www.w3.org/TR/2011/WD-html5-20110525</a:t>
            </a:r>
            <a:r>
              <a:rPr lang="en-US" altLang="zh-CN" sz="2000" dirty="0" smtClean="0">
                <a:hlinkClick r:id="rId2"/>
              </a:rPr>
              <a:t>/</a:t>
            </a:r>
            <a:r>
              <a:rPr lang="en-US" altLang="zh-CN" sz="2000" dirty="0" smtClean="0"/>
              <a:t>. 2012.12.2</a:t>
            </a:r>
          </a:p>
          <a:p>
            <a:r>
              <a:rPr lang="en-US" altLang="zh-CN" sz="2000" dirty="0"/>
              <a:t>W3schools. </a:t>
            </a:r>
            <a:r>
              <a:rPr lang="en-US" altLang="zh-CN" sz="2000" dirty="0">
                <a:hlinkClick r:id="rId3"/>
              </a:rPr>
              <a:t>http://www.w3schools.com</a:t>
            </a:r>
            <a:r>
              <a:rPr lang="en-US" altLang="zh-CN" sz="2000" dirty="0" smtClean="0">
                <a:hlinkClick r:id="rId3"/>
              </a:rPr>
              <a:t>/</a:t>
            </a:r>
            <a:r>
              <a:rPr lang="en-US" altLang="zh-CN" sz="2000" dirty="0" smtClean="0"/>
              <a:t>. 2012.12.2</a:t>
            </a:r>
          </a:p>
          <a:p>
            <a:r>
              <a:rPr lang="en-US" altLang="zh-CN" sz="2000" dirty="0"/>
              <a:t>Know </a:t>
            </a:r>
            <a:r>
              <a:rPr lang="en-US" altLang="zh-CN" sz="2000" dirty="0" err="1"/>
              <a:t>iOS</a:t>
            </a:r>
            <a:r>
              <a:rPr lang="en-US" altLang="zh-CN" sz="2000" dirty="0"/>
              <a:t> Resource Limits. </a:t>
            </a:r>
            <a:r>
              <a:rPr lang="en-US" altLang="zh-CN" sz="2000" dirty="0" smtClean="0">
                <a:hlinkClick r:id="rId4"/>
              </a:rPr>
              <a:t>http://developer.apple.com/library/safari/#documentation/AppleApplications/Reference/SafariWebContent/CreatingContentforSafarioniPhone/CreatingContentforSafarioniPhone.html#//apple_ref/doc/uid/TP40006482-SW15</a:t>
            </a:r>
            <a:r>
              <a:rPr lang="en-US" altLang="zh-CN" sz="2000" dirty="0" smtClean="0"/>
              <a:t>. 2012.12.2</a:t>
            </a:r>
          </a:p>
          <a:p>
            <a:r>
              <a:rPr lang="en-US" altLang="zh-CN" sz="2000" dirty="0" err="1" smtClean="0"/>
              <a:t>Weinre</a:t>
            </a:r>
            <a:r>
              <a:rPr lang="en-US" altLang="zh-CN" sz="2000" dirty="0"/>
              <a:t>. </a:t>
            </a:r>
            <a:r>
              <a:rPr lang="en-US" altLang="zh-CN" sz="2000" dirty="0">
                <a:hlinkClick r:id="rId5"/>
              </a:rPr>
              <a:t>http://people.apache.org/~pmuellr/weinre/docs/latest</a:t>
            </a:r>
            <a:r>
              <a:rPr lang="en-US" altLang="zh-CN" sz="2000" dirty="0" smtClean="0">
                <a:hlinkClick r:id="rId5"/>
              </a:rPr>
              <a:t>/</a:t>
            </a:r>
            <a:r>
              <a:rPr lang="en-US" altLang="zh-CN" sz="2000" dirty="0" smtClean="0"/>
              <a:t>. 2012-12-2</a:t>
            </a:r>
          </a:p>
          <a:p>
            <a:r>
              <a:rPr lang="en-US" altLang="zh-CN" sz="2000" dirty="0" err="1" smtClean="0"/>
              <a:t>JpegEncoder</a:t>
            </a:r>
            <a:r>
              <a:rPr lang="en-US" altLang="zh-CN" sz="2000" dirty="0"/>
              <a:t>. </a:t>
            </a:r>
            <a:r>
              <a:rPr lang="en-US" altLang="zh-CN" sz="2000" dirty="0">
                <a:hlinkClick r:id="rId6"/>
              </a:rPr>
              <a:t>http://</a:t>
            </a:r>
            <a:r>
              <a:rPr lang="en-US" altLang="zh-CN" sz="2000" dirty="0" smtClean="0">
                <a:hlinkClick r:id="rId6"/>
              </a:rPr>
              <a:t>www.bytestrom.eu/blog/2009/1120a_jpeg_encoder_for_javascript</a:t>
            </a:r>
            <a:r>
              <a:rPr lang="en-US" altLang="zh-CN" sz="2000" dirty="0" smtClean="0"/>
              <a:t>. 2012-12-2</a:t>
            </a:r>
          </a:p>
          <a:p>
            <a:r>
              <a:rPr lang="en-US" altLang="zh-CN" sz="2000" dirty="0" err="1" smtClean="0"/>
              <a:t>JpegMeta</a:t>
            </a:r>
            <a:r>
              <a:rPr lang="en-US" altLang="zh-CN" sz="2000" dirty="0" smtClean="0"/>
              <a:t>. </a:t>
            </a:r>
            <a:r>
              <a:rPr lang="en-US" altLang="zh-CN" sz="2000" dirty="0">
                <a:hlinkClick r:id="rId7"/>
              </a:rPr>
              <a:t>http://code.google.com/p/jsjpegmeta</a:t>
            </a:r>
            <a:r>
              <a:rPr lang="en-US" altLang="zh-CN" sz="2000" dirty="0" smtClean="0">
                <a:hlinkClick r:id="rId7"/>
              </a:rPr>
              <a:t>/</a:t>
            </a:r>
            <a:r>
              <a:rPr lang="en-US" altLang="zh-CN" sz="2000" dirty="0" smtClean="0"/>
              <a:t>. 2012-12-2</a:t>
            </a:r>
          </a:p>
          <a:p>
            <a:r>
              <a:rPr lang="en-US" altLang="zh-CN" sz="2000" dirty="0" err="1" smtClean="0"/>
              <a:t>Seajs</a:t>
            </a:r>
            <a:r>
              <a:rPr lang="en-US" altLang="zh-CN" sz="2000" dirty="0" smtClean="0"/>
              <a:t> storage plugin</a:t>
            </a:r>
            <a:r>
              <a:rPr lang="en-US" altLang="zh-CN" sz="2000" dirty="0"/>
              <a:t>. </a:t>
            </a:r>
            <a:r>
              <a:rPr lang="en-US" altLang="zh-CN" sz="2000" dirty="0">
                <a:hlinkClick r:id="rId8"/>
              </a:rPr>
              <a:t>http://</a:t>
            </a:r>
            <a:r>
              <a:rPr lang="en-US" altLang="zh-CN" sz="2000" dirty="0" smtClean="0">
                <a:hlinkClick r:id="rId8"/>
              </a:rPr>
              <a:t>ux.etao.com/posts/449</a:t>
            </a:r>
            <a:r>
              <a:rPr lang="en-US" altLang="zh-CN" sz="2000" dirty="0" smtClean="0"/>
              <a:t>. 2012-12-2</a:t>
            </a:r>
          </a:p>
          <a:p>
            <a:endParaRPr lang="en-US" altLang="zh-CN" sz="2000" dirty="0" smtClean="0"/>
          </a:p>
          <a:p>
            <a:endParaRPr lang="en-US" altLang="zh-CN" sz="20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27CAE95-0A4C-4FC1-B81C-A5798E0B0A68}" type="slidenum">
              <a:rPr lang="zh-CN" altLang="en-US" smtClean="0"/>
              <a:pPr/>
              <a:t>55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403271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zh-CN" altLang="en-US" sz="2800" dirty="0" smtClean="0"/>
              <a:t>附：用户浏览器分布</a:t>
            </a:r>
            <a:endParaRPr lang="zh-CN" altLang="en-US" sz="2800" dirty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1124744"/>
            <a:ext cx="9144000" cy="49188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灯片编号占位符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27CAE95-0A4C-4FC1-B81C-A5798E0B0A68}" type="slidenum">
              <a:rPr lang="zh-CN" altLang="en-US" smtClean="0"/>
              <a:pPr/>
              <a:t>56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755953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zh-CN" altLang="en-US" sz="2800" dirty="0" smtClean="0"/>
              <a:t>附：用户网络分布</a:t>
            </a:r>
            <a:endParaRPr lang="zh-CN" altLang="en-US" sz="28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1115828"/>
            <a:ext cx="9144000" cy="49774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8064" y="4077072"/>
            <a:ext cx="3924300" cy="962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27CAE95-0A4C-4FC1-B81C-A5798E0B0A68}" type="slidenum">
              <a:rPr lang="zh-CN" altLang="en-US" smtClean="0"/>
              <a:pPr/>
              <a:t>57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89801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1052736"/>
            <a:ext cx="8578239" cy="50405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/>
          </a:bodyPr>
          <a:lstStyle/>
          <a:p>
            <a:pPr algn="l"/>
            <a:r>
              <a:rPr lang="zh-CN" altLang="en-US" sz="2800" dirty="0" smtClean="0"/>
              <a:t>附：用户</a:t>
            </a:r>
            <a:r>
              <a:rPr lang="zh-CN" altLang="en-US" sz="2800" dirty="0"/>
              <a:t>首</a:t>
            </a:r>
            <a:r>
              <a:rPr lang="zh-CN" altLang="en-US" sz="2800" dirty="0" smtClean="0"/>
              <a:t>屏数据加载时间</a:t>
            </a:r>
            <a:endParaRPr lang="zh-CN" altLang="en-US" sz="2800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27CAE95-0A4C-4FC1-B81C-A5798E0B0A68}" type="slidenum">
              <a:rPr lang="zh-CN" altLang="en-US" smtClean="0"/>
              <a:pPr/>
              <a:t>58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614417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橙黑蓝时尚商务风格PPT模板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主题​​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">
    <a:dk1>
      <a:srgbClr val="000000"/>
    </a:dk1>
    <a:lt1>
      <a:srgbClr val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FFFFFF"/>
    </a:accent3>
    <a:accent4>
      <a:srgbClr val="000000"/>
    </a:accent4>
    <a:accent5>
      <a:srgbClr val="B2C1DB"/>
    </a:accent5>
    <a:accent6>
      <a:srgbClr val="AE4845"/>
    </a:accent6>
    <a:hlink>
      <a:srgbClr val="0000FF"/>
    </a:hlink>
    <a:folHlink>
      <a:srgbClr val="800080"/>
    </a:folHlink>
  </a:clrScheme>
</a:themeOverride>
</file>

<file path=ppt/theme/themeOverride2.xml><?xml version="1.0" encoding="utf-8"?>
<a:themeOverride xmlns:a="http://schemas.openxmlformats.org/drawingml/2006/main">
  <a:clrScheme name="">
    <a:dk1>
      <a:srgbClr val="000000"/>
    </a:dk1>
    <a:lt1>
      <a:srgbClr val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FFFFFF"/>
    </a:accent3>
    <a:accent4>
      <a:srgbClr val="000000"/>
    </a:accent4>
    <a:accent5>
      <a:srgbClr val="B2C1DB"/>
    </a:accent5>
    <a:accent6>
      <a:srgbClr val="AE4845"/>
    </a:accent6>
    <a:hlink>
      <a:srgbClr val="0000FF"/>
    </a:hlink>
    <a:folHlink>
      <a:srgbClr val="800080"/>
    </a:folHlink>
  </a:clrScheme>
</a:themeOverride>
</file>

<file path=ppt/theme/themeOverride3.xml><?xml version="1.0" encoding="utf-8"?>
<a:themeOverride xmlns:a="http://schemas.openxmlformats.org/drawingml/2006/main">
  <a:clrScheme name="">
    <a:dk1>
      <a:srgbClr val="000000"/>
    </a:dk1>
    <a:lt1>
      <a:srgbClr val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FFFFFF"/>
    </a:accent3>
    <a:accent4>
      <a:srgbClr val="000000"/>
    </a:accent4>
    <a:accent5>
      <a:srgbClr val="B2C1DB"/>
    </a:accent5>
    <a:accent6>
      <a:srgbClr val="AE4845"/>
    </a:accent6>
    <a:hlink>
      <a:srgbClr val="0000FF"/>
    </a:hlink>
    <a:folHlink>
      <a:srgbClr val="800080"/>
    </a:folHlink>
  </a:clrScheme>
</a:themeOverride>
</file>

<file path=ppt/theme/themeOverride4.xml><?xml version="1.0" encoding="utf-8"?>
<a:themeOverride xmlns:a="http://schemas.openxmlformats.org/drawingml/2006/main">
  <a:clrScheme name="">
    <a:dk1>
      <a:srgbClr val="000000"/>
    </a:dk1>
    <a:lt1>
      <a:srgbClr val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FFFFFF"/>
    </a:accent3>
    <a:accent4>
      <a:srgbClr val="000000"/>
    </a:accent4>
    <a:accent5>
      <a:srgbClr val="B2C1DB"/>
    </a:accent5>
    <a:accent6>
      <a:srgbClr val="AE4845"/>
    </a:accent6>
    <a:hlink>
      <a:srgbClr val="0000FF"/>
    </a:hlink>
    <a:folHlink>
      <a:srgbClr val="800080"/>
    </a:folHlink>
  </a:clrScheme>
</a:themeOverride>
</file>

<file path=ppt/theme/themeOverride5.xml><?xml version="1.0" encoding="utf-8"?>
<a:themeOverride xmlns:a="http://schemas.openxmlformats.org/drawingml/2006/main">
  <a:clrScheme name="">
    <a:dk1>
      <a:srgbClr val="000000"/>
    </a:dk1>
    <a:lt1>
      <a:srgbClr val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FFFFFF"/>
    </a:accent3>
    <a:accent4>
      <a:srgbClr val="000000"/>
    </a:accent4>
    <a:accent5>
      <a:srgbClr val="B2C1DB"/>
    </a:accent5>
    <a:accent6>
      <a:srgbClr val="AE4845"/>
    </a:accent6>
    <a:hlink>
      <a:srgbClr val="0000FF"/>
    </a:hlink>
    <a:folHlink>
      <a:srgbClr val="800080"/>
    </a:folHlink>
  </a:clrScheme>
</a:themeOverride>
</file>

<file path=ppt/theme/themeOverride6.xml><?xml version="1.0" encoding="utf-8"?>
<a:themeOverride xmlns:a="http://schemas.openxmlformats.org/drawingml/2006/main">
  <a:clrScheme name="">
    <a:dk1>
      <a:srgbClr val="000000"/>
    </a:dk1>
    <a:lt1>
      <a:srgbClr val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FFFFFF"/>
    </a:accent3>
    <a:accent4>
      <a:srgbClr val="000000"/>
    </a:accent4>
    <a:accent5>
      <a:srgbClr val="B2C1DB"/>
    </a:accent5>
    <a:accent6>
      <a:srgbClr val="AE4845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8303</TotalTime>
  <Words>1944</Words>
  <Application>Microsoft Macintosh PowerPoint</Application>
  <PresentationFormat>On-screen Show (4:3)</PresentationFormat>
  <Paragraphs>525</Paragraphs>
  <Slides>58</Slides>
  <Notes>38</Notes>
  <HiddenSlides>11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58</vt:i4>
      </vt:variant>
    </vt:vector>
  </HeadingPairs>
  <TitlesOfParts>
    <vt:vector size="59" baseType="lpstr">
      <vt:lpstr>橙黑蓝时尚商务风格PPT模板1</vt:lpstr>
      <vt:lpstr>PowerPoint Presentation</vt:lpstr>
      <vt:lpstr>About yuni</vt:lpstr>
      <vt:lpstr>HTML5是什么？</vt:lpstr>
      <vt:lpstr>广义上</vt:lpstr>
      <vt:lpstr>JavaScript new API</vt:lpstr>
      <vt:lpstr>本地存储</vt:lpstr>
      <vt:lpstr>资源本地存储</vt:lpstr>
      <vt:lpstr>资源本地存储</vt:lpstr>
      <vt:lpstr>资源本地存储</vt:lpstr>
      <vt:lpstr>资源本地存储</vt:lpstr>
      <vt:lpstr>http 304</vt:lpstr>
      <vt:lpstr>Etag</vt:lpstr>
      <vt:lpstr>Etag</vt:lpstr>
      <vt:lpstr>但是…</vt:lpstr>
      <vt:lpstr>拍照压缩上传</vt:lpstr>
      <vt:lpstr>图片本地压缩</vt:lpstr>
      <vt:lpstr>图片本地压缩</vt:lpstr>
      <vt:lpstr>图片本地压缩</vt:lpstr>
      <vt:lpstr>图片本地压缩</vt:lpstr>
      <vt:lpstr>图片本地压缩</vt:lpstr>
      <vt:lpstr>图片本地压缩</vt:lpstr>
      <vt:lpstr>图片本地压缩</vt:lpstr>
      <vt:lpstr>图片本地压缩</vt:lpstr>
      <vt:lpstr>图片本地压缩</vt:lpstr>
      <vt:lpstr>图片本地压缩</vt:lpstr>
      <vt:lpstr>百万上传量!   用户 很开心</vt:lpstr>
      <vt:lpstr>nodejs</vt:lpstr>
      <vt:lpstr>模块化：页面管理</vt:lpstr>
      <vt:lpstr>动静分离</vt:lpstr>
      <vt:lpstr>多普勒测速</vt:lpstr>
      <vt:lpstr>nodejs直出</vt:lpstr>
      <vt:lpstr>nodejs直出</vt:lpstr>
      <vt:lpstr>nodejs直出</vt:lpstr>
      <vt:lpstr>nodejs直出</vt:lpstr>
      <vt:lpstr>nodejs直出</vt:lpstr>
      <vt:lpstr>HTML5是</vt:lpstr>
      <vt:lpstr>理想与现实</vt:lpstr>
      <vt:lpstr>H5+</vt:lpstr>
      <vt:lpstr>PowerPoint Presentation</vt:lpstr>
      <vt:lpstr>Android</vt:lpstr>
      <vt:lpstr>ios</vt:lpstr>
      <vt:lpstr>问题</vt:lpstr>
      <vt:lpstr>Android</vt:lpstr>
      <vt:lpstr>ios</vt:lpstr>
      <vt:lpstr>H5的未来</vt:lpstr>
      <vt:lpstr>还是一个态度</vt:lpstr>
      <vt:lpstr>敢吃螃蟹</vt:lpstr>
      <vt:lpstr>提炼和分享</vt:lpstr>
      <vt:lpstr>融合</vt:lpstr>
      <vt:lpstr>健康生活</vt:lpstr>
      <vt:lpstr>为H5继续奋斗20年！</vt:lpstr>
      <vt:lpstr>对开源的一点思考</vt:lpstr>
      <vt:lpstr>PowerPoint Presentation</vt:lpstr>
      <vt:lpstr>https://github.com/QzoneTouch  微信：yunishi </vt:lpstr>
      <vt:lpstr>参考资料</vt:lpstr>
      <vt:lpstr>附：用户浏览器分布</vt:lpstr>
      <vt:lpstr>附：用户网络分布</vt:lpstr>
      <vt:lpstr>附：用户首屏数据加载时间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yunishi(石玉磊)</dc:creator>
  <cp:lastModifiedBy>shi</cp:lastModifiedBy>
  <cp:revision>217</cp:revision>
  <dcterms:created xsi:type="dcterms:W3CDTF">2012-11-24T07:26:15Z</dcterms:created>
  <dcterms:modified xsi:type="dcterms:W3CDTF">2015-01-17T06:08:43Z</dcterms:modified>
</cp:coreProperties>
</file>